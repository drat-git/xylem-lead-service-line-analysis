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7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ed868818d742ac" /><Relationship Type="http://schemas.openxmlformats.org/officeDocument/2006/relationships/extended-properties" Target="/docProps/app.xml" Id="R6a9e079fbed14409" /><Relationship Type="http://schemas.openxmlformats.org/officeDocument/2006/relationships/officeDocument" Target="/ppt/presentation.xml" Id="R6193807327eb4f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8d14abc49a444c"/>
  </p:sldMasterIdLst>
  <p:notesMasterIdLst>
    <p:notesMasterId xmlns:r="http://schemas.openxmlformats.org/officeDocument/2006/relationships" r:id="R82aee04036214759"/>
  </p:notesMasterIdLst>
  <p:sldIdLst>
    <p:sldId xmlns:r="http://schemas.openxmlformats.org/officeDocument/2006/relationships" id="256" r:id="R66ff7973d5e24637"/>
    <p:sldId xmlns:r="http://schemas.openxmlformats.org/officeDocument/2006/relationships" id="257" r:id="R677f5766e3044d96"/>
    <p:sldId xmlns:r="http://schemas.openxmlformats.org/officeDocument/2006/relationships" id="258" r:id="R8baefcfe38f04f7f"/>
    <p:sldId xmlns:r="http://schemas.openxmlformats.org/officeDocument/2006/relationships" id="259" r:id="R787298d173f64c82"/>
    <p:sldId xmlns:r="http://schemas.openxmlformats.org/officeDocument/2006/relationships" id="260" r:id="R432534086aba46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0acdff6c8a4d4f" /><Relationship Type="http://schemas.openxmlformats.org/officeDocument/2006/relationships/slideMaster" Target="/ppt/slideMasters/slideMaster1.xml" Id="R2b8d14abc49a444c" /><Relationship Type="http://schemas.openxmlformats.org/officeDocument/2006/relationships/notesMaster" Target="/ppt/notesMasters/notesMaster1.xml" Id="R82aee04036214759" /><Relationship Type="http://schemas.openxmlformats.org/officeDocument/2006/relationships/presProps" Target="/ppt/presProps.xml" Id="R9fdcae0367d7401f" /><Relationship Type="http://schemas.openxmlformats.org/officeDocument/2006/relationships/tableStyles" Target="/ppt/tableStyles.xml" Id="R6b804d3213f040a6" /><Relationship Type="http://schemas.openxmlformats.org/officeDocument/2006/relationships/slide" Target="/ppt/slides/slide1.xml" Id="R66ff7973d5e24637" /><Relationship Type="http://schemas.openxmlformats.org/officeDocument/2006/relationships/slide" Target="/ppt/slides/slide2.xml" Id="R677f5766e3044d96" /><Relationship Type="http://schemas.openxmlformats.org/officeDocument/2006/relationships/slide" Target="/ppt/slides/slide3.xml" Id="R8baefcfe38f04f7f" /><Relationship Type="http://schemas.openxmlformats.org/officeDocument/2006/relationships/slide" Target="/ppt/slides/slide4.xml" Id="R787298d173f64c82" /><Relationship Type="http://schemas.openxmlformats.org/officeDocument/2006/relationships/slide" Target="/ppt/slides/slide5.xml" Id="R432534086aba46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cd2a32fe8a46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769587d585462c" /><Relationship Type="http://schemas.openxmlformats.org/officeDocument/2006/relationships/notesMaster" Target="/ppt/notesMasters/notesMaster1.xml" Id="R5a8f8b5dc0734a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18cecdda9c46a6" /><Relationship Type="http://schemas.openxmlformats.org/officeDocument/2006/relationships/notesMaster" Target="/ppt/notesMasters/notesMaster1.xml" Id="R76f930c76a394c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3fd6f2262d4bbd" /><Relationship Type="http://schemas.openxmlformats.org/officeDocument/2006/relationships/notesMaster" Target="/ppt/notesMasters/notesMaster1.xml" Id="R041d612db6004c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7e4861d3774439" /><Relationship Type="http://schemas.openxmlformats.org/officeDocument/2006/relationships/notesMaster" Target="/ppt/notesMasters/notesMaster1.xml" Id="R6f239e83746647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6ec4fc1f974b29" /><Relationship Type="http://schemas.openxmlformats.org/officeDocument/2006/relationships/notesMaster" Target="/ppt/notesMasters/notesMaster1.xml" Id="R2081546069c747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Source: U.S. EPA 2026 Q2 Service Line Inventory. Analytical source: completed Lead_Service_Line_Analysis.ipynb and outputs/state_service_line_summary.csv. Known Replacement Inventory = Lead + GRR. Identification Need = Lead Status Unknown, not confirmed lead. Complete-report Community Water Systems only. No composite ranking. Population comparisons use 2025 Census state resident population for the 2026 Q2 inventory.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06bdf6f1d4cb3" /></Relationships>
</file>

<file path=ppt/slideLayouts/slideLayout1.xml><?xml version="1.0" encoding="utf-8"?>
<p:sldLayout xmlns:p="http://schemas.openxmlformats.org/presentationml/2006/main" showMasterSp="1" showMasterPhAnim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97B9D6A-78F3-4AB5-B25F-CDEB876AF948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23399bed7b4f3b" /><Relationship Type="http://schemas.openxmlformats.org/officeDocument/2006/relationships/slideLayout" Target="/ppt/slideLayouts/slideLayout1.xml" Id="R5a9bd64822314b5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2C20AC99-E970-480D-B3CB-C18DC4FA7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844675"/>
            <a:ext cx="10363200" cy="204152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CB7B639E-65AD-4281-A969-20EE0FF52A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828800" y="3886200"/>
            <a:ext cx="8534400" cy="2971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pPr>
              <a:buNone/>
            </a:pPr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5D7C3AB-1F1B-435B-9F5A-DA5EE63F9534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5892800" y="6172200"/>
            <a:ext cx="2844800" cy="3683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 sz="120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9bd64822314b50"/>
  </p:sldLayoutIdLst>
  <p:txStyles>
    <p:titleStyle>
      <a:lvl1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l" defTabSz="9144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28600" marR="0" indent="-228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1pPr>
      <a:lvl2pPr xmlns:a="http://schemas.openxmlformats.org/drawingml/2006/main" marL="723900" marR="0" indent="-2667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2pPr>
      <a:lvl3pPr xmlns:a="http://schemas.openxmlformats.org/drawingml/2006/main" marL="1234439" marR="0" indent="-320039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3pPr>
      <a:lvl4pPr xmlns:a="http://schemas.openxmlformats.org/drawingml/2006/main" marL="1727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4pPr>
      <a:lvl5pPr xmlns:a="http://schemas.openxmlformats.org/drawingml/2006/main" marL="21844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5pPr>
      <a:lvl6pPr xmlns:a="http://schemas.openxmlformats.org/drawingml/2006/main" marL="26416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6pPr>
      <a:lvl7pPr xmlns:a="http://schemas.openxmlformats.org/drawingml/2006/main" marL="30988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7pPr>
      <a:lvl8pPr xmlns:a="http://schemas.openxmlformats.org/drawingml/2006/main" marL="35560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8pPr>
      <a:lvl9pPr xmlns:a="http://schemas.openxmlformats.org/drawingml/2006/main" marL="4013200" marR="0" indent="-355600" algn="l" defTabSz="91440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defRPr sz="2800" b="0" i="0" u="none" cap="none" spc="0" baseline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4d2f481fa4b07" /><Relationship Type="http://schemas.openxmlformats.org/officeDocument/2006/relationships/notesSlide" Target="/ppt/notesSlides/notesSlide1.xml" Id="R2e10a40baedc46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b83d581944934" /><Relationship Type="http://schemas.openxmlformats.org/officeDocument/2006/relationships/chart" Target="/ppt/slides/charts/chart1.xml" Id="R0f9672af45304975" /><Relationship Type="http://schemas.openxmlformats.org/officeDocument/2006/relationships/notesSlide" Target="/ppt/notesSlides/notesSlide2.xml" Id="R0e76046a52ab4f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03c03e30b4804" /><Relationship Type="http://schemas.openxmlformats.org/officeDocument/2006/relationships/chart" Target="/ppt/slides/charts/chart2.xml" Id="R4ab4263c181d4924" /><Relationship Type="http://schemas.openxmlformats.org/officeDocument/2006/relationships/chart" Target="/ppt/slides/charts/chart3.xml" Id="R701457c20b004d12" /><Relationship Type="http://schemas.openxmlformats.org/officeDocument/2006/relationships/chart" Target="/ppt/slides/charts/chart4.xml" Id="R63333833078145c6" /><Relationship Type="http://schemas.openxmlformats.org/officeDocument/2006/relationships/chart" Target="/ppt/slides/charts/chart5.xml" Id="Rad288f86e68d4b90" /><Relationship Type="http://schemas.openxmlformats.org/officeDocument/2006/relationships/chart" Target="/ppt/slides/charts/chart6.xml" Id="R48967918cea14330" /><Relationship Type="http://schemas.openxmlformats.org/officeDocument/2006/relationships/notesSlide" Target="/ppt/notesSlides/notesSlide3.xml" Id="R97f43c6a432d4a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98ec6002447c0" /><Relationship Type="http://schemas.openxmlformats.org/officeDocument/2006/relationships/chart" Target="/ppt/slides/charts/chart7.xml" Id="R1e4fdd5f90e4449a" /><Relationship Type="http://schemas.openxmlformats.org/officeDocument/2006/relationships/notesSlide" Target="/ppt/notesSlides/notesSlide4.xml" Id="R634d49f3dc1148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e0a4df21c4e3b" /><Relationship Type="http://schemas.openxmlformats.org/officeDocument/2006/relationships/notesSlide" Target="/ppt/notesSlides/notesSlide5.xml" Id="Ra8a575ac9a264830" /></Relationships>
</file>

<file path=ppt/slides/charts/chart1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196186"/>
          <c:y val="0.0776158"/>
          <c:w val="0.975381"/>
          <c:h val="0.88380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21589524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Service lines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3115308</c:v>
                </c:pt>
              </c:numCache>
            </c:numRef>
          </c:val>
        </c:ser>
        <c:gapWidth val="0"/>
        <c:overlap val="-7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crossBetween val="between"/>
        <c:majorUnit val="5500000"/>
        <c:minorUnit val="275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672210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Illinois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529706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3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114501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Texas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2178881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4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113717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Pennsylvania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2055512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5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321502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Ohio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878788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6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271723"/>
          <c:y val="0.241146"/>
          <c:w val="0.967828"/>
          <c:h val="0.66533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Known Replacement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289055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Unknown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New York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951163</c:v>
                </c:pt>
              </c:numCache>
            </c:numRef>
          </c:val>
        </c:ser>
        <c:gapWidth val="0"/>
        <c:overlap val="-5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</c:catAx>
      <c:valAx>
        <c:axId val="2094734553"/>
        <c:scaling>
          <c:orientation val="minMax"/>
          <c:max val="2400000"/>
          <c:min val="0"/>
        </c:scaling>
        <c:delete val="0"/>
        <c:axPos val="b"/>
        <c:numFmt formatCode="0" sourceLinked="0"/>
        <c:majorTickMark val="none"/>
        <c:minorTickMark val="none"/>
        <c:tickLblPos val="none"/>
        <c:spPr>
          <a:ln xmlns:a="http://schemas.openxmlformats.org/drawingml/2006/main" w="12700">
            <a:noFill/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crossBetween val="between"/>
        <c:majorUnit val="600000"/>
        <c:minorUnit val="300000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charts/chart7.xml><?xml version="1.0" encoding="utf-8"?>
<c:chartSpace xmlns:c="http://schemas.openxmlformats.org/drawingml/2006/chart"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61777"/>
          <c:y val="0.0287333"/>
          <c:w val="0.895416"/>
          <c:h val="0.873627"/>
        </c:manualLayout>
      </c:layout>
      <c:scatterChart>
        <c:scatterStyle val="lineMarker"/>
        <c:ser>
          <c:idx val="0"/>
          <c:order val="0"/>
          <c:tx>
            <c:strRef>
              <c:f>Sheet1!$B$1</c:f>
              <c:strCache>
                <c:ptCount val="1"/>
                <c:pt idx="0">
                  <c:v>Other states</c:v>
                </c:pt>
              </c:strCache>
            </c:strRef>
          </c:tx>
          <c:spPr>
            <a:solidFill xmlns:a="http://schemas.openxmlformats.org/drawingml/2006/main">
              <a:srgbClr val="BEC8CE"/>
            </a:solidFill>
            <a:ln xmlns:a="http://schemas.openxmlformats.org/drawingml/2006/main" w="1270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BEC8CE"/>
              </a:solidFill>
              <a:ln xmlns:a="http://schemas.openxmlformats.org/drawingml/2006/main" w="12700">
                <a:solidFill>
                  <a:schemeClr val="accent1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Sheet1!$B$2:$B$47</c:f>
              <c:numCache>
                <c:formatCode>General</c:formatCode>
                <c:ptCount val="46"/>
                <c:pt idx="0">
                  <c:v>69230</c:v>
                </c:pt>
                <c:pt idx="1">
                  <c:v>16</c:v>
                </c:pt>
                <c:pt idx="2">
                  <c:v>2812</c:v>
                </c:pt>
                <c:pt idx="3">
                  <c:v>11569</c:v>
                </c:pt>
                <c:pt idx="4">
                  <c:v>12839</c:v>
                </c:pt>
                <c:pt idx="5">
                  <c:v>21412</c:v>
                </c:pt>
                <c:pt idx="6">
                  <c:v>13171</c:v>
                </c:pt>
                <c:pt idx="7">
                  <c:v>6292</c:v>
                </c:pt>
                <c:pt idx="8">
                  <c:v>17155</c:v>
                </c:pt>
                <c:pt idx="9">
                  <c:v>44559</c:v>
                </c:pt>
                <c:pt idx="10">
                  <c:v>50342</c:v>
                </c:pt>
                <c:pt idx="11">
                  <c:v>490</c:v>
                </c:pt>
                <c:pt idx="12">
                  <c:v>2769</c:v>
                </c:pt>
                <c:pt idx="13">
                  <c:v>190947</c:v>
                </c:pt>
                <c:pt idx="14">
                  <c:v>67950</c:v>
                </c:pt>
                <c:pt idx="15">
                  <c:v>26807</c:v>
                </c:pt>
                <c:pt idx="16">
                  <c:v>28036</c:v>
                </c:pt>
                <c:pt idx="17">
                  <c:v>20558</c:v>
                </c:pt>
                <c:pt idx="18">
                  <c:v>1599</c:v>
                </c:pt>
                <c:pt idx="19">
                  <c:v>3136</c:v>
                </c:pt>
                <c:pt idx="20">
                  <c:v>41737</c:v>
                </c:pt>
                <c:pt idx="21">
                  <c:v>255524</c:v>
                </c:pt>
                <c:pt idx="22">
                  <c:v>87183</c:v>
                </c:pt>
                <c:pt idx="23">
                  <c:v>23670</c:v>
                </c:pt>
                <c:pt idx="24">
                  <c:v>70968</c:v>
                </c:pt>
                <c:pt idx="25">
                  <c:v>3220</c:v>
                </c:pt>
                <c:pt idx="26">
                  <c:v>48712</c:v>
                </c:pt>
                <c:pt idx="27">
                  <c:v>1091</c:v>
                </c:pt>
                <c:pt idx="28">
                  <c:v>260</c:v>
                </c:pt>
                <c:pt idx="29">
                  <c:v>135360</c:v>
                </c:pt>
                <c:pt idx="30">
                  <c:v>331</c:v>
                </c:pt>
                <c:pt idx="31">
                  <c:v>12934</c:v>
                </c:pt>
                <c:pt idx="32">
                  <c:v>5658</c:v>
                </c:pt>
                <c:pt idx="33">
                  <c:v>14244</c:v>
                </c:pt>
                <c:pt idx="34">
                  <c:v>0</c:v>
                </c:pt>
                <c:pt idx="35">
                  <c:v>31489</c:v>
                </c:pt>
                <c:pt idx="36">
                  <c:v>19245</c:v>
                </c:pt>
                <c:pt idx="37">
                  <c:v>2697</c:v>
                </c:pt>
                <c:pt idx="38">
                  <c:v>64134</c:v>
                </c:pt>
                <c:pt idx="39">
                  <c:v>898</c:v>
                </c:pt>
                <c:pt idx="40">
                  <c:v>1910</c:v>
                </c:pt>
                <c:pt idx="41">
                  <c:v>13819</c:v>
                </c:pt>
                <c:pt idx="42">
                  <c:v>6922</c:v>
                </c:pt>
                <c:pt idx="43">
                  <c:v>8398</c:v>
                </c:pt>
                <c:pt idx="44">
                  <c:v>158815</c:v>
                </c:pt>
                <c:pt idx="45">
                  <c:v>3415</c:v>
                </c:pt>
              </c:numCache>
            </c:numRef>
          </c:xVal>
          <c:yVal>
            <c:numRef>
              <c:f>Sheet1!$C$2:$C$47</c:f>
              <c:numCache>
                <c:formatCode>0,,.0"M"</c:formatCode>
                <c:ptCount val="46"/>
                <c:pt idx="0">
                  <c:v>192502</c:v>
                </c:pt>
                <c:pt idx="1">
                  <c:v>25945</c:v>
                </c:pt>
                <c:pt idx="2">
                  <c:v>704381</c:v>
                </c:pt>
                <c:pt idx="3">
                  <c:v>477926</c:v>
                </c:pt>
                <c:pt idx="4">
                  <c:v>599523</c:v>
                </c:pt>
                <c:pt idx="5">
                  <c:v>141284</c:v>
                </c:pt>
                <c:pt idx="6">
                  <c:v>281092</c:v>
                </c:pt>
                <c:pt idx="7">
                  <c:v>113360</c:v>
                </c:pt>
                <c:pt idx="8">
                  <c:v>13427</c:v>
                </c:pt>
                <c:pt idx="9">
                  <c:v>1665928</c:v>
                </c:pt>
                <c:pt idx="10">
                  <c:v>630117</c:v>
                </c:pt>
                <c:pt idx="11">
                  <c:v>34235</c:v>
                </c:pt>
                <c:pt idx="12">
                  <c:v>96673</c:v>
                </c:pt>
                <c:pt idx="13">
                  <c:v>545507</c:v>
                </c:pt>
                <c:pt idx="14">
                  <c:v>180539</c:v>
                </c:pt>
                <c:pt idx="15">
                  <c:v>106076</c:v>
                </c:pt>
                <c:pt idx="16">
                  <c:v>424074</c:v>
                </c:pt>
                <c:pt idx="17">
                  <c:v>719101</c:v>
                </c:pt>
                <c:pt idx="18">
                  <c:v>41662</c:v>
                </c:pt>
                <c:pt idx="19">
                  <c:v>563397</c:v>
                </c:pt>
                <c:pt idx="20">
                  <c:v>349967</c:v>
                </c:pt>
                <c:pt idx="21">
                  <c:v>301508</c:v>
                </c:pt>
                <c:pt idx="22">
                  <c:v>209216</c:v>
                </c:pt>
                <c:pt idx="23">
                  <c:v>161821</c:v>
                </c:pt>
                <c:pt idx="24">
                  <c:v>895013</c:v>
                </c:pt>
                <c:pt idx="25">
                  <c:v>65847</c:v>
                </c:pt>
                <c:pt idx="26">
                  <c:v>88447</c:v>
                </c:pt>
                <c:pt idx="27">
                  <c:v>128987</c:v>
                </c:pt>
                <c:pt idx="28">
                  <c:v>3041</c:v>
                </c:pt>
                <c:pt idx="29">
                  <c:v>860857</c:v>
                </c:pt>
                <c:pt idx="30">
                  <c:v>327310</c:v>
                </c:pt>
                <c:pt idx="31">
                  <c:v>798785</c:v>
                </c:pt>
                <c:pt idx="32">
                  <c:v>97950</c:v>
                </c:pt>
                <c:pt idx="33">
                  <c:v>623329</c:v>
                </c:pt>
                <c:pt idx="34">
                  <c:v>27093</c:v>
                </c:pt>
                <c:pt idx="35">
                  <c:v>55695</c:v>
                </c:pt>
                <c:pt idx="36">
                  <c:v>348969</c:v>
                </c:pt>
                <c:pt idx="37">
                  <c:v>96462</c:v>
                </c:pt>
                <c:pt idx="38">
                  <c:v>621686</c:v>
                </c:pt>
                <c:pt idx="39">
                  <c:v>95149</c:v>
                </c:pt>
                <c:pt idx="40">
                  <c:v>36284</c:v>
                </c:pt>
                <c:pt idx="41">
                  <c:v>529417</c:v>
                </c:pt>
                <c:pt idx="42">
                  <c:v>220180</c:v>
                </c:pt>
                <c:pt idx="43">
                  <c:v>232026</c:v>
                </c:pt>
                <c:pt idx="44">
                  <c:v>182814</c:v>
                </c:pt>
                <c:pt idx="45">
                  <c:v>80872</c:v>
                </c:pt>
              </c:numCache>
            </c:numRef>
          </c:y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Illinois</c:v>
                </c:pt>
              </c:strCache>
            </c:strRef>
          </c:tx>
          <c:spPr>
            <a:solidFill xmlns:a="http://schemas.openxmlformats.org/drawingml/2006/main">
              <a:srgbClr val="3F73C7"/>
            </a:solidFill>
            <a:ln xmlns:a="http://schemas.openxmlformats.org/drawingml/2006/main" w="1270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3F73C7"/>
              </a:solidFill>
              <a:ln xmlns:a="http://schemas.openxmlformats.org/drawingml/2006/main" w="12700">
                <a:solidFill>
                  <a:schemeClr val="accent2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Sheet1!$D$2:$D$47</c:f>
              <c:numCache>
                <c:formatCode>General</c:formatCode>
                <c:ptCount val="1"/>
                <c:pt idx="0">
                  <c:v>672210</c:v>
                </c:pt>
              </c:numCache>
            </c:numRef>
          </c:xVal>
          <c:yVal>
            <c:numRef>
              <c:f>Sheet1!$E$2:$E$47</c:f>
              <c:numCache>
                <c:formatCode>0,,.0"M"</c:formatCode>
                <c:ptCount val="1"/>
                <c:pt idx="0">
                  <c:v>529706</c:v>
                </c:pt>
              </c:numCache>
            </c:numRef>
          </c:y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Identification examples</c:v>
                </c:pt>
              </c:strCache>
            </c:strRef>
          </c:tx>
          <c:spPr>
            <a:solidFill xmlns:a="http://schemas.openxmlformats.org/drawingml/2006/main">
              <a:srgbClr val="F07C2B"/>
            </a:solidFill>
            <a:ln xmlns:a="http://schemas.openxmlformats.org/drawingml/2006/main" w="1270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F07C2B"/>
              </a:solidFill>
              <a:ln xmlns:a="http://schemas.openxmlformats.org/drawingml/2006/main" w="12700">
                <a:solidFill>
                  <a:schemeClr val="accent3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Sheet1!$F$2:$F$47</c:f>
              <c:numCache>
                <c:formatCode>General</c:formatCode>
                <c:ptCount val="2"/>
                <c:pt idx="0">
                  <c:v>114501</c:v>
                </c:pt>
                <c:pt idx="1">
                  <c:v>113717</c:v>
                </c:pt>
              </c:numCache>
            </c:numRef>
          </c:xVal>
          <c:yVal>
            <c:numRef>
              <c:f>Sheet1!$G$2:$G$47</c:f>
              <c:numCache>
                <c:formatCode>0,,.0"M"</c:formatCode>
                <c:ptCount val="2"/>
                <c:pt idx="0">
                  <c:v>2178881</c:v>
                </c:pt>
                <c:pt idx="1">
                  <c:v>2055512</c:v>
                </c:pt>
              </c:numCache>
            </c:numRef>
          </c:y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High on both</c:v>
                </c:pt>
              </c:strCache>
            </c:strRef>
          </c:tx>
          <c:spPr>
            <a:solidFill xmlns:a="http://schemas.openxmlformats.org/drawingml/2006/main">
              <a:srgbClr val="102A43"/>
            </a:solidFill>
            <a:ln xmlns:a="http://schemas.openxmlformats.org/drawingml/2006/main" w="12700">
              <a:noFill/>
            </a:ln>
          </c:spPr>
          <c:marker>
            <c:symbol val="circle"/>
            <c:size val="10"/>
            <c:spPr>
              <a:solidFill xmlns:a="http://schemas.openxmlformats.org/drawingml/2006/main">
                <a:srgbClr val="102A43"/>
              </a:solidFill>
              <a:ln xmlns:a="http://schemas.openxmlformats.org/drawingml/2006/main" w="12700">
                <a:solidFill>
                  <a:schemeClr val="accent4"/>
                </a:solidFill>
                <a:prstDash val="solid"/>
              </a:ln>
            </c:spPr>
          </c:marker>
          <c:dLbls>
            <c:numFmt formatCode="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xVal>
            <c:numRef>
              <c:f>Sheet1!$H$2:$H$47</c:f>
              <c:numCache>
                <c:formatCode>General</c:formatCode>
                <c:ptCount val="2"/>
                <c:pt idx="0">
                  <c:v>321502</c:v>
                </c:pt>
                <c:pt idx="1">
                  <c:v>289055</c:v>
                </c:pt>
              </c:numCache>
            </c:numRef>
          </c:xVal>
          <c:yVal>
            <c:numRef>
              <c:f>Sheet1!$I$2:$I$47</c:f>
              <c:numCache>
                <c:formatCode>0,,.0"M"</c:formatCode>
                <c:ptCount val="2"/>
                <c:pt idx="0">
                  <c:v>878788</c:v>
                </c:pt>
                <c:pt idx="1">
                  <c:v>951163</c:v>
                </c:pt>
              </c:numCache>
            </c:numRef>
          </c:yVal>
        </c:ser>
        <c:axId val="2094734552"/>
        <c:axId val="2094734553"/>
      </c:scatterChart>
      <c:valAx>
        <c:axId val="2094734553"/>
        <c:scaling>
          <c:orientation val="minMax"/>
          <c:max val="2300000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1E6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00" b="1" i="0" u="none">
                    <a:solidFill>
                      <a:srgbClr val="102A43"/>
                    </a:solidFill>
                    <a:latin typeface="Arial"/>
                    <a:ea typeface="Arial"/>
                    <a:cs typeface="Arial"/>
                  </a:rPr>
                  <a:t>Lead Status Unknown Service Lines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00" b="1" i="0" u="none">
                  <a:solidFill>
                    <a:srgbClr val="102A43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,,.0&quot;M&quot;" sourceLinked="0"/>
        <c:majorTickMark val="none"/>
        <c:minorTickMark val="none"/>
        <c:tickLblPos val="nextTo"/>
        <c:spPr>
          <a:ln xmlns:a="http://schemas.openxmlformats.org/drawingml/2006/main" w="12700">
            <a:solidFill>
              <a:srgbClr val="D8DED9"/>
            </a:solidFill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</a:p>
        </c:txPr>
        <c:crossAx val="2094734552"/>
        <c:crosses val="autoZero"/>
        <c:crossBetween val="between"/>
        <c:majorUnit val="460000"/>
        <c:minorUnit val="230000"/>
      </c:valAx>
      <c:valAx>
        <c:axId val="2094734552"/>
        <c:scaling>
          <c:orientation val="minMax"/>
          <c:max val="72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00" b="1" i="0" u="none">
                    <a:solidFill>
                      <a:srgbClr val="23333F"/>
                    </a:solidFill>
                    <a:latin typeface="Arial"/>
                    <a:ea typeface="Arial"/>
                    <a:cs typeface="Arial"/>
                  </a:rPr>
                  <a:t>Known Replacement Inventory</a:t>
                </a:r>
              </a:p>
            </c:rich>
          </c:tx>
          <c:overlay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00" b="1" i="0" u="none">
                  <a:solidFill>
                    <a:srgbClr val="23333F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,&quot;k&quot;" sourceLinked="0"/>
        <c:majorTickMark val="none"/>
        <c:minorTickMark val="none"/>
        <c:tickLblPos val="nextTo"/>
        <c:spPr>
          <a:ln xmlns:a="http://schemas.openxmlformats.org/drawingml/2006/main" w="12700">
            <a:solidFill>
              <a:srgbClr val="D8DED9"/>
            </a:solidFill>
            <a:prstDash val="solid"/>
          </a:ln>
        </c:spPr>
        <c:txPr>
          <a:bodyPr xmlns:a="http://schemas.openxmlformats.org/drawingml/2006/main" rot="0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</a:p>
        </c:txPr>
        <c:crossAx val="2094734553"/>
        <c:crosses val="autoZero"/>
        <c:crossBetween val="between"/>
        <c:majorUnit val="102857"/>
        <c:minorUnit val="51428.6"/>
      </c:valAx>
      <c:spPr>
        <a:solidFill xmlns:a="http://schemas.openxmlformats.org/drawingml/2006/main">
          <a:srgbClr val="F7F4EE"/>
        </a:solidFill>
        <a:ln xmlns:a="http://schemas.openxmlformats.org/drawingml/2006/main" w="12700">
          <a:noFill/>
        </a:ln>
      </c:spPr>
    </c:plotArea>
    <c:plotVisOnly val="1"/>
  </c:chart>
  <c:spPr>
    <a:solidFill xmlns:a="http://schemas.openxmlformats.org/drawingml/2006/main">
      <a:srgbClr val="F7F4EE"/>
    </a:solidFill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ead service line need is not one problem">
            <a:extLst xmlns:a="http://schemas.openxmlformats.org/drawingml/2006/main">
              <a:ext uri="{FF2B5EF4-FFF2-40B4-BE49-F238E27FC236}">
                <a16:creationId xmlns:a16="http://schemas.microsoft.com/office/drawing/2014/main" id="{622C5BC5-300A-4092-91FE-55E53308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400050"/>
            <a:ext cx="10719437" cy="49849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2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Lead service line need is not one problem</a:t>
            </a:r>
          </a:p>
        </p:txBody>
      </p:sp>
      <p:sp>
        <p:nvSpPr>
          <p:cNvPr id="21" name="Line">
            <a:extLst xmlns:a="http://schemas.openxmlformats.org/drawingml/2006/main">
              <a:ext uri="{FF2B5EF4-FFF2-40B4-BE49-F238E27FC236}">
                <a16:creationId xmlns:a16="http://schemas.microsoft.com/office/drawing/2014/main" id="{7869917F-1587-419F-9E20-134C429E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1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BEC7CC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22" name="1">
            <a:extLst xmlns:a="http://schemas.openxmlformats.org/drawingml/2006/main">
              <a:ext uri="{FF2B5EF4-FFF2-40B4-BE49-F238E27FC236}">
                <a16:creationId xmlns:a16="http://schemas.microsoft.com/office/drawing/2014/main" id="{B254DE78-2F53-4615-8105-25560F8E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94" y="6524625"/>
            <a:ext cx="194312" cy="2024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</a:t>
            </a:r>
          </a:p>
        </p:txBody>
      </p:sp>
      <p:sp>
        <p:nvSpPr>
          <p:cNvPr id="23" name="States face different mixes of identification and replacement work">
            <a:extLst xmlns:a="http://schemas.openxmlformats.org/drawingml/2006/main">
              <a:ext uri="{FF2B5EF4-FFF2-40B4-BE49-F238E27FC236}">
                <a16:creationId xmlns:a16="http://schemas.microsoft.com/office/drawing/2014/main" id="{F6FABA3D-C5E0-49FC-8CFD-A08D725A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19" y="1381125"/>
            <a:ext cx="10481312" cy="37523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200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States face different mixes of identification and replacement work</a:t>
            </a:r>
          </a:p>
        </p:txBody>
      </p:sp>
      <p:sp>
        <p:nvSpPr>
          <p:cNvPr id="24" name="Where are infrastructure needs greatest across U.S. states?">
            <a:extLst xmlns:a="http://schemas.openxmlformats.org/drawingml/2006/main">
              <a:ext uri="{FF2B5EF4-FFF2-40B4-BE49-F238E27FC236}">
                <a16:creationId xmlns:a16="http://schemas.microsoft.com/office/drawing/2014/main" id="{5B3C1F5A-294B-4CFF-9AC4-A155207F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19" y="2019300"/>
            <a:ext cx="10386062" cy="33837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7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Where are infrastructure needs greatest across U.S. states?</a:t>
            </a:r>
          </a:p>
        </p:txBody>
      </p:sp>
      <p:sp>
        <p:nvSpPr>
          <p:cNvPr id="25" name="01  IDENTIFY">
            <a:extLst xmlns:a="http://schemas.openxmlformats.org/drawingml/2006/main">
              <a:ext uri="{FF2B5EF4-FFF2-40B4-BE49-F238E27FC236}">
                <a16:creationId xmlns:a16="http://schemas.microsoft.com/office/drawing/2014/main" id="{577E4D3F-A48D-41A4-915B-AC267728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69" y="2895600"/>
            <a:ext cx="4671062" cy="44935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25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01  IDENTIFY</a:t>
            </a:r>
          </a:p>
        </p:txBody>
      </p:sp>
      <p:sp>
        <p:nvSpPr>
          <p:cNvPr id="26" name="Resolve Lead Status Unknown lines">
            <a:extLst xmlns:a="http://schemas.openxmlformats.org/drawingml/2006/main">
              <a:ext uri="{FF2B5EF4-FFF2-40B4-BE49-F238E27FC236}">
                <a16:creationId xmlns:a16="http://schemas.microsoft.com/office/drawing/2014/main" id="{8596937E-A90C-433A-8911-1B72E736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69" y="3533775"/>
            <a:ext cx="4718687" cy="35066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Resolve Lead Status Unknown lines</a:t>
            </a:r>
          </a:p>
        </p:txBody>
      </p:sp>
      <p:sp>
        <p:nvSpPr>
          <p:cNvPr id="27" name="Identification Need…">
            <a:extLst xmlns:a="http://schemas.openxmlformats.org/drawingml/2006/main">
              <a:ext uri="{FF2B5EF4-FFF2-40B4-BE49-F238E27FC236}">
                <a16:creationId xmlns:a16="http://schemas.microsoft.com/office/drawing/2014/main" id="{75DA6BA4-8FC9-4E1B-9D03-F05D49F7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69" y="4076700"/>
            <a:ext cx="4671062" cy="59237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t>Identification Need</a:t>
            </a:r>
          </a:p>
          <a:p xmlns:a="http://schemas.openxmlformats.org/drawingml/2006/main">
            <a:pPr>
              <a:buNone/>
              <a:defRPr sz="170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t>= Lead Status Unknown</a:t>
            </a:r>
          </a:p>
        </p:txBody>
      </p:sp>
      <p:sp>
        <p:nvSpPr>
          <p:cNvPr id="28" name="02  REPLACE">
            <a:extLst xmlns:a="http://schemas.openxmlformats.org/drawingml/2006/main">
              <a:ext uri="{FF2B5EF4-FFF2-40B4-BE49-F238E27FC236}">
                <a16:creationId xmlns:a16="http://schemas.microsoft.com/office/drawing/2014/main" id="{5B89AA08-5217-45AF-963C-1C678A2A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319" y="2895600"/>
            <a:ext cx="4671062" cy="44935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25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02  REPLACE</a:t>
            </a:r>
          </a:p>
        </p:txBody>
      </p:sp>
      <p:sp>
        <p:nvSpPr>
          <p:cNvPr id="29" name="Act on known Lead and GRR lines">
            <a:extLst xmlns:a="http://schemas.openxmlformats.org/drawingml/2006/main">
              <a:ext uri="{FF2B5EF4-FFF2-40B4-BE49-F238E27FC236}">
                <a16:creationId xmlns:a16="http://schemas.microsoft.com/office/drawing/2014/main" id="{959976BE-D6E7-4435-B9C7-795F6FD4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319" y="3533775"/>
            <a:ext cx="4718687" cy="35066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Act on known Lead and GRR lines</a:t>
            </a:r>
          </a:p>
        </p:txBody>
      </p:sp>
      <p:sp>
        <p:nvSpPr>
          <p:cNvPr id="30" name="Known Replacement Inventory…">
            <a:extLst xmlns:a="http://schemas.openxmlformats.org/drawingml/2006/main">
              <a:ext uri="{FF2B5EF4-FFF2-40B4-BE49-F238E27FC236}">
                <a16:creationId xmlns:a16="http://schemas.microsoft.com/office/drawing/2014/main" id="{D09BDAB9-6F5C-49F4-A029-BA959AFC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319" y="4076700"/>
            <a:ext cx="4718687" cy="59237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t>Known Replacement Inventory</a:t>
            </a:r>
          </a:p>
          <a:p xmlns:a="http://schemas.openxmlformats.org/drawingml/2006/main">
            <a:pPr>
              <a:buNone/>
              <a:defRPr sz="170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t>= Lead + GRR</a:t>
            </a:r>
          </a:p>
        </p:txBody>
      </p:sp>
      <p:sp>
        <p:nvSpPr>
          <p:cNvPr id="31" name="Comparing states on only one measure would hide where their actual workload sits.">
            <a:extLst xmlns:a="http://schemas.openxmlformats.org/drawingml/2006/main">
              <a:ext uri="{FF2B5EF4-FFF2-40B4-BE49-F238E27FC236}">
                <a16:creationId xmlns:a16="http://schemas.microsoft.com/office/drawing/2014/main" id="{752E6231-7AC0-4177-B430-35A54DB1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69" y="5381625"/>
            <a:ext cx="10481312" cy="37523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2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Comparing states on only one measure would hide where their actual workload sits.</a:t>
            </a:r>
          </a:p>
        </p:txBody>
      </p:sp>
      <p:sp>
        <p:nvSpPr>
          <p:cNvPr id="32" name="Scope: 43,993 complete-report Community Water Systems across 50 states and DC">
            <a:extLst xmlns:a="http://schemas.openxmlformats.org/drawingml/2006/main">
              <a:ext uri="{FF2B5EF4-FFF2-40B4-BE49-F238E27FC236}">
                <a16:creationId xmlns:a16="http://schemas.microsoft.com/office/drawing/2014/main" id="{EF4BAEAA-B262-4FCB-88D0-A9D3C5A8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6524625"/>
            <a:ext cx="10290812" cy="2024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Scope: 43,993 complete-report Community Water Systems across 50 states and DC</a:t>
            </a:r>
          </a:p>
        </p:txBody>
      </p:sp>
    </p:spTree>
    <p:extLst>
      <p:ext uri="{BB962C8B-B14F-4D97-AF65-F5344CB8AC3E}">
        <p14:creationId xmlns:p14="http://schemas.microsoft.com/office/powerpoint/2010/main" val="15708077"/>
      </p:ext>
    </p:extLst>
  </p:cSld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Most of the reported national workload…">
            <a:extLst xmlns:a="http://schemas.openxmlformats.org/drawingml/2006/main">
              <a:ext uri="{FF2B5EF4-FFF2-40B4-BE49-F238E27FC236}">
                <a16:creationId xmlns:a16="http://schemas.microsoft.com/office/drawing/2014/main" id="{7E4603CD-100E-41F6-A78A-198E5F1D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400050"/>
            <a:ext cx="10719437" cy="91759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Most of the reported national workload</a:t>
            </a:r>
          </a:p>
          <a:p xmlns:a="http://schemas.openxmlformats.org/drawingml/2006/main">
            <a:pPr>
              <a:buNone/>
              <a:defRPr sz="2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is still unresolved identification</a:t>
            </a:r>
          </a:p>
        </p:txBody>
      </p:sp>
      <p:sp>
        <p:nvSpPr>
          <p:cNvPr id="37" name="Line">
            <a:extLst xmlns:a="http://schemas.openxmlformats.org/drawingml/2006/main">
              <a:ext uri="{FF2B5EF4-FFF2-40B4-BE49-F238E27FC236}">
                <a16:creationId xmlns:a16="http://schemas.microsoft.com/office/drawing/2014/main" id="{6DCB1942-BBAA-4690-AD16-AA67A42D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1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BEC7CC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38" name="2">
            <a:extLst xmlns:a="http://schemas.openxmlformats.org/drawingml/2006/main">
              <a:ext uri="{FF2B5EF4-FFF2-40B4-BE49-F238E27FC236}">
                <a16:creationId xmlns:a16="http://schemas.microsoft.com/office/drawing/2014/main" id="{81CC3E86-B41F-41EA-A235-D634292D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94" y="6524625"/>
            <a:ext cx="194312" cy="2024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</a:t>
            </a:r>
          </a:p>
        </p:txBody>
      </p:sp>
      <p:sp>
        <p:nvSpPr>
          <p:cNvPr id="39" name="National inventory within the analytical sample">
            <a:extLst xmlns:a="http://schemas.openxmlformats.org/drawingml/2006/main">
              <a:ext uri="{FF2B5EF4-FFF2-40B4-BE49-F238E27FC236}">
                <a16:creationId xmlns:a16="http://schemas.microsoft.com/office/drawing/2014/main" id="{4522D0C6-E372-4520-B93C-146E3095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4" y="1428750"/>
            <a:ext cx="943356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National inventory within the analytical sample</a:t>
            </a:r>
          </a:p>
        </p:txBody>
      </p:sp>
      <p:sp>
        <p:nvSpPr>
          <p:cNvPr id="40" name="Lead Status Unknown">
            <a:extLst xmlns:a="http://schemas.openxmlformats.org/drawingml/2006/main">
              <a:ext uri="{FF2B5EF4-FFF2-40B4-BE49-F238E27FC236}">
                <a16:creationId xmlns:a16="http://schemas.microsoft.com/office/drawing/2014/main" id="{366892E2-5F19-4765-A7AE-426D76C1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4" y="2038350"/>
            <a:ext cx="7147562" cy="35066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Lead Status Unknown</a:t>
            </a:r>
          </a:p>
        </p:txBody>
      </p:sp>
      <p:sp>
        <p:nvSpPr>
          <p:cNvPr id="41" name="21.59M">
            <a:extLst xmlns:a="http://schemas.openxmlformats.org/drawingml/2006/main">
              <a:ext uri="{FF2B5EF4-FFF2-40B4-BE49-F238E27FC236}">
                <a16:creationId xmlns:a16="http://schemas.microsoft.com/office/drawing/2014/main" id="{C7D6B9A5-518B-4219-BABD-F8B99A56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4" y="2409825"/>
            <a:ext cx="5623562" cy="69587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43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21.59M</a:t>
            </a:r>
          </a:p>
        </p:txBody>
      </p:sp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821233" y="3106129"/>
          <a:ext xmlns:a="http://schemas.openxmlformats.org/drawingml/2006/main" cx="6852742" cy="174636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9672af45304975"/>
          </a:graphicData>
        </a:graphic>
      </p:graphicFrame>
      <p:sp>
        <p:nvSpPr>
          <p:cNvPr id="43" name="Known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9CAC1377-9BE7-48DA-91CB-D61CDFEC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4" y="5019675"/>
            <a:ext cx="6671312" cy="31339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6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Known Replacement Inventory</a:t>
            </a:r>
          </a:p>
        </p:txBody>
      </p:sp>
      <p:sp>
        <p:nvSpPr>
          <p:cNvPr id="44" name="3.12M">
            <a:extLst xmlns:a="http://schemas.openxmlformats.org/drawingml/2006/main">
              <a:ext uri="{FF2B5EF4-FFF2-40B4-BE49-F238E27FC236}">
                <a16:creationId xmlns:a16="http://schemas.microsoft.com/office/drawing/2014/main" id="{B7397838-0A9F-4627-B5AA-E05797A8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4" y="5381625"/>
            <a:ext cx="2099312" cy="49849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29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3.12M</a:t>
            </a:r>
          </a:p>
        </p:txBody>
      </p:sp>
      <p:sp>
        <p:nvSpPr>
          <p:cNvPr id="45" name="2.18M Lead + 0.94M GRR">
            <a:extLst xmlns:a="http://schemas.openxmlformats.org/drawingml/2006/main">
              <a:ext uri="{FF2B5EF4-FFF2-40B4-BE49-F238E27FC236}">
                <a16:creationId xmlns:a16="http://schemas.microsoft.com/office/drawing/2014/main" id="{BCA2D29A-2060-4CA9-B513-811E28EC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069" y="5457825"/>
            <a:ext cx="4671062" cy="313393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6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2.18M Lead + 0.94M GRR</a:t>
            </a:r>
          </a:p>
        </p:txBody>
      </p:sp>
      <p:sp>
        <p:nvSpPr>
          <p:cNvPr id="46" name="6.9×">
            <a:extLst xmlns:a="http://schemas.openxmlformats.org/drawingml/2006/main">
              <a:ext uri="{FF2B5EF4-FFF2-40B4-BE49-F238E27FC236}">
                <a16:creationId xmlns:a16="http://schemas.microsoft.com/office/drawing/2014/main" id="{08335AAE-71A0-41A0-BBBC-6DF3720F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544" y="2352675"/>
            <a:ext cx="2670812" cy="80726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50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6.9×</a:t>
            </a:r>
          </a:p>
        </p:txBody>
      </p:sp>
      <p:sp>
        <p:nvSpPr>
          <p:cNvPr id="47" name="as many Unknown lines as lines already classified for replacement">
            <a:extLst xmlns:a="http://schemas.openxmlformats.org/drawingml/2006/main">
              <a:ext uri="{FF2B5EF4-FFF2-40B4-BE49-F238E27FC236}">
                <a16:creationId xmlns:a16="http://schemas.microsoft.com/office/drawing/2014/main" id="{53E7EA8F-4749-415A-B4FF-B1198093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644" y="3276600"/>
            <a:ext cx="2575562" cy="115076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as many Unknown lines as lines already classified for replacement</a:t>
            </a:r>
          </a:p>
        </p:txBody>
      </p:sp>
      <p:sp>
        <p:nvSpPr>
          <p:cNvPr id="48" name="Unknown lines require identification.…">
            <a:extLst xmlns:a="http://schemas.openxmlformats.org/drawingml/2006/main">
              <a:ext uri="{FF2B5EF4-FFF2-40B4-BE49-F238E27FC236}">
                <a16:creationId xmlns:a16="http://schemas.microsoft.com/office/drawing/2014/main" id="{69CAD940-6118-4944-9046-436C6A9E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644" y="4905375"/>
            <a:ext cx="2556512" cy="9488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t>Unknown lines require identification.</a:t>
            </a:r>
          </a:p>
          <a:p xmlns:a="http://schemas.openxmlformats.org/drawingml/2006/main">
            <a:pPr>
              <a:buNone/>
              <a:defRPr sz="1500">
                <a:solidFill>
                  <a:srgbClr val="65727B"/>
                </a:solidFill>
                <a:latin typeface="Arial"/>
                <a:ea typeface="Arial"/>
                <a:cs typeface="Arial"/>
              </a:defRPr>
            </a:pPr>
            <a:r>
              <a:t>They are not confirmed lead lines.</a:t>
            </a:r>
          </a:p>
        </p:txBody>
      </p:sp>
      <p:sp>
        <p:nvSpPr>
          <p:cNvPr id="49" name="Source: U.S. EPA 2026 Q2 Service Line Inventory. Counts reflect the analytical sample.">
            <a:extLst xmlns:a="http://schemas.openxmlformats.org/drawingml/2006/main">
              <a:ext uri="{FF2B5EF4-FFF2-40B4-BE49-F238E27FC236}">
                <a16:creationId xmlns:a16="http://schemas.microsoft.com/office/drawing/2014/main" id="{7E10C026-5718-4714-B8E3-FA4AA08F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6524625"/>
            <a:ext cx="10290812" cy="2024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Source: U.S. EPA 2026 Q2 Service Line Inventory. Counts reflect the analytical sample.</a:t>
            </a:r>
          </a:p>
        </p:txBody>
      </p:sp>
    </p:spTree>
    <p:extLst>
      <p:ext uri="{BB962C8B-B14F-4D97-AF65-F5344CB8AC3E}">
        <p14:creationId xmlns:p14="http://schemas.microsoft.com/office/powerpoint/2010/main" val="16139865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The same national challenge looks very different…">
            <a:extLst xmlns:a="http://schemas.openxmlformats.org/drawingml/2006/main">
              <a:ext uri="{FF2B5EF4-FFF2-40B4-BE49-F238E27FC236}">
                <a16:creationId xmlns:a16="http://schemas.microsoft.com/office/drawing/2014/main" id="{AD277DA1-1F23-4F4D-8D3B-90E76079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400050"/>
            <a:ext cx="10719437" cy="91759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The same national challenge looks very different</a:t>
            </a:r>
          </a:p>
          <a:p xmlns:a="http://schemas.openxmlformats.org/drawingml/2006/main">
            <a:pPr>
              <a:buNone/>
              <a:defRPr sz="2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from state to state</a:t>
            </a:r>
          </a:p>
        </p:txBody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8C29C801-B95E-4AF2-BAAC-4321615B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1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BEC7CC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5" name="3">
            <a:extLst xmlns:a="http://schemas.openxmlformats.org/drawingml/2006/main">
              <a:ext uri="{FF2B5EF4-FFF2-40B4-BE49-F238E27FC236}">
                <a16:creationId xmlns:a16="http://schemas.microsoft.com/office/drawing/2014/main" id="{93C4AC81-1973-45D9-A03D-E1A247E2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94" y="6524625"/>
            <a:ext cx="194312" cy="2024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</a:t>
            </a:r>
          </a:p>
        </p:txBody>
      </p:sp>
      <p:sp>
        <p:nvSpPr>
          <p:cNvPr id="56" name="Known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62B1ED13-59F9-4ACC-9A1D-CFEF1A02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4669" y="1428750"/>
            <a:ext cx="390906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Known Replacement Inventory</a:t>
            </a:r>
          </a:p>
        </p:txBody>
      </p:sp>
      <p:sp>
        <p:nvSpPr>
          <p:cNvPr id="57" name="Lead Status Unknown">
            <a:extLst xmlns:a="http://schemas.openxmlformats.org/drawingml/2006/main">
              <a:ext uri="{FF2B5EF4-FFF2-40B4-BE49-F238E27FC236}">
                <a16:creationId xmlns:a16="http://schemas.microsoft.com/office/drawing/2014/main" id="{54E43C0F-ED8A-40A1-9737-5C3F9066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9494" y="1428750"/>
            <a:ext cx="3813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Lead Status Unknown</a:t>
            </a:r>
          </a:p>
        </p:txBody>
      </p:sp>
      <p:sp>
        <p:nvSpPr>
          <p:cNvPr id="58" name="Replacement-…">
            <a:extLst xmlns:a="http://schemas.openxmlformats.org/drawingml/2006/main">
              <a:ext uri="{FF2B5EF4-FFF2-40B4-BE49-F238E27FC236}">
                <a16:creationId xmlns:a16="http://schemas.microsoft.com/office/drawing/2014/main" id="{F2E62501-5664-47BA-A8C7-459F81DC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69" y="2047875"/>
            <a:ext cx="1956437" cy="61736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Replacement-</a:t>
            </a:r>
          </a:p>
          <a:p xmlns:a="http://schemas.openxmlformats.org/drawingml/2006/main">
            <a:pPr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heavy</a:t>
            </a:r>
          </a:p>
        </p:txBody>
      </p:sp>
      <p:sp>
        <p:nvSpPr>
          <p:cNvPr id="59" name="Illinois">
            <a:extLst xmlns:a="http://schemas.openxmlformats.org/drawingml/2006/main">
              <a:ext uri="{FF2B5EF4-FFF2-40B4-BE49-F238E27FC236}">
                <a16:creationId xmlns:a16="http://schemas.microsoft.com/office/drawing/2014/main" id="{F091BF15-A9B6-464B-98FB-A9DA135D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4" y="2095500"/>
            <a:ext cx="1432562" cy="3011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Illinois</a:t>
            </a:r>
          </a:p>
        </p:txBody>
      </p:sp>
      <p:graphicFrame>
        <p:nvGraphicFramePr>
          <p:cNvPr id="98" name="Chart"/>
          <p:cNvGraphicFramePr/>
          <p:nvPr/>
        </p:nvGraphicFramePr>
        <p:xfrm>
          <a:off xmlns:a="http://schemas.openxmlformats.org/drawingml/2006/main" x="4469308" y="2021867"/>
          <a:ext xmlns:a="http://schemas.openxmlformats.org/drawingml/2006/main" cx="4947742" cy="56208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b4263c181d4924"/>
          </a:graphicData>
        </a:graphic>
      </p:graphicFrame>
      <p:sp>
        <p:nvSpPr>
          <p:cNvPr id="61" name="672,210">
            <a:extLst xmlns:a="http://schemas.openxmlformats.org/drawingml/2006/main">
              <a:ext uri="{FF2B5EF4-FFF2-40B4-BE49-F238E27FC236}">
                <a16:creationId xmlns:a16="http://schemas.microsoft.com/office/drawing/2014/main" id="{E87CD6D3-CC25-4BF5-A616-C07D3069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19" y="2057400"/>
            <a:ext cx="1527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672,210</a:t>
            </a:r>
          </a:p>
        </p:txBody>
      </p:sp>
      <p:sp>
        <p:nvSpPr>
          <p:cNvPr id="62" name="529,706">
            <a:extLst xmlns:a="http://schemas.openxmlformats.org/drawingml/2006/main">
              <a:ext uri="{FF2B5EF4-FFF2-40B4-BE49-F238E27FC236}">
                <a16:creationId xmlns:a16="http://schemas.microsoft.com/office/drawing/2014/main" id="{521551DA-08E0-4E3D-8B17-28CA184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19" y="2343150"/>
            <a:ext cx="1527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529,706</a:t>
            </a:r>
          </a:p>
        </p:txBody>
      </p:sp>
      <p:sp>
        <p:nvSpPr>
          <p:cNvPr id="63" name="Largest already-classified replacement inventory">
            <a:extLst xmlns:a="http://schemas.openxmlformats.org/drawingml/2006/main">
              <a:ext uri="{FF2B5EF4-FFF2-40B4-BE49-F238E27FC236}">
                <a16:creationId xmlns:a16="http://schemas.microsoft.com/office/drawing/2014/main" id="{92894DDD-C7B8-4377-B06A-0153DADB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4" y="2743200"/>
            <a:ext cx="7909562" cy="2765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Largest already-classified replacement inventory</a:t>
            </a:r>
          </a:p>
        </p:txBody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B5D310DF-7BC8-48C5-9E18-67FF1BCB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107156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BEC7CC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5" name="Identification-…">
            <a:extLst xmlns:a="http://schemas.openxmlformats.org/drawingml/2006/main">
              <a:ext uri="{FF2B5EF4-FFF2-40B4-BE49-F238E27FC236}">
                <a16:creationId xmlns:a16="http://schemas.microsoft.com/office/drawing/2014/main" id="{2E04640E-A9C1-42F9-90FC-6DCBBB24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69" y="3467100"/>
            <a:ext cx="1956437" cy="61736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Identification-</a:t>
            </a:r>
          </a:p>
          <a:p xmlns:a="http://schemas.openxmlformats.org/drawingml/2006/main">
            <a:pPr>
              <a:buNone/>
              <a:defRPr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heavy</a:t>
            </a:r>
          </a:p>
        </p:txBody>
      </p:sp>
      <p:sp>
        <p:nvSpPr>
          <p:cNvPr id="66" name="Texas">
            <a:extLst xmlns:a="http://schemas.openxmlformats.org/drawingml/2006/main">
              <a:ext uri="{FF2B5EF4-FFF2-40B4-BE49-F238E27FC236}">
                <a16:creationId xmlns:a16="http://schemas.microsoft.com/office/drawing/2014/main" id="{5DBA47AE-1958-4808-9FBB-20451E0D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4" y="3400425"/>
            <a:ext cx="1432562" cy="3011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Texas</a:t>
            </a:r>
          </a:p>
        </p:txBody>
      </p:sp>
      <p:graphicFrame>
        <p:nvGraphicFramePr>
          <p:cNvPr id="105" name="Chart"/>
          <p:cNvGraphicFramePr/>
          <p:nvPr/>
        </p:nvGraphicFramePr>
        <p:xfrm>
          <a:off xmlns:a="http://schemas.openxmlformats.org/drawingml/2006/main" x="4469308" y="3326792"/>
          <a:ext xmlns:a="http://schemas.openxmlformats.org/drawingml/2006/main" cx="4947742" cy="56208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1457c20b004d12"/>
          </a:graphicData>
        </a:graphic>
      </p:graphicFrame>
      <p:sp>
        <p:nvSpPr>
          <p:cNvPr id="68" name="114,501">
            <a:extLst xmlns:a="http://schemas.openxmlformats.org/drawingml/2006/main">
              <a:ext uri="{FF2B5EF4-FFF2-40B4-BE49-F238E27FC236}">
                <a16:creationId xmlns:a16="http://schemas.microsoft.com/office/drawing/2014/main" id="{4227795F-32BA-49F3-979A-4D188212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19" y="3362325"/>
            <a:ext cx="1527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114,501</a:t>
            </a:r>
          </a:p>
        </p:txBody>
      </p:sp>
      <p:sp>
        <p:nvSpPr>
          <p:cNvPr id="69" name="2,178,881">
            <a:extLst xmlns:a="http://schemas.openxmlformats.org/drawingml/2006/main">
              <a:ext uri="{FF2B5EF4-FFF2-40B4-BE49-F238E27FC236}">
                <a16:creationId xmlns:a16="http://schemas.microsoft.com/office/drawing/2014/main" id="{E8A35116-BBFD-4940-A5FD-F0BAF7D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19" y="3648075"/>
            <a:ext cx="1527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2,178,881</a:t>
            </a:r>
          </a:p>
        </p:txBody>
      </p:sp>
      <p:sp>
        <p:nvSpPr>
          <p:cNvPr id="70" name="Pennsylvania">
            <a:extLst xmlns:a="http://schemas.openxmlformats.org/drawingml/2006/main">
              <a:ext uri="{FF2B5EF4-FFF2-40B4-BE49-F238E27FC236}">
                <a16:creationId xmlns:a16="http://schemas.microsoft.com/office/drawing/2014/main" id="{4E2D49FB-A694-43DE-ADC4-925BF39C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4" y="4057650"/>
            <a:ext cx="1432562" cy="3011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Pennsylvania</a:t>
            </a:r>
          </a:p>
        </p:txBody>
      </p:sp>
      <p:graphicFrame>
        <p:nvGraphicFramePr>
          <p:cNvPr id="109" name="Chart"/>
          <p:cNvGraphicFramePr/>
          <p:nvPr/>
        </p:nvGraphicFramePr>
        <p:xfrm>
          <a:off xmlns:a="http://schemas.openxmlformats.org/drawingml/2006/main" x="4469308" y="3984017"/>
          <a:ext xmlns:a="http://schemas.openxmlformats.org/drawingml/2006/main" cx="4947742" cy="56208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333833078145c6"/>
          </a:graphicData>
        </a:graphic>
      </p:graphicFrame>
      <p:sp>
        <p:nvSpPr>
          <p:cNvPr id="72" name="113,717">
            <a:extLst xmlns:a="http://schemas.openxmlformats.org/drawingml/2006/main">
              <a:ext uri="{FF2B5EF4-FFF2-40B4-BE49-F238E27FC236}">
                <a16:creationId xmlns:a16="http://schemas.microsoft.com/office/drawing/2014/main" id="{838627B0-5831-4D8D-83CC-9E9209F4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19" y="4019550"/>
            <a:ext cx="1527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113,717</a:t>
            </a:r>
          </a:p>
        </p:txBody>
      </p:sp>
      <p:sp>
        <p:nvSpPr>
          <p:cNvPr id="73" name="2,055,512">
            <a:extLst xmlns:a="http://schemas.openxmlformats.org/drawingml/2006/main">
              <a:ext uri="{FF2B5EF4-FFF2-40B4-BE49-F238E27FC236}">
                <a16:creationId xmlns:a16="http://schemas.microsoft.com/office/drawing/2014/main" id="{AD418977-3D69-42C3-BB77-AC8569D9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19" y="4305300"/>
            <a:ext cx="1527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2,055,512</a:t>
            </a:r>
          </a:p>
        </p:txBody>
      </p:sp>
      <p:sp>
        <p:nvSpPr>
          <p:cNvPr id="74" name="Much larger unresolved identification inventories">
            <a:extLst xmlns:a="http://schemas.openxmlformats.org/drawingml/2006/main">
              <a:ext uri="{FF2B5EF4-FFF2-40B4-BE49-F238E27FC236}">
                <a16:creationId xmlns:a16="http://schemas.microsoft.com/office/drawing/2014/main" id="{619BB044-120E-47EC-907E-8E1AA6AD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4" y="4676775"/>
            <a:ext cx="7909562" cy="276539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3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Much larger unresolved identification inventories</a:t>
            </a:r>
          </a:p>
        </p:txBody>
      </p:sp>
      <p:sp>
        <p:nvSpPr>
          <p:cNvPr id="75" name="Line">
            <a:extLst xmlns:a="http://schemas.openxmlformats.org/drawingml/2006/main">
              <a:ext uri="{FF2B5EF4-FFF2-40B4-BE49-F238E27FC236}">
                <a16:creationId xmlns:a16="http://schemas.microsoft.com/office/drawing/2014/main" id="{BF4DD774-837B-4536-8CDA-DCDB8E5D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107156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BEC7CC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6" name="Substantial work…">
            <a:extLst xmlns:a="http://schemas.openxmlformats.org/drawingml/2006/main">
              <a:ext uri="{FF2B5EF4-FFF2-40B4-BE49-F238E27FC236}">
                <a16:creationId xmlns:a16="http://schemas.microsoft.com/office/drawing/2014/main" id="{23706FCA-4C6F-4A17-B918-D4D540B8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69" y="5248275"/>
            <a:ext cx="2004062" cy="84637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Substantial work</a:t>
            </a:r>
          </a:p>
          <a:p xmlns:a="http://schemas.openxmlformats.org/drawingml/2006/main">
            <a:pPr>
              <a:buNone/>
              <a:defRPr sz="1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on both dimensions</a:t>
            </a:r>
          </a:p>
        </p:txBody>
      </p:sp>
      <p:sp>
        <p:nvSpPr>
          <p:cNvPr id="77" name="Ohio">
            <a:extLst xmlns:a="http://schemas.openxmlformats.org/drawingml/2006/main">
              <a:ext uri="{FF2B5EF4-FFF2-40B4-BE49-F238E27FC236}">
                <a16:creationId xmlns:a16="http://schemas.microsoft.com/office/drawing/2014/main" id="{7BED09C9-99B7-44FC-AE2C-0F22E87F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4" y="5229225"/>
            <a:ext cx="1432562" cy="3011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Ohio</a:t>
            </a:r>
          </a:p>
        </p:txBody>
      </p:sp>
      <p:graphicFrame>
        <p:nvGraphicFramePr>
          <p:cNvPr id="116" name="Chart"/>
          <p:cNvGraphicFramePr/>
          <p:nvPr/>
        </p:nvGraphicFramePr>
        <p:xfrm>
          <a:off xmlns:a="http://schemas.openxmlformats.org/drawingml/2006/main" x="4469308" y="5155592"/>
          <a:ext xmlns:a="http://schemas.openxmlformats.org/drawingml/2006/main" cx="4947742" cy="56208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288f86e68d4b90"/>
          </a:graphicData>
        </a:graphic>
      </p:graphicFrame>
      <p:sp>
        <p:nvSpPr>
          <p:cNvPr id="79" name="321,502">
            <a:extLst xmlns:a="http://schemas.openxmlformats.org/drawingml/2006/main">
              <a:ext uri="{FF2B5EF4-FFF2-40B4-BE49-F238E27FC236}">
                <a16:creationId xmlns:a16="http://schemas.microsoft.com/office/drawing/2014/main" id="{2D06E718-B0B8-4851-86EF-18099AE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19" y="5191125"/>
            <a:ext cx="1527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321,502</a:t>
            </a:r>
          </a:p>
        </p:txBody>
      </p:sp>
      <p:sp>
        <p:nvSpPr>
          <p:cNvPr id="80" name="878,788">
            <a:extLst xmlns:a="http://schemas.openxmlformats.org/drawingml/2006/main">
              <a:ext uri="{FF2B5EF4-FFF2-40B4-BE49-F238E27FC236}">
                <a16:creationId xmlns:a16="http://schemas.microsoft.com/office/drawing/2014/main" id="{3FEAA056-65E5-44BC-9498-DC870E97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19" y="5476875"/>
            <a:ext cx="1527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878,788</a:t>
            </a:r>
          </a:p>
        </p:txBody>
      </p:sp>
      <p:sp>
        <p:nvSpPr>
          <p:cNvPr id="81" name="New York">
            <a:extLst xmlns:a="http://schemas.openxmlformats.org/drawingml/2006/main">
              <a:ext uri="{FF2B5EF4-FFF2-40B4-BE49-F238E27FC236}">
                <a16:creationId xmlns:a16="http://schemas.microsoft.com/office/drawing/2014/main" id="{EE918983-AB8D-4AD7-8D7B-B82066E1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4" y="5810250"/>
            <a:ext cx="1432562" cy="30110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New York</a:t>
            </a:r>
          </a:p>
        </p:txBody>
      </p:sp>
      <p:graphicFrame>
        <p:nvGraphicFramePr>
          <p:cNvPr id="120" name="Chart"/>
          <p:cNvGraphicFramePr/>
          <p:nvPr/>
        </p:nvGraphicFramePr>
        <p:xfrm>
          <a:off xmlns:a="http://schemas.openxmlformats.org/drawingml/2006/main" x="4469308" y="5736617"/>
          <a:ext xmlns:a="http://schemas.openxmlformats.org/drawingml/2006/main" cx="4947742" cy="56208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967918cea14330"/>
          </a:graphicData>
        </a:graphic>
      </p:graphicFrame>
      <p:sp>
        <p:nvSpPr>
          <p:cNvPr id="83" name="289,055">
            <a:extLst xmlns:a="http://schemas.openxmlformats.org/drawingml/2006/main">
              <a:ext uri="{FF2B5EF4-FFF2-40B4-BE49-F238E27FC236}">
                <a16:creationId xmlns:a16="http://schemas.microsoft.com/office/drawing/2014/main" id="{C39A4CCE-38FA-4C8A-B653-3962CCA8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19" y="5772150"/>
            <a:ext cx="1527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289,055</a:t>
            </a:r>
          </a:p>
        </p:txBody>
      </p:sp>
      <p:sp>
        <p:nvSpPr>
          <p:cNvPr id="84" name="951,163">
            <a:extLst xmlns:a="http://schemas.openxmlformats.org/drawingml/2006/main">
              <a:ext uri="{FF2B5EF4-FFF2-40B4-BE49-F238E27FC236}">
                <a16:creationId xmlns:a16="http://schemas.microsoft.com/office/drawing/2014/main" id="{22842297-2FB7-4F8D-8687-EB106F8D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7419" y="6057900"/>
            <a:ext cx="1527812" cy="288824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951,163</a:t>
            </a:r>
          </a:p>
        </p:txBody>
      </p:sp>
      <p:sp>
        <p:nvSpPr>
          <p:cNvPr id="85" name="Source: U.S. EPA 2026 Q2 Service Line Inventory. Narrative examples, not statistical clusters. All bars use the same scale.">
            <a:extLst xmlns:a="http://schemas.openxmlformats.org/drawingml/2006/main">
              <a:ext uri="{FF2B5EF4-FFF2-40B4-BE49-F238E27FC236}">
                <a16:creationId xmlns:a16="http://schemas.microsoft.com/office/drawing/2014/main" id="{C9496E91-6919-456A-A9C9-BE075B68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6524625"/>
            <a:ext cx="10290812" cy="2024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Source: U.S. EPA 2026 Q2 Service Line Inventory. Narrative examples, not statistical clusters. All bars use the same scale.</a:t>
            </a:r>
          </a:p>
        </p:txBody>
      </p:sp>
    </p:spTree>
    <p:extLst>
      <p:ext uri="{BB962C8B-B14F-4D97-AF65-F5344CB8AC3E}">
        <p14:creationId xmlns:p14="http://schemas.microsoft.com/office/powerpoint/2010/main" val="1487496880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112" name="Chart"/>
          <p:cNvGraphicFramePr/>
          <p:nvPr/>
        </p:nvGraphicFramePr>
        <p:xfrm>
          <a:off xmlns:a="http://schemas.openxmlformats.org/drawingml/2006/main" x="1097657" y="1470589"/>
          <a:ext xmlns:a="http://schemas.openxmlformats.org/drawingml/2006/main" cx="7077969" cy="428981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4fdd5f90e4449a"/>
          </a:graphicData>
        </a:graphic>
      </p:graphicFrame>
      <p:sp>
        <p:nvSpPr>
          <p:cNvPr id="90" name="A single ranking would hide…">
            <a:extLst xmlns:a="http://schemas.openxmlformats.org/drawingml/2006/main">
              <a:ext uri="{FF2B5EF4-FFF2-40B4-BE49-F238E27FC236}">
                <a16:creationId xmlns:a16="http://schemas.microsoft.com/office/drawing/2014/main" id="{829C6285-2707-4E3E-BCFB-DF69312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400050"/>
            <a:ext cx="10719437" cy="917592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A single ranking would hide</a:t>
            </a:r>
          </a:p>
          <a:p xmlns:a="http://schemas.openxmlformats.org/drawingml/2006/main">
            <a:pPr>
              <a:buNone/>
              <a:defRPr sz="29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t>where each state’s workload sits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2D9713C3-F65C-44C9-88E1-0B6C2609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10782301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BEC7CC"/>
            </a:solidFill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92" name="4">
            <a:extLst xmlns:a="http://schemas.openxmlformats.org/drawingml/2006/main">
              <a:ext uri="{FF2B5EF4-FFF2-40B4-BE49-F238E27FC236}">
                <a16:creationId xmlns:a16="http://schemas.microsoft.com/office/drawing/2014/main" id="{5E26E62E-891F-4CD2-9066-EF2388EC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1894" y="6524625"/>
            <a:ext cx="194312" cy="2024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</a:t>
            </a:r>
          </a:p>
        </p:txBody>
      </p:sp>
      <p:sp>
        <p:nvSpPr>
          <p:cNvPr id="93" name="Texas">
            <a:extLst xmlns:a="http://schemas.openxmlformats.org/drawingml/2006/main">
              <a:ext uri="{FF2B5EF4-FFF2-40B4-BE49-F238E27FC236}">
                <a16:creationId xmlns:a16="http://schemas.microsoft.com/office/drawing/2014/main" id="{74CD9459-CA7D-4113-A037-E532EF11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044" y="1724025"/>
            <a:ext cx="1623062" cy="23927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Texas</a:t>
            </a:r>
          </a:p>
        </p:txBody>
      </p:sp>
      <p:sp>
        <p:nvSpPr>
          <p:cNvPr id="94" name="Pennsylvania">
            <a:extLst xmlns:a="http://schemas.openxmlformats.org/drawingml/2006/main">
              <a:ext uri="{FF2B5EF4-FFF2-40B4-BE49-F238E27FC236}">
                <a16:creationId xmlns:a16="http://schemas.microsoft.com/office/drawing/2014/main" id="{DCAA3D82-467C-4B55-8E8B-19CA55BC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044" y="2085975"/>
            <a:ext cx="1623062" cy="23927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Pennsylvania</a:t>
            </a:r>
          </a:p>
        </p:txBody>
      </p:sp>
      <p:sp>
        <p:nvSpPr>
          <p:cNvPr id="95" name="New York">
            <a:extLst xmlns:a="http://schemas.openxmlformats.org/drawingml/2006/main">
              <a:ext uri="{FF2B5EF4-FFF2-40B4-BE49-F238E27FC236}">
                <a16:creationId xmlns:a16="http://schemas.microsoft.com/office/drawing/2014/main" id="{627A9E8F-F921-4FCD-8EFC-E71A12C4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869" y="3419475"/>
            <a:ext cx="1432562" cy="23927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New York</a:t>
            </a:r>
          </a:p>
        </p:txBody>
      </p:sp>
      <p:sp>
        <p:nvSpPr>
          <p:cNvPr id="96" name="Ohio">
            <a:extLst xmlns:a="http://schemas.openxmlformats.org/drawingml/2006/main">
              <a:ext uri="{FF2B5EF4-FFF2-40B4-BE49-F238E27FC236}">
                <a16:creationId xmlns:a16="http://schemas.microsoft.com/office/drawing/2014/main" id="{59E02D4D-F291-4BA0-BC42-EA07596A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1544" y="3752850"/>
            <a:ext cx="1146812" cy="23927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Ohio</a:t>
            </a:r>
          </a:p>
        </p:txBody>
      </p:sp>
      <p:sp>
        <p:nvSpPr>
          <p:cNvPr id="97" name="Illinois">
            <a:extLst xmlns:a="http://schemas.openxmlformats.org/drawingml/2006/main">
              <a:ext uri="{FF2B5EF4-FFF2-40B4-BE49-F238E27FC236}">
                <a16:creationId xmlns:a16="http://schemas.microsoft.com/office/drawing/2014/main" id="{9A839810-55AB-4973-A481-ECF7AA4C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944" y="4143375"/>
            <a:ext cx="1146812" cy="23927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1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Illinois</a:t>
            </a:r>
          </a:p>
        </p:txBody>
      </p:sp>
      <p:sp>
        <p:nvSpPr>
          <p:cNvPr id="103" name="Source: U.S. EPA 2026 Q2 Service Line Inventory. Each point represents one state or DC.">
            <a:extLst xmlns:a="http://schemas.openxmlformats.org/drawingml/2006/main">
              <a:ext uri="{FF2B5EF4-FFF2-40B4-BE49-F238E27FC236}">
                <a16:creationId xmlns:a16="http://schemas.microsoft.com/office/drawing/2014/main" id="{FA2B813E-30CB-4535-A7C0-C8611D8F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69" y="6524625"/>
            <a:ext cx="10290812" cy="202417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800">
                <a:solidFill>
                  <a:srgbClr val="65727B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Source: U.S. EPA 2026 Q2 Service Line Inventory. Each point represents one state or DC.</a:t>
            </a:r>
          </a:p>
        </p:txBody>
      </p:sp>
      <p:sp>
        <p:nvSpPr>
          <p:cNvPr id="105" name="v5-4-heading">
            <a:extLst xmlns:a="http://schemas.openxmlformats.org/drawingml/2006/main">
              <a:ext uri="{FF2B5EF4-FFF2-40B4-BE49-F238E27FC236}">
                <a16:creationId xmlns:a16="http://schemas.microsoft.com/office/drawing/2014/main" id="{C6B2F257-DFB3-4BE6-A976-5672C336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62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THIS REVEALS</a:t>
            </a:r>
          </a:p>
        </p:txBody>
      </p:sp>
      <p:sp>
        <p:nvSpPr>
          <p:cNvPr id="106" name="v5-4-gate">
            <a:extLst xmlns:a="http://schemas.openxmlformats.org/drawingml/2006/main">
              <a:ext uri="{FF2B5EF4-FFF2-40B4-BE49-F238E27FC236}">
                <a16:creationId xmlns:a16="http://schemas.microsoft.com/office/drawing/2014/main" id="{EB178121-0D72-472E-8A8C-1D2F3937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71675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For Unknown lines, identification is the gating step.</a:t>
            </a:r>
          </a:p>
        </p:txBody>
      </p:sp>
      <p:sp>
        <p:nvSpPr>
          <p:cNvPr id="107" name="v5-4-unknown">
            <a:extLst xmlns:a="http://schemas.openxmlformats.org/drawingml/2006/main">
              <a:ext uri="{FF2B5EF4-FFF2-40B4-BE49-F238E27FC236}">
                <a16:creationId xmlns:a16="http://schemas.microsoft.com/office/drawing/2014/main" id="{C16D071A-454A-4D87-815B-F0D48A0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71775"/>
            <a:ext cx="262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An Unknown line must be classified before its replacement need can be determined.</a:t>
            </a:r>
          </a:p>
        </p:txBody>
      </p:sp>
      <p:sp>
        <p:nvSpPr>
          <p:cNvPr id="108" name="v5-4-known">
            <a:extLst xmlns:a="http://schemas.openxmlformats.org/drawingml/2006/main">
              <a:ext uri="{FF2B5EF4-FFF2-40B4-BE49-F238E27FC236}">
                <a16:creationId xmlns:a16="http://schemas.microsoft.com/office/drawing/2014/main" id="{A603DEF2-82DB-4196-845E-F63460D9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2628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Known Lead + GRR lines can already move toward replacement planning.</a:t>
            </a:r>
          </a:p>
        </p:txBody>
      </p:sp>
      <p:sp>
        <p:nvSpPr>
          <p:cNvPr id="109" name="v5-4-national">
            <a:extLst xmlns:a="http://schemas.openxmlformats.org/drawingml/2006/main">
              <a:ext uri="{FF2B5EF4-FFF2-40B4-BE49-F238E27FC236}">
                <a16:creationId xmlns:a16="http://schemas.microsoft.com/office/drawing/2014/main" id="{2A1D8AC2-75E8-43E4-BD9A-E4199E12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33900"/>
            <a:ext cx="262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Nationally, Unknown inventory is 6.9× the known replacement inventory.</a:t>
            </a:r>
          </a:p>
        </p:txBody>
      </p:sp>
      <p:sp>
        <p:nvSpPr>
          <p:cNvPr id="110" name="v5-4-count">
            <a:extLst xmlns:a="http://schemas.openxmlformats.org/drawingml/2006/main">
              <a:ext uri="{FF2B5EF4-FFF2-40B4-BE49-F238E27FC236}">
                <a16:creationId xmlns:a16="http://schemas.microsoft.com/office/drawing/2014/main" id="{072A5BDD-8F6B-4D25-90BE-668C1B6B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0"/>
            <a:ext cx="262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 is larger in 49 of 51 states/DC.</a:t>
            </a:r>
          </a:p>
        </p:txBody>
      </p:sp>
      <p:sp>
        <p:nvSpPr>
          <p:cNvPr id="111" name="v5-4-caveat">
            <a:extLst xmlns:a="http://schemas.openxmlformats.org/drawingml/2006/main">
              <a:ext uri="{FF2B5EF4-FFF2-40B4-BE49-F238E27FC236}">
                <a16:creationId xmlns:a16="http://schemas.microsoft.com/office/drawing/2014/main" id="{FABEBFC5-9617-4728-B5A6-7777C62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2455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This describes reported inventory, not project progress or implementation capacity.</a:t>
            </a:r>
          </a:p>
        </p:txBody>
      </p:sp>
    </p:spTree>
    <p:extLst>
      <p:ext uri="{BB962C8B-B14F-4D97-AF65-F5344CB8AC3E}">
        <p14:creationId xmlns:p14="http://schemas.microsoft.com/office/powerpoint/2010/main" val="915937245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5-5-title">
            <a:extLst xmlns:a="http://schemas.openxmlformats.org/drawingml/2006/main">
              <a:ext uri="{FF2B5EF4-FFF2-40B4-BE49-F238E27FC236}">
                <a16:creationId xmlns:a16="http://schemas.microsoft.com/office/drawing/2014/main" id="{3F788480-9DC2-4E0B-B939-B674307E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950"/>
            <a:ext cx="10782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Closing the identification gap is the broadest challenge</a:t>
            </a:r>
          </a:p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Local evidence determines what happens next</a:t>
            </a:r>
          </a:p>
        </p:txBody>
      </p:sp>
      <p:sp>
        <p:nvSpPr>
          <p:cNvPr id="2" name="v5-5-implication-label">
            <a:extLst xmlns:a="http://schemas.openxmlformats.org/drawingml/2006/main">
              <a:ext uri="{FF2B5EF4-FFF2-40B4-BE49-F238E27FC236}">
                <a16:creationId xmlns:a16="http://schemas.microsoft.com/office/drawing/2014/main" id="{7F35DD80-2FD6-48B5-BDD8-A6830344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Decision implication</a:t>
            </a:r>
          </a:p>
        </p:txBody>
      </p:sp>
      <p:sp>
        <p:nvSpPr>
          <p:cNvPr id="3" name="v5-5-implication">
            <a:extLst xmlns:a="http://schemas.openxmlformats.org/drawingml/2006/main">
              <a:ext uri="{FF2B5EF4-FFF2-40B4-BE49-F238E27FC236}">
                <a16:creationId xmlns:a16="http://schemas.microsoft.com/office/drawing/2014/main" id="{155B5995-2203-4B4E-932D-1729CE6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764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more Unknown lines are classified,</a:t>
            </a:r>
          </a:p>
          <a:p xmlns:a="http://schemas.openxmlformats.org/drawingml/2006/main"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clearer the replacement workload becomes.</a:t>
            </a:r>
          </a:p>
        </p:txBody>
      </p:sp>
      <p:sp>
        <p:nvSpPr>
          <p:cNvPr id="4" name="v5-5-popheading">
            <a:extLst xmlns:a="http://schemas.openxmlformats.org/drawingml/2006/main">
              <a:ext uri="{FF2B5EF4-FFF2-40B4-BE49-F238E27FC236}">
                <a16:creationId xmlns:a16="http://schemas.microsoft.com/office/drawing/2014/main" id="{CA3DE415-2E85-4F53-AD40-D83EFC68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population context matters</a:t>
            </a:r>
          </a:p>
        </p:txBody>
      </p:sp>
      <p:sp>
        <p:nvSpPr>
          <p:cNvPr id="5" name="v5-5-raw">
            <a:extLst xmlns:a="http://schemas.openxmlformats.org/drawingml/2006/main">
              <a:ext uri="{FF2B5EF4-FFF2-40B4-BE49-F238E27FC236}">
                <a16:creationId xmlns:a16="http://schemas.microsoft.com/office/drawing/2014/main" id="{4FFB10E6-B4B3-4583-A104-1C3239D8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Raw totals show absolute workload and tend to favor larger states.</a:t>
            </a:r>
          </a:p>
        </p:txBody>
      </p:sp>
      <p:sp>
        <p:nvSpPr>
          <p:cNvPr id="6" name="v5-5-normal">
            <a:extLst xmlns:a="http://schemas.openxmlformats.org/drawingml/2006/main">
              <a:ext uri="{FF2B5EF4-FFF2-40B4-BE49-F238E27FC236}">
                <a16:creationId xmlns:a16="http://schemas.microsoft.com/office/drawing/2014/main" id="{EE9DB1E7-3001-4476-B3E3-A8B3268F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Per 10,000 state residents shows inventory scale relative to state population.</a:t>
            </a:r>
          </a:p>
        </p:txBody>
      </p:sp>
      <p:sp>
        <p:nvSpPr>
          <p:cNvPr id="7" name="v5-5-not">
            <a:extLst xmlns:a="http://schemas.openxmlformats.org/drawingml/2006/main">
              <a:ext uri="{FF2B5EF4-FFF2-40B4-BE49-F238E27FC236}">
                <a16:creationId xmlns:a16="http://schemas.microsoft.com/office/drawing/2014/main" id="{D54BA26C-30DB-41C9-84D2-60D4EF45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These rates do not measure affected residents, customers, exposure, or prevalence.</a:t>
            </a:r>
          </a:p>
        </p:txBody>
      </p:sp>
      <p:sp>
        <p:nvSpPr>
          <p:cNvPr id="8" name="v5-5-retained">
            <a:extLst xmlns:a="http://schemas.openxmlformats.org/drawingml/2006/main">
              <a:ext uri="{FF2B5EF4-FFF2-40B4-BE49-F238E27FC236}">
                <a16:creationId xmlns:a16="http://schemas.microsoft.com/office/drawing/2014/main" id="{EBE93B17-CCBD-4C89-B895-4E8E16B7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Raw top 10 retained in the population-adjusted top 10</a:t>
            </a:r>
          </a:p>
        </p:txBody>
      </p:sp>
      <p:sp>
        <p:nvSpPr>
          <p:cNvPr id="9" name="v5-5-six">
            <a:extLst xmlns:a="http://schemas.openxmlformats.org/drawingml/2006/main">
              <a:ext uri="{FF2B5EF4-FFF2-40B4-BE49-F238E27FC236}">
                <a16:creationId xmlns:a16="http://schemas.microsoft.com/office/drawing/2014/main" id="{62F14AA6-8EEA-4E1B-9B20-41EFB48C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4332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F73C7"/>
                </a:solidFill>
                <a:latin typeface="Arial"/>
                <a:ea typeface="Arial"/>
                <a:cs typeface="Arial"/>
              </a:rPr>
              <a:t>6 of 10</a:t>
            </a:r>
          </a:p>
        </p:txBody>
      </p:sp>
      <p:sp>
        <p:nvSpPr>
          <p:cNvPr id="10" name="v5-5-known">
            <a:extLst xmlns:a="http://schemas.openxmlformats.org/drawingml/2006/main">
              <a:ext uri="{FF2B5EF4-FFF2-40B4-BE49-F238E27FC236}">
                <a16:creationId xmlns:a16="http://schemas.microsoft.com/office/drawing/2014/main" id="{0E19578B-FBAE-4B9C-8732-5DC708A1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80047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F73C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F73C7"/>
                </a:solidFill>
                <a:latin typeface="Arial"/>
                <a:ea typeface="Arial"/>
                <a:cs typeface="Arial"/>
              </a:rPr>
              <a:t>Known Replacement</a:t>
            </a:r>
          </a:p>
        </p:txBody>
      </p:sp>
      <p:sp>
        <p:nvSpPr>
          <p:cNvPr id="11" name="v5-5-three">
            <a:extLst xmlns:a="http://schemas.openxmlformats.org/drawingml/2006/main">
              <a:ext uri="{FF2B5EF4-FFF2-40B4-BE49-F238E27FC236}">
                <a16:creationId xmlns:a16="http://schemas.microsoft.com/office/drawing/2014/main" id="{19D4F368-C304-47F3-BEB7-CA01A9CA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38625"/>
            <a:ext cx="1504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07C2B"/>
                </a:solidFill>
                <a:latin typeface="Arial"/>
                <a:ea typeface="Arial"/>
                <a:cs typeface="Arial"/>
              </a:rPr>
              <a:t>3 of 10</a:t>
            </a:r>
          </a:p>
        </p:txBody>
      </p:sp>
      <p:sp>
        <p:nvSpPr>
          <p:cNvPr id="12" name="v5-5-identification">
            <a:extLst xmlns:a="http://schemas.openxmlformats.org/drawingml/2006/main">
              <a:ext uri="{FF2B5EF4-FFF2-40B4-BE49-F238E27FC236}">
                <a16:creationId xmlns:a16="http://schemas.microsoft.com/office/drawing/2014/main" id="{A829FFD7-FEAB-4A6A-808F-0C56323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95775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07C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07C2B"/>
                </a:solidFill>
                <a:latin typeface="Arial"/>
                <a:ea typeface="Arial"/>
                <a:cs typeface="Arial"/>
              </a:rPr>
              <a:t>Identification Need</a:t>
            </a:r>
          </a:p>
        </p:txBody>
      </p:sp>
      <p:sp>
        <p:nvSpPr>
          <p:cNvPr id="13" name="v5-5-example">
            <a:extLst xmlns:a="http://schemas.openxmlformats.org/drawingml/2006/main">
              <a:ext uri="{FF2B5EF4-FFF2-40B4-BE49-F238E27FC236}">
                <a16:creationId xmlns:a16="http://schemas.microsoft.com/office/drawing/2014/main" id="{A9A51BC9-C936-41AE-8F00-9A517E99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523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Illinois: #1 Known Replacement</a:t>
            </a:r>
          </a:p>
          <a:p xmlns:a="http://schemas.openxmlformats.org/drawingml/2006/main">
            <a:pPr algn="l">
              <a:defRPr sz="1275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Pennsylvania: #1 Unknown</a:t>
            </a:r>
          </a:p>
          <a:p xmlns:a="http://schemas.openxmlformats.org/drawingml/2006/main">
            <a:pPr algn="l">
              <a:defRPr sz="1275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Both per 10,000 state residents</a:t>
            </a:r>
          </a:p>
        </p:txBody>
      </p:sp>
      <p:sp>
        <p:nvSpPr>
          <p:cNvPr id="14" name="v5-5-rule">
            <a:extLst xmlns:a="http://schemas.openxmlformats.org/drawingml/2006/main">
              <a:ext uri="{FF2B5EF4-FFF2-40B4-BE49-F238E27FC236}">
                <a16:creationId xmlns:a16="http://schemas.microsoft.com/office/drawing/2014/main" id="{A4474C5F-8DFA-4F3D-8EED-6C0747EF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43"/>
            </a:solidFill>
          </a:ln>
        </p:spPr>
      </p:sp>
      <p:sp>
        <p:nvSpPr>
          <p:cNvPr id="15" name="v5-5-nextlabel">
            <a:extLst xmlns:a="http://schemas.openxmlformats.org/drawingml/2006/main">
              <a:ext uri="{FF2B5EF4-FFF2-40B4-BE49-F238E27FC236}">
                <a16:creationId xmlns:a16="http://schemas.microsoft.com/office/drawing/2014/main" id="{F4B2DA20-8DB7-4FED-A168-9FA868E6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685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Next question</a:t>
            </a:r>
          </a:p>
        </p:txBody>
      </p:sp>
      <p:sp>
        <p:nvSpPr>
          <p:cNvPr id="16" name="v5-5-next">
            <a:extLst xmlns:a="http://schemas.openxmlformats.org/drawingml/2006/main">
              <a:ext uri="{FF2B5EF4-FFF2-40B4-BE49-F238E27FC236}">
                <a16:creationId xmlns:a16="http://schemas.microsoft.com/office/drawing/2014/main" id="{DC3241F8-6CAE-40BE-AD27-597480DF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48325"/>
            <a:ext cx="880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Once service lines are identified, which utility-level, geographic, funding, and local-capacity factors determine where replacement can move forward?</a:t>
            </a:r>
          </a:p>
        </p:txBody>
      </p:sp>
      <p:sp>
        <p:nvSpPr>
          <p:cNvPr id="17" name="v5-5-limit">
            <a:extLst xmlns:a="http://schemas.openxmlformats.org/drawingml/2006/main">
              <a:ext uri="{FF2B5EF4-FFF2-40B4-BE49-F238E27FC236}">
                <a16:creationId xmlns:a16="http://schemas.microsoft.com/office/drawing/2014/main" id="{905C3FCC-D6A5-4657-87E3-B9076B2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3412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Unknown does not mean lead. Inventory does not measure exposure or water quality. Incomplete-report systems are excluded.</a:t>
            </a:r>
          </a:p>
        </p:txBody>
      </p:sp>
      <p:sp>
        <p:nvSpPr>
          <p:cNvPr id="18" name="v5-5-source">
            <a:extLst xmlns:a="http://schemas.openxmlformats.org/drawingml/2006/main">
              <a:ext uri="{FF2B5EF4-FFF2-40B4-BE49-F238E27FC236}">
                <a16:creationId xmlns:a16="http://schemas.microsoft.com/office/drawing/2014/main" id="{82A3CA99-5318-496B-B4E8-423E1001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722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Sources: U.S. EPA 2026 Q2 inventory data; 2025 Census resident population estimates (population context).</a:t>
            </a:r>
          </a:p>
        </p:txBody>
      </p:sp>
      <p:sp>
        <p:nvSpPr>
          <p:cNvPr id="19" name="v5-5-number">
            <a:extLst xmlns:a="http://schemas.openxmlformats.org/drawingml/2006/main">
              <a:ext uri="{FF2B5EF4-FFF2-40B4-BE49-F238E27FC236}">
                <a16:creationId xmlns:a16="http://schemas.microsoft.com/office/drawing/2014/main" id="{8F66C7AC-3493-43A3-B292-D7A5607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572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36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36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5320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2026-09-18T16:51:58.8720000Z</dcterms:created>
  <dcterms:modified xsi:type="dcterms:W3CDTF">2026-09-18T16:51:58.8720000Z</dcterms:modified>
</coreProperties>
</file>