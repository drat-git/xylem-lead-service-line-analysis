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4.xml" ContentType="application/vnd.openxmlformats-officedocument.presentationml.notesSlide+xml"/>
  <Override PartName="/ppt/charts/chart7.xml" ContentType="application/vnd.openxmlformats-officedocument.drawingml.chart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_rels/chart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.xlsx"/></Relationships>

</file>

<file path=ppt/charts/_rels/chart3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3.xlsx"/></Relationships>

</file>

<file path=ppt/charts/_rels/chart4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4.xlsx"/></Relationships>

</file>

<file path=ppt/charts/_rels/chart5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5.xlsx"/></Relationships>

</file>

<file path=ppt/charts/_rels/chart6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6.xlsx"/></Relationships>

</file>

<file path=ppt/charts/_rels/chart7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7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196186"/>
          <c:y val="0.0776158"/>
          <c:w val="0.975381"/>
          <c:h val="0.88380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rgbClr val="F07C2B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Service lines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21589524.000000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>
              <a:srgbClr val="3F73C7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Service lines</c:v>
                </c:pt>
              </c:strCache>
            </c:strRef>
          </c:cat>
          <c:val>
            <c:numRef>
              <c:f>Sheet1!$C$2:$C$2</c:f>
              <c:numCache>
                <c:ptCount val="1"/>
                <c:pt idx="0">
                  <c:v>3115308.000000</c:v>
                </c:pt>
              </c:numCache>
            </c:numRef>
          </c:val>
        </c:ser>
        <c:gapWidth val="0"/>
        <c:overlap val="-7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5.5e+06"/>
        <c:minorUnit val="2.75e+06"/>
      </c:valAx>
      <c:spPr>
        <a:solidFill>
          <a:srgbClr val="F7F4EE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F7F4E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>
              <a:srgbClr val="3F73C7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Illinois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672210.000000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rgbClr val="F07C2B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Illinois</c:v>
                </c:pt>
              </c:strCache>
            </c:strRef>
          </c:cat>
          <c:val>
            <c:numRef>
              <c:f>Sheet1!$C$2:$C$2</c:f>
              <c:numCache>
                <c:ptCount val="1"/>
                <c:pt idx="0">
                  <c:v>529706.000000</c:v>
                </c:pt>
              </c:numCache>
            </c:numRef>
          </c:val>
        </c:ser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2.4e+06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>
          <a:srgbClr val="F7F4EE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F7F4E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>
              <a:srgbClr val="3F73C7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Texas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114501.000000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rgbClr val="F07C2B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Texas</c:v>
                </c:pt>
              </c:strCache>
            </c:strRef>
          </c:cat>
          <c:val>
            <c:numRef>
              <c:f>Sheet1!$C$2:$C$2</c:f>
              <c:numCache>
                <c:ptCount val="1"/>
                <c:pt idx="0">
                  <c:v>2178881.000000</c:v>
                </c:pt>
              </c:numCache>
            </c:numRef>
          </c:val>
        </c:ser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2.4e+06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>
          <a:srgbClr val="F7F4EE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F7F4E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>
              <a:srgbClr val="3F73C7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Pennsylvania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113717.000000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rgbClr val="F07C2B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Pennsylvania</c:v>
                </c:pt>
              </c:strCache>
            </c:strRef>
          </c:cat>
          <c:val>
            <c:numRef>
              <c:f>Sheet1!$C$2:$C$2</c:f>
              <c:numCache>
                <c:ptCount val="1"/>
                <c:pt idx="0">
                  <c:v>2055512.000000</c:v>
                </c:pt>
              </c:numCache>
            </c:numRef>
          </c:val>
        </c:ser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2.4e+06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>
          <a:srgbClr val="F7F4EE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F7F4EE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>
              <a:srgbClr val="3F73C7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Ohio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321502.000000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rgbClr val="F07C2B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Ohio</c:v>
                </c:pt>
              </c:strCache>
            </c:strRef>
          </c:cat>
          <c:val>
            <c:numRef>
              <c:f>Sheet1!$C$2:$C$2</c:f>
              <c:numCache>
                <c:ptCount val="1"/>
                <c:pt idx="0">
                  <c:v>878788.000000</c:v>
                </c:pt>
              </c:numCache>
            </c:numRef>
          </c:val>
        </c:ser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2.4e+06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>
          <a:srgbClr val="F7F4EE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F7F4EE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>
              <a:srgbClr val="3F73C7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New York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289055.000000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rgbClr val="F07C2B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New York</c:v>
                </c:pt>
              </c:strCache>
            </c:strRef>
          </c:cat>
          <c:val>
            <c:numRef>
              <c:f>Sheet1!$C$2:$C$2</c:f>
              <c:numCache>
                <c:ptCount val="1"/>
                <c:pt idx="0">
                  <c:v>951163.000000</c:v>
                </c:pt>
              </c:numCache>
            </c:numRef>
          </c:val>
        </c:ser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2.4e+06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>
          <a:srgbClr val="F7F4EE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F7F4EE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61777"/>
          <c:y val="0.0287333"/>
          <c:w val="0.895416"/>
          <c:h val="0.87362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 states</c:v>
                </c:pt>
              </c:strCache>
            </c:strRef>
          </c:tx>
          <c:spPr>
            <a:solidFill>
              <a:srgbClr val="BEC8CE"/>
            </a:solidFill>
            <a:ln w="12700" cap="flat">
              <a:noFill/>
              <a:miter lim="400000"/>
            </a:ln>
            <a:effectLst/>
          </c:spPr>
          <c:marker>
            <c:symbol val="circle"/>
            <c:size val="5"/>
            <c:spPr>
              <a:solidFill>
                <a:srgbClr val="BEC8CE"/>
              </a:solidFill>
              <a:ln w="12700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Sheet1!$B$2:$B$47</c:f>
              <c:numCache>
                <c:ptCount val="46"/>
                <c:pt idx="0">
                  <c:v>69230.000000</c:v>
                </c:pt>
                <c:pt idx="1">
                  <c:v>16.000000</c:v>
                </c:pt>
                <c:pt idx="2">
                  <c:v>2812.000000</c:v>
                </c:pt>
                <c:pt idx="3">
                  <c:v>11569.000000</c:v>
                </c:pt>
                <c:pt idx="4">
                  <c:v>12839.000000</c:v>
                </c:pt>
                <c:pt idx="5">
                  <c:v>21412.000000</c:v>
                </c:pt>
                <c:pt idx="6">
                  <c:v>13171.000000</c:v>
                </c:pt>
                <c:pt idx="7">
                  <c:v>6292.000000</c:v>
                </c:pt>
                <c:pt idx="8">
                  <c:v>17155.000000</c:v>
                </c:pt>
                <c:pt idx="9">
                  <c:v>44559.000000</c:v>
                </c:pt>
                <c:pt idx="10">
                  <c:v>50342.000000</c:v>
                </c:pt>
                <c:pt idx="11">
                  <c:v>490.000000</c:v>
                </c:pt>
                <c:pt idx="12">
                  <c:v>2769.000000</c:v>
                </c:pt>
                <c:pt idx="13">
                  <c:v>190947.000000</c:v>
                </c:pt>
                <c:pt idx="14">
                  <c:v>67950.000000</c:v>
                </c:pt>
                <c:pt idx="15">
                  <c:v>26807.000000</c:v>
                </c:pt>
                <c:pt idx="16">
                  <c:v>28036.000000</c:v>
                </c:pt>
                <c:pt idx="17">
                  <c:v>20558.000000</c:v>
                </c:pt>
                <c:pt idx="18">
                  <c:v>1599.000000</c:v>
                </c:pt>
                <c:pt idx="19">
                  <c:v>3136.000000</c:v>
                </c:pt>
                <c:pt idx="20">
                  <c:v>41737.000000</c:v>
                </c:pt>
                <c:pt idx="21">
                  <c:v>255524.000000</c:v>
                </c:pt>
                <c:pt idx="22">
                  <c:v>87183.000000</c:v>
                </c:pt>
                <c:pt idx="23">
                  <c:v>23670.000000</c:v>
                </c:pt>
                <c:pt idx="24">
                  <c:v>70968.000000</c:v>
                </c:pt>
                <c:pt idx="25">
                  <c:v>3220.000000</c:v>
                </c:pt>
                <c:pt idx="26">
                  <c:v>48712.000000</c:v>
                </c:pt>
                <c:pt idx="27">
                  <c:v>1091.000000</c:v>
                </c:pt>
                <c:pt idx="28">
                  <c:v>260.000000</c:v>
                </c:pt>
                <c:pt idx="29">
                  <c:v>135360.000000</c:v>
                </c:pt>
                <c:pt idx="30">
                  <c:v>331.000000</c:v>
                </c:pt>
                <c:pt idx="31">
                  <c:v>12934.000000</c:v>
                </c:pt>
                <c:pt idx="32">
                  <c:v>5658.000000</c:v>
                </c:pt>
                <c:pt idx="33">
                  <c:v>14244.000000</c:v>
                </c:pt>
                <c:pt idx="34">
                  <c:v>0.000000</c:v>
                </c:pt>
                <c:pt idx="35">
                  <c:v>31489.000000</c:v>
                </c:pt>
                <c:pt idx="36">
                  <c:v>19245.000000</c:v>
                </c:pt>
                <c:pt idx="37">
                  <c:v>2697.000000</c:v>
                </c:pt>
                <c:pt idx="38">
                  <c:v>64134.000000</c:v>
                </c:pt>
                <c:pt idx="39">
                  <c:v>898.000000</c:v>
                </c:pt>
                <c:pt idx="40">
                  <c:v>1910.000000</c:v>
                </c:pt>
                <c:pt idx="41">
                  <c:v>13819.000000</c:v>
                </c:pt>
                <c:pt idx="42">
                  <c:v>6922.000000</c:v>
                </c:pt>
                <c:pt idx="43">
                  <c:v>8398.000000</c:v>
                </c:pt>
                <c:pt idx="44">
                  <c:v>158815.000000</c:v>
                </c:pt>
                <c:pt idx="45">
                  <c:v>3415.000000</c:v>
                </c:pt>
              </c:numCache>
            </c:numRef>
          </c:xVal>
          <c:yVal>
            <c:numRef>
              <c:f>Sheet1!$C$2:$C$47</c:f>
              <c:numCache>
                <c:ptCount val="46"/>
                <c:pt idx="0">
                  <c:v>192502.000000</c:v>
                </c:pt>
                <c:pt idx="1">
                  <c:v>25945.000000</c:v>
                </c:pt>
                <c:pt idx="2">
                  <c:v>704381.000000</c:v>
                </c:pt>
                <c:pt idx="3">
                  <c:v>477926.000000</c:v>
                </c:pt>
                <c:pt idx="4">
                  <c:v>599523.000000</c:v>
                </c:pt>
                <c:pt idx="5">
                  <c:v>141284.000000</c:v>
                </c:pt>
                <c:pt idx="6">
                  <c:v>281092.000000</c:v>
                </c:pt>
                <c:pt idx="7">
                  <c:v>113360.000000</c:v>
                </c:pt>
                <c:pt idx="8">
                  <c:v>13427.000000</c:v>
                </c:pt>
                <c:pt idx="9">
                  <c:v>1665928.000000</c:v>
                </c:pt>
                <c:pt idx="10">
                  <c:v>630117.000000</c:v>
                </c:pt>
                <c:pt idx="11">
                  <c:v>34235.000000</c:v>
                </c:pt>
                <c:pt idx="12">
                  <c:v>96673.000000</c:v>
                </c:pt>
                <c:pt idx="13">
                  <c:v>545507.000000</c:v>
                </c:pt>
                <c:pt idx="14">
                  <c:v>180539.000000</c:v>
                </c:pt>
                <c:pt idx="15">
                  <c:v>106076.000000</c:v>
                </c:pt>
                <c:pt idx="16">
                  <c:v>424074.000000</c:v>
                </c:pt>
                <c:pt idx="17">
                  <c:v>719101.000000</c:v>
                </c:pt>
                <c:pt idx="18">
                  <c:v>41662.000000</c:v>
                </c:pt>
                <c:pt idx="19">
                  <c:v>563397.000000</c:v>
                </c:pt>
                <c:pt idx="20">
                  <c:v>349967.000000</c:v>
                </c:pt>
                <c:pt idx="21">
                  <c:v>301508.000000</c:v>
                </c:pt>
                <c:pt idx="22">
                  <c:v>209216.000000</c:v>
                </c:pt>
                <c:pt idx="23">
                  <c:v>161821.000000</c:v>
                </c:pt>
                <c:pt idx="24">
                  <c:v>895013.000000</c:v>
                </c:pt>
                <c:pt idx="25">
                  <c:v>65847.000000</c:v>
                </c:pt>
                <c:pt idx="26">
                  <c:v>88447.000000</c:v>
                </c:pt>
                <c:pt idx="27">
                  <c:v>128987.000000</c:v>
                </c:pt>
                <c:pt idx="28">
                  <c:v>3041.000000</c:v>
                </c:pt>
                <c:pt idx="29">
                  <c:v>860857.000000</c:v>
                </c:pt>
                <c:pt idx="30">
                  <c:v>327310.000000</c:v>
                </c:pt>
                <c:pt idx="31">
                  <c:v>798785.000000</c:v>
                </c:pt>
                <c:pt idx="32">
                  <c:v>97950.000000</c:v>
                </c:pt>
                <c:pt idx="33">
                  <c:v>623329.000000</c:v>
                </c:pt>
                <c:pt idx="34">
                  <c:v>27093.000000</c:v>
                </c:pt>
                <c:pt idx="35">
                  <c:v>55695.000000</c:v>
                </c:pt>
                <c:pt idx="36">
                  <c:v>348969.000000</c:v>
                </c:pt>
                <c:pt idx="37">
                  <c:v>96462.000000</c:v>
                </c:pt>
                <c:pt idx="38">
                  <c:v>621686.000000</c:v>
                </c:pt>
                <c:pt idx="39">
                  <c:v>95149.000000</c:v>
                </c:pt>
                <c:pt idx="40">
                  <c:v>36284.000000</c:v>
                </c:pt>
                <c:pt idx="41">
                  <c:v>529417.000000</c:v>
                </c:pt>
                <c:pt idx="42">
                  <c:v>220180.000000</c:v>
                </c:pt>
                <c:pt idx="43">
                  <c:v>232026.000000</c:v>
                </c:pt>
                <c:pt idx="44">
                  <c:v>182814.000000</c:v>
                </c:pt>
                <c:pt idx="45">
                  <c:v>80872.000000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Illinois</c:v>
                </c:pt>
              </c:strCache>
            </c:strRef>
          </c:tx>
          <c:spPr>
            <a:solidFill>
              <a:srgbClr val="3F73C7"/>
            </a:solidFill>
            <a:ln w="12700" cap="flat">
              <a:noFill/>
              <a:miter lim="400000"/>
            </a:ln>
            <a:effectLst/>
          </c:spPr>
          <c:marker>
            <c:symbol val="circle"/>
            <c:size val="10"/>
            <c:spPr>
              <a:solidFill>
                <a:srgbClr val="3F73C7"/>
              </a:solidFill>
              <a:ln w="12700" cap="flat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Sheet1!$D$2:$D$47</c:f>
              <c:numCache>
                <c:ptCount val="1"/>
                <c:pt idx="0">
                  <c:v>672210.000000</c:v>
                </c:pt>
              </c:numCache>
            </c:numRef>
          </c:xVal>
          <c:yVal>
            <c:numRef>
              <c:f>Sheet1!$E$2:$E$47</c:f>
              <c:numCache>
                <c:ptCount val="1"/>
                <c:pt idx="0">
                  <c:v>529706.000000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Identification examples</c:v>
                </c:pt>
              </c:strCache>
            </c:strRef>
          </c:tx>
          <c:spPr>
            <a:solidFill>
              <a:srgbClr val="F07C2B"/>
            </a:solidFill>
            <a:ln w="12700" cap="flat">
              <a:noFill/>
              <a:miter lim="400000"/>
            </a:ln>
            <a:effectLst/>
          </c:spPr>
          <c:marker>
            <c:symbol val="circle"/>
            <c:size val="10"/>
            <c:spPr>
              <a:solidFill>
                <a:srgbClr val="F07C2B"/>
              </a:solidFill>
              <a:ln w="12700" cap="flat">
                <a:solidFill>
                  <a:schemeClr val="accent3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Sheet1!$F$2:$F$47</c:f>
              <c:numCache>
                <c:ptCount val="2"/>
                <c:pt idx="0">
                  <c:v>114501.000000</c:v>
                </c:pt>
                <c:pt idx="1">
                  <c:v>113717.000000</c:v>
                </c:pt>
              </c:numCache>
            </c:numRef>
          </c:xVal>
          <c:yVal>
            <c:numRef>
              <c:f>Sheet1!$G$2:$G$47</c:f>
              <c:numCache>
                <c:ptCount val="2"/>
                <c:pt idx="0">
                  <c:v>2178881.000000</c:v>
                </c:pt>
                <c:pt idx="1">
                  <c:v>2055512.000000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High on both</c:v>
                </c:pt>
              </c:strCache>
            </c:strRef>
          </c:tx>
          <c:spPr>
            <a:solidFill>
              <a:srgbClr val="102A43"/>
            </a:solidFill>
            <a:ln w="12700" cap="flat">
              <a:noFill/>
              <a:miter lim="400000"/>
            </a:ln>
            <a:effectLst/>
          </c:spPr>
          <c:marker>
            <c:symbol val="circle"/>
            <c:size val="10"/>
            <c:spPr>
              <a:solidFill>
                <a:srgbClr val="102A43"/>
              </a:solidFill>
              <a:ln w="12700" cap="flat">
                <a:solidFill>
                  <a:schemeClr val="accent4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Sheet1!$H$2:$H$47</c:f>
              <c:numCache>
                <c:ptCount val="2"/>
                <c:pt idx="0">
                  <c:v>321502.000000</c:v>
                </c:pt>
                <c:pt idx="1">
                  <c:v>289055.000000</c:v>
                </c:pt>
              </c:numCache>
            </c:numRef>
          </c:xVal>
          <c:yVal>
            <c:numRef>
              <c:f>Sheet1!$I$2:$I$47</c:f>
              <c:numCache>
                <c:ptCount val="2"/>
                <c:pt idx="0">
                  <c:v>878788.000000</c:v>
                </c:pt>
                <c:pt idx="1">
                  <c:v>951163.000000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  <c:max val="720000"/>
          <c:min val="0"/>
        </c:scaling>
        <c:delete val="0"/>
        <c:axPos val="b"/>
        <c:title>
          <c:tx>
            <c:rich>
              <a:bodyPr rot="0"/>
              <a:lstStyle/>
              <a:p>
                <a:pPr>
                  <a:defRPr b="1" i="0" strike="noStrike" sz="1000" u="none">
                    <a:solidFill>
                      <a:srgbClr val="23333F"/>
                    </a:solidFill>
                    <a:latin typeface="Arial"/>
                  </a:defRPr>
                </a:pPr>
                <a:r>
                  <a:rPr b="1" i="0" strike="noStrike" sz="1000" u="none">
                    <a:solidFill>
                      <a:srgbClr val="23333F"/>
                    </a:solidFill>
                    <a:latin typeface="Arial"/>
                  </a:rPr>
                  <a:t>Known Replacement Inventory</a:t>
                </a:r>
              </a:p>
            </c:rich>
          </c:tx>
          <c:layout/>
          <c:overlay val="1"/>
        </c:title>
        <c:numFmt formatCode="0,&quot;k&quot;" sourceLinked="0"/>
        <c:majorTickMark val="none"/>
        <c:minorTickMark val="none"/>
        <c:tickLblPos val="nextTo"/>
        <c:spPr>
          <a:ln w="12700" cap="flat">
            <a:solidFill>
              <a:srgbClr val="D8DED9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900" u="none">
                <a:solidFill>
                  <a:srgbClr val="65727B"/>
                </a:solidFill>
                <a:latin typeface="Arial"/>
              </a:defRPr>
            </a:pPr>
          </a:p>
        </c:txPr>
        <c:crossAx val="2094734553"/>
        <c:crosses val="autoZero"/>
        <c:crossBetween val="between"/>
        <c:majorUnit val="102857"/>
        <c:minorUnit val="51428.6"/>
      </c:valAx>
      <c:valAx>
        <c:axId val="2094734553"/>
        <c:scaling>
          <c:orientation val="minMax"/>
          <c:max val="2.3e+06"/>
          <c:min val="0"/>
        </c:scaling>
        <c:delete val="0"/>
        <c:axPos val="l"/>
        <c:majorGridlines>
          <c:spPr>
            <a:ln w="12700" cap="flat">
              <a:solidFill>
                <a:srgbClr val="E1E6E3"/>
              </a:solidFill>
              <a:prstDash val="solid"/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b="1" i="0" strike="noStrike" sz="1100" u="none">
                    <a:solidFill>
                      <a:srgbClr val="102A43"/>
                    </a:solidFill>
                    <a:latin typeface="Arial"/>
                  </a:defRPr>
                </a:pPr>
                <a:r>
                  <a:rPr b="1" i="0" strike="noStrike" sz="1100" u="none">
                    <a:solidFill>
                      <a:srgbClr val="102A43"/>
                    </a:solidFill>
                    <a:latin typeface="Arial"/>
                  </a:rPr>
                  <a:t>Lead Status Unknown Service Lines</a:t>
                </a:r>
              </a:p>
            </c:rich>
          </c:tx>
          <c:layout/>
          <c:overlay val="1"/>
        </c:title>
        <c:numFmt formatCode="0,,.0&quot;M&quot;" sourceLinked="0"/>
        <c:majorTickMark val="none"/>
        <c:minorTickMark val="none"/>
        <c:tickLblPos val="nextTo"/>
        <c:spPr>
          <a:ln w="12700" cap="flat">
            <a:solidFill>
              <a:srgbClr val="D8DED9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900" u="none">
                <a:solidFill>
                  <a:srgbClr val="65727B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460000"/>
        <c:minorUnit val="230000"/>
      </c:valAx>
      <c:spPr>
        <a:solidFill>
          <a:srgbClr val="F7F4EE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F7F4E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4" name="Shape 3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1" name="Shape 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7" name="Shape 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5" name="Shape 10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0" name="Shape 13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844675"/>
            <a:ext cx="10363200" cy="2041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828800" y="3886200"/>
            <a:ext cx="8534400" cy="297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chart" Target="../charts/chart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ead service line need is not one problem"/>
          <p:cNvSpPr txBox="1"/>
          <p:nvPr/>
        </p:nvSpPr>
        <p:spPr>
          <a:xfrm>
            <a:off x="750569" y="400050"/>
            <a:ext cx="10719437" cy="498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9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Lead service line need is not one problem</a:t>
            </a:r>
          </a:p>
        </p:txBody>
      </p:sp>
      <p:sp>
        <p:nvSpPr>
          <p:cNvPr id="21" name="Line"/>
          <p:cNvSpPr/>
          <p:nvPr/>
        </p:nvSpPr>
        <p:spPr>
          <a:xfrm>
            <a:off x="704850" y="6438900"/>
            <a:ext cx="10782301" cy="0"/>
          </a:xfrm>
          <a:prstGeom prst="line">
            <a:avLst/>
          </a:prstGeom>
          <a:ln>
            <a:solidFill>
              <a:srgbClr val="BEC7C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2" name="1"/>
          <p:cNvSpPr txBox="1"/>
          <p:nvPr/>
        </p:nvSpPr>
        <p:spPr>
          <a:xfrm>
            <a:off x="11351894" y="6524625"/>
            <a:ext cx="194312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" name="States face different mixes of identification and replacement work"/>
          <p:cNvSpPr txBox="1"/>
          <p:nvPr/>
        </p:nvSpPr>
        <p:spPr>
          <a:xfrm>
            <a:off x="769619" y="1381125"/>
            <a:ext cx="10481312" cy="375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States face different mixes of identification and replacement work</a:t>
            </a:r>
          </a:p>
        </p:txBody>
      </p:sp>
      <p:sp>
        <p:nvSpPr>
          <p:cNvPr id="24" name="Where are infrastructure needs greatest across U.S. states?"/>
          <p:cNvSpPr txBox="1"/>
          <p:nvPr/>
        </p:nvSpPr>
        <p:spPr>
          <a:xfrm>
            <a:off x="769619" y="2019300"/>
            <a:ext cx="10386062" cy="338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Where are infrastructure needs greatest across U.S. states?</a:t>
            </a:r>
          </a:p>
        </p:txBody>
      </p:sp>
      <p:sp>
        <p:nvSpPr>
          <p:cNvPr id="25" name="01  IDENTIFY"/>
          <p:cNvSpPr txBox="1"/>
          <p:nvPr/>
        </p:nvSpPr>
        <p:spPr>
          <a:xfrm>
            <a:off x="788669" y="2895600"/>
            <a:ext cx="4671062" cy="449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5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  IDENTIFY</a:t>
            </a:r>
          </a:p>
        </p:txBody>
      </p:sp>
      <p:sp>
        <p:nvSpPr>
          <p:cNvPr id="26" name="Resolve Lead Status Unknown lines"/>
          <p:cNvSpPr txBox="1"/>
          <p:nvPr/>
        </p:nvSpPr>
        <p:spPr>
          <a:xfrm>
            <a:off x="788669" y="3533775"/>
            <a:ext cx="4718687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Resolve Lead Status Unknown lines</a:t>
            </a:r>
          </a:p>
        </p:txBody>
      </p:sp>
      <p:sp>
        <p:nvSpPr>
          <p:cNvPr id="27" name="Identification Need…"/>
          <p:cNvSpPr txBox="1"/>
          <p:nvPr/>
        </p:nvSpPr>
        <p:spPr>
          <a:xfrm>
            <a:off x="788669" y="4076700"/>
            <a:ext cx="4671062" cy="592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7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Identification Need</a:t>
            </a:r>
          </a:p>
          <a:p>
            <a:pPr>
              <a:defRPr sz="17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= Lead Status Unknown</a:t>
            </a:r>
          </a:p>
        </p:txBody>
      </p:sp>
      <p:sp>
        <p:nvSpPr>
          <p:cNvPr id="28" name="02  REPLACE"/>
          <p:cNvSpPr txBox="1"/>
          <p:nvPr/>
        </p:nvSpPr>
        <p:spPr>
          <a:xfrm>
            <a:off x="6751319" y="2895600"/>
            <a:ext cx="4671062" cy="449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5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  REPLACE</a:t>
            </a:r>
          </a:p>
        </p:txBody>
      </p:sp>
      <p:sp>
        <p:nvSpPr>
          <p:cNvPr id="29" name="Act on known Lead and GRR lines"/>
          <p:cNvSpPr txBox="1"/>
          <p:nvPr/>
        </p:nvSpPr>
        <p:spPr>
          <a:xfrm>
            <a:off x="6751319" y="3533775"/>
            <a:ext cx="4718687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 on known Lead and GRR lines</a:t>
            </a:r>
          </a:p>
        </p:txBody>
      </p:sp>
      <p:sp>
        <p:nvSpPr>
          <p:cNvPr id="30" name="Known Replacement Inventory…"/>
          <p:cNvSpPr txBox="1"/>
          <p:nvPr/>
        </p:nvSpPr>
        <p:spPr>
          <a:xfrm>
            <a:off x="6751319" y="4076700"/>
            <a:ext cx="4718687" cy="592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7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Known Replacement Inventory</a:t>
            </a:r>
          </a:p>
          <a:p>
            <a:pPr>
              <a:defRPr sz="17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= Lead + GRR</a:t>
            </a:r>
          </a:p>
        </p:txBody>
      </p:sp>
      <p:sp>
        <p:nvSpPr>
          <p:cNvPr id="31" name="Comparing states on only one measure would hide where their actual workload sits."/>
          <p:cNvSpPr txBox="1"/>
          <p:nvPr/>
        </p:nvSpPr>
        <p:spPr>
          <a:xfrm>
            <a:off x="788669" y="5381625"/>
            <a:ext cx="10481312" cy="375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Comparing states on only one measure would hide where their actual workload sits.</a:t>
            </a:r>
          </a:p>
        </p:txBody>
      </p:sp>
      <p:sp>
        <p:nvSpPr>
          <p:cNvPr id="32" name="Scope: 43,993 complete-report Community Water Systems across 50 states and DC"/>
          <p:cNvSpPr txBox="1"/>
          <p:nvPr/>
        </p:nvSpPr>
        <p:spPr>
          <a:xfrm>
            <a:off x="750569" y="6524625"/>
            <a:ext cx="10290812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Scope: 43,993 complete-report Community Water Systems across 50 states and DC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Most of the reported national workload…"/>
          <p:cNvSpPr txBox="1"/>
          <p:nvPr/>
        </p:nvSpPr>
        <p:spPr>
          <a:xfrm>
            <a:off x="750569" y="400050"/>
            <a:ext cx="10719437" cy="917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9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Most of the reported national workload</a:t>
            </a:r>
          </a:p>
          <a:p>
            <a:pPr>
              <a:defRPr b="1" sz="29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 still unresolved identification</a:t>
            </a:r>
          </a:p>
        </p:txBody>
      </p:sp>
      <p:sp>
        <p:nvSpPr>
          <p:cNvPr id="37" name="Line"/>
          <p:cNvSpPr/>
          <p:nvPr/>
        </p:nvSpPr>
        <p:spPr>
          <a:xfrm>
            <a:off x="704850" y="6438900"/>
            <a:ext cx="10782301" cy="0"/>
          </a:xfrm>
          <a:prstGeom prst="line">
            <a:avLst/>
          </a:prstGeom>
          <a:ln>
            <a:solidFill>
              <a:srgbClr val="BEC7C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8" name="2"/>
          <p:cNvSpPr txBox="1"/>
          <p:nvPr/>
        </p:nvSpPr>
        <p:spPr>
          <a:xfrm>
            <a:off x="11351894" y="6524625"/>
            <a:ext cx="194312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9" name="National inventory within the analytical sample"/>
          <p:cNvSpPr txBox="1"/>
          <p:nvPr/>
        </p:nvSpPr>
        <p:spPr>
          <a:xfrm>
            <a:off x="779144" y="1428750"/>
            <a:ext cx="943356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National inventory within the analytical sample</a:t>
            </a:r>
          </a:p>
        </p:txBody>
      </p:sp>
      <p:sp>
        <p:nvSpPr>
          <p:cNvPr id="40" name="Lead Status Unknown"/>
          <p:cNvSpPr txBox="1"/>
          <p:nvPr/>
        </p:nvSpPr>
        <p:spPr>
          <a:xfrm>
            <a:off x="836294" y="2038350"/>
            <a:ext cx="7147562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Lead Status Unknown</a:t>
            </a:r>
          </a:p>
        </p:txBody>
      </p:sp>
      <p:sp>
        <p:nvSpPr>
          <p:cNvPr id="41" name="21.59M"/>
          <p:cNvSpPr txBox="1"/>
          <p:nvPr/>
        </p:nvSpPr>
        <p:spPr>
          <a:xfrm>
            <a:off x="836294" y="2409825"/>
            <a:ext cx="5623562" cy="695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3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21.59M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="821233" y="3106129"/>
          <a:ext cx="6852742" cy="174636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3" name="Known Replacement Inventory"/>
          <p:cNvSpPr txBox="1"/>
          <p:nvPr/>
        </p:nvSpPr>
        <p:spPr>
          <a:xfrm>
            <a:off x="836294" y="5019675"/>
            <a:ext cx="6671312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Known Replacement Inventory</a:t>
            </a:r>
          </a:p>
        </p:txBody>
      </p:sp>
      <p:sp>
        <p:nvSpPr>
          <p:cNvPr id="44" name="3.12M"/>
          <p:cNvSpPr txBox="1"/>
          <p:nvPr/>
        </p:nvSpPr>
        <p:spPr>
          <a:xfrm>
            <a:off x="836294" y="5381625"/>
            <a:ext cx="2099312" cy="498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9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3.12M</a:t>
            </a:r>
          </a:p>
        </p:txBody>
      </p:sp>
      <p:sp>
        <p:nvSpPr>
          <p:cNvPr id="45" name="2.18M Lead + 0.94M GRR"/>
          <p:cNvSpPr txBox="1"/>
          <p:nvPr/>
        </p:nvSpPr>
        <p:spPr>
          <a:xfrm>
            <a:off x="2846069" y="5457825"/>
            <a:ext cx="4671062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2.18M Lead + 0.94M GRR</a:t>
            </a:r>
          </a:p>
        </p:txBody>
      </p:sp>
      <p:sp>
        <p:nvSpPr>
          <p:cNvPr id="46" name="6.9×"/>
          <p:cNvSpPr txBox="1"/>
          <p:nvPr/>
        </p:nvSpPr>
        <p:spPr>
          <a:xfrm>
            <a:off x="8932544" y="2352675"/>
            <a:ext cx="2670812" cy="807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50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6.9×</a:t>
            </a:r>
          </a:p>
        </p:txBody>
      </p:sp>
      <p:sp>
        <p:nvSpPr>
          <p:cNvPr id="47" name="as many Unknown lines as lines already classified for replacement"/>
          <p:cNvSpPr txBox="1"/>
          <p:nvPr/>
        </p:nvSpPr>
        <p:spPr>
          <a:xfrm>
            <a:off x="8970644" y="3276600"/>
            <a:ext cx="2575562" cy="1150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as many Unknown lines as lines already classified for replacement</a:t>
            </a:r>
          </a:p>
        </p:txBody>
      </p:sp>
      <p:sp>
        <p:nvSpPr>
          <p:cNvPr id="48" name="Unknown lines require identification.…"/>
          <p:cNvSpPr txBox="1"/>
          <p:nvPr/>
        </p:nvSpPr>
        <p:spPr>
          <a:xfrm>
            <a:off x="8970644" y="4905375"/>
            <a:ext cx="2556512" cy="948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5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Unknown lines require identification.</a:t>
            </a:r>
          </a:p>
          <a:p>
            <a:pPr>
              <a:defRPr sz="15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They are not confirmed lead lines.</a:t>
            </a:r>
          </a:p>
        </p:txBody>
      </p:sp>
      <p:sp>
        <p:nvSpPr>
          <p:cNvPr id="49" name="Source: U.S. EPA 2026 Q2 Service Line Inventory. Counts reflect the analytical sample."/>
          <p:cNvSpPr txBox="1"/>
          <p:nvPr/>
        </p:nvSpPr>
        <p:spPr>
          <a:xfrm>
            <a:off x="750569" y="6524625"/>
            <a:ext cx="10290812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Source: U.S. EPA 2026 Q2 Service Line Inventory. Counts reflect the analytical sample.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he same national challenge looks very different…"/>
          <p:cNvSpPr txBox="1"/>
          <p:nvPr/>
        </p:nvSpPr>
        <p:spPr>
          <a:xfrm>
            <a:off x="750569" y="400050"/>
            <a:ext cx="10719437" cy="917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9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same national challenge looks very different</a:t>
            </a:r>
          </a:p>
          <a:p>
            <a:pPr>
              <a:defRPr b="1" sz="29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from state to state</a:t>
            </a:r>
          </a:p>
        </p:txBody>
      </p:sp>
      <p:sp>
        <p:nvSpPr>
          <p:cNvPr id="54" name="Line"/>
          <p:cNvSpPr/>
          <p:nvPr/>
        </p:nvSpPr>
        <p:spPr>
          <a:xfrm>
            <a:off x="704850" y="6438900"/>
            <a:ext cx="10782301" cy="0"/>
          </a:xfrm>
          <a:prstGeom prst="line">
            <a:avLst/>
          </a:prstGeom>
          <a:ln>
            <a:solidFill>
              <a:srgbClr val="BEC7C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5" name="3"/>
          <p:cNvSpPr txBox="1"/>
          <p:nvPr/>
        </p:nvSpPr>
        <p:spPr>
          <a:xfrm>
            <a:off x="11351894" y="6524625"/>
            <a:ext cx="194312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6" name="Known Replacement Inventory"/>
          <p:cNvSpPr txBox="1"/>
          <p:nvPr/>
        </p:nvSpPr>
        <p:spPr>
          <a:xfrm>
            <a:off x="3074669" y="1428750"/>
            <a:ext cx="390906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Known Replacement Inventory</a:t>
            </a:r>
          </a:p>
        </p:txBody>
      </p:sp>
      <p:sp>
        <p:nvSpPr>
          <p:cNvPr id="57" name="Lead Status Unknown"/>
          <p:cNvSpPr txBox="1"/>
          <p:nvPr/>
        </p:nvSpPr>
        <p:spPr>
          <a:xfrm>
            <a:off x="7389494" y="1428750"/>
            <a:ext cx="381381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Lead Status Unknown</a:t>
            </a:r>
          </a:p>
        </p:txBody>
      </p:sp>
      <p:sp>
        <p:nvSpPr>
          <p:cNvPr id="58" name="Replacement-…"/>
          <p:cNvSpPr txBox="1"/>
          <p:nvPr/>
        </p:nvSpPr>
        <p:spPr>
          <a:xfrm>
            <a:off x="788669" y="2047875"/>
            <a:ext cx="1956437" cy="61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Replacement-</a:t>
            </a:r>
          </a:p>
          <a:p>
            <a:pPr>
              <a:defRPr b="1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heavy</a:t>
            </a:r>
          </a:p>
        </p:txBody>
      </p:sp>
      <p:sp>
        <p:nvSpPr>
          <p:cNvPr id="59" name="Illinois"/>
          <p:cNvSpPr txBox="1"/>
          <p:nvPr/>
        </p:nvSpPr>
        <p:spPr>
          <a:xfrm>
            <a:off x="2950844" y="2095500"/>
            <a:ext cx="1432562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Illinois</a:t>
            </a:r>
          </a:p>
        </p:txBody>
      </p:sp>
      <p:graphicFrame>
        <p:nvGraphicFramePr>
          <p:cNvPr id="60" name="Chart"/>
          <p:cNvGraphicFramePr/>
          <p:nvPr/>
        </p:nvGraphicFramePr>
        <p:xfrm>
          <a:off x="4469308" y="2021867"/>
          <a:ext cx="4947742" cy="56208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1" name="672,210"/>
          <p:cNvSpPr txBox="1"/>
          <p:nvPr/>
        </p:nvSpPr>
        <p:spPr>
          <a:xfrm>
            <a:off x="9837419" y="2057400"/>
            <a:ext cx="152781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672,210</a:t>
            </a:r>
          </a:p>
        </p:txBody>
      </p:sp>
      <p:sp>
        <p:nvSpPr>
          <p:cNvPr id="62" name="529,706"/>
          <p:cNvSpPr txBox="1"/>
          <p:nvPr/>
        </p:nvSpPr>
        <p:spPr>
          <a:xfrm>
            <a:off x="9837419" y="2343150"/>
            <a:ext cx="152781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529,706</a:t>
            </a:r>
          </a:p>
        </p:txBody>
      </p:sp>
      <p:sp>
        <p:nvSpPr>
          <p:cNvPr id="63" name="Largest already-classified replacement inventory"/>
          <p:cNvSpPr txBox="1"/>
          <p:nvPr/>
        </p:nvSpPr>
        <p:spPr>
          <a:xfrm>
            <a:off x="2950844" y="2743200"/>
            <a:ext cx="7909562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Largest already-classified replacement inventory</a:t>
            </a:r>
          </a:p>
        </p:txBody>
      </p:sp>
      <p:sp>
        <p:nvSpPr>
          <p:cNvPr id="64" name="Line"/>
          <p:cNvSpPr/>
          <p:nvPr/>
        </p:nvSpPr>
        <p:spPr>
          <a:xfrm>
            <a:off x="742950" y="3171825"/>
            <a:ext cx="10715626" cy="0"/>
          </a:xfrm>
          <a:prstGeom prst="line">
            <a:avLst/>
          </a:prstGeom>
          <a:ln>
            <a:solidFill>
              <a:srgbClr val="BEC7C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5" name="Identification-…"/>
          <p:cNvSpPr txBox="1"/>
          <p:nvPr/>
        </p:nvSpPr>
        <p:spPr>
          <a:xfrm>
            <a:off x="788669" y="3467100"/>
            <a:ext cx="1956437" cy="61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Identification-</a:t>
            </a:r>
          </a:p>
          <a:p>
            <a:pPr>
              <a:defRPr b="1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heavy</a:t>
            </a:r>
          </a:p>
        </p:txBody>
      </p:sp>
      <p:sp>
        <p:nvSpPr>
          <p:cNvPr id="66" name="Texas"/>
          <p:cNvSpPr txBox="1"/>
          <p:nvPr/>
        </p:nvSpPr>
        <p:spPr>
          <a:xfrm>
            <a:off x="2950844" y="3400425"/>
            <a:ext cx="1432562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Texas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469308" y="3326792"/>
          <a:ext cx="4947742" cy="56208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68" name="114,501"/>
          <p:cNvSpPr txBox="1"/>
          <p:nvPr/>
        </p:nvSpPr>
        <p:spPr>
          <a:xfrm>
            <a:off x="9837419" y="3362325"/>
            <a:ext cx="152781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114,501</a:t>
            </a:r>
          </a:p>
        </p:txBody>
      </p:sp>
      <p:sp>
        <p:nvSpPr>
          <p:cNvPr id="69" name="2,178,881"/>
          <p:cNvSpPr txBox="1"/>
          <p:nvPr/>
        </p:nvSpPr>
        <p:spPr>
          <a:xfrm>
            <a:off x="9837419" y="3648075"/>
            <a:ext cx="152781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2,178,881</a:t>
            </a:r>
          </a:p>
        </p:txBody>
      </p:sp>
      <p:sp>
        <p:nvSpPr>
          <p:cNvPr id="70" name="Pennsylvania"/>
          <p:cNvSpPr txBox="1"/>
          <p:nvPr/>
        </p:nvSpPr>
        <p:spPr>
          <a:xfrm>
            <a:off x="2950844" y="4057650"/>
            <a:ext cx="1432562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Pennsylvania</a:t>
            </a:r>
          </a:p>
        </p:txBody>
      </p:sp>
      <p:graphicFrame>
        <p:nvGraphicFramePr>
          <p:cNvPr id="71" name="Chart"/>
          <p:cNvGraphicFramePr/>
          <p:nvPr/>
        </p:nvGraphicFramePr>
        <p:xfrm>
          <a:off x="4469308" y="3984017"/>
          <a:ext cx="4947742" cy="56208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72" name="113,717"/>
          <p:cNvSpPr txBox="1"/>
          <p:nvPr/>
        </p:nvSpPr>
        <p:spPr>
          <a:xfrm>
            <a:off x="9837419" y="4019550"/>
            <a:ext cx="152781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113,717</a:t>
            </a:r>
          </a:p>
        </p:txBody>
      </p:sp>
      <p:sp>
        <p:nvSpPr>
          <p:cNvPr id="73" name="2,055,512"/>
          <p:cNvSpPr txBox="1"/>
          <p:nvPr/>
        </p:nvSpPr>
        <p:spPr>
          <a:xfrm>
            <a:off x="9837419" y="4305300"/>
            <a:ext cx="152781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2,055,512</a:t>
            </a:r>
          </a:p>
        </p:txBody>
      </p:sp>
      <p:sp>
        <p:nvSpPr>
          <p:cNvPr id="74" name="Much larger unresolved identification inventories"/>
          <p:cNvSpPr txBox="1"/>
          <p:nvPr/>
        </p:nvSpPr>
        <p:spPr>
          <a:xfrm>
            <a:off x="2950844" y="4676775"/>
            <a:ext cx="7909562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Much larger unresolved identification inventories</a:t>
            </a:r>
          </a:p>
        </p:txBody>
      </p:sp>
      <p:sp>
        <p:nvSpPr>
          <p:cNvPr id="75" name="Line"/>
          <p:cNvSpPr/>
          <p:nvPr/>
        </p:nvSpPr>
        <p:spPr>
          <a:xfrm>
            <a:off x="742950" y="5029200"/>
            <a:ext cx="10715626" cy="0"/>
          </a:xfrm>
          <a:prstGeom prst="line">
            <a:avLst/>
          </a:prstGeom>
          <a:ln>
            <a:solidFill>
              <a:srgbClr val="BEC7C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6" name="Substantial work…"/>
          <p:cNvSpPr txBox="1"/>
          <p:nvPr/>
        </p:nvSpPr>
        <p:spPr>
          <a:xfrm>
            <a:off x="788669" y="5248275"/>
            <a:ext cx="2004062" cy="846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7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Substantial work</a:t>
            </a:r>
          </a:p>
          <a:p>
            <a:pPr>
              <a:defRPr b="1" sz="17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on both dimensions</a:t>
            </a:r>
          </a:p>
        </p:txBody>
      </p:sp>
      <p:sp>
        <p:nvSpPr>
          <p:cNvPr id="77" name="Ohio"/>
          <p:cNvSpPr txBox="1"/>
          <p:nvPr/>
        </p:nvSpPr>
        <p:spPr>
          <a:xfrm>
            <a:off x="2950844" y="5229225"/>
            <a:ext cx="1432562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Ohio</a:t>
            </a:r>
          </a:p>
        </p:txBody>
      </p:sp>
      <p:graphicFrame>
        <p:nvGraphicFramePr>
          <p:cNvPr id="78" name="Chart"/>
          <p:cNvGraphicFramePr/>
          <p:nvPr/>
        </p:nvGraphicFramePr>
        <p:xfrm>
          <a:off x="4469308" y="5155592"/>
          <a:ext cx="4947742" cy="56208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79" name="321,502"/>
          <p:cNvSpPr txBox="1"/>
          <p:nvPr/>
        </p:nvSpPr>
        <p:spPr>
          <a:xfrm>
            <a:off x="9837419" y="5191125"/>
            <a:ext cx="152781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321,502</a:t>
            </a:r>
          </a:p>
        </p:txBody>
      </p:sp>
      <p:sp>
        <p:nvSpPr>
          <p:cNvPr id="80" name="878,788"/>
          <p:cNvSpPr txBox="1"/>
          <p:nvPr/>
        </p:nvSpPr>
        <p:spPr>
          <a:xfrm>
            <a:off x="9837419" y="5476875"/>
            <a:ext cx="152781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878,788</a:t>
            </a:r>
          </a:p>
        </p:txBody>
      </p:sp>
      <p:sp>
        <p:nvSpPr>
          <p:cNvPr id="81" name="New York"/>
          <p:cNvSpPr txBox="1"/>
          <p:nvPr/>
        </p:nvSpPr>
        <p:spPr>
          <a:xfrm>
            <a:off x="2950844" y="5810250"/>
            <a:ext cx="1432562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New York</a:t>
            </a:r>
          </a:p>
        </p:txBody>
      </p:sp>
      <p:graphicFrame>
        <p:nvGraphicFramePr>
          <p:cNvPr id="82" name="Chart"/>
          <p:cNvGraphicFramePr/>
          <p:nvPr/>
        </p:nvGraphicFramePr>
        <p:xfrm>
          <a:off x="4469308" y="5736617"/>
          <a:ext cx="4947742" cy="56208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83" name="289,055"/>
          <p:cNvSpPr txBox="1"/>
          <p:nvPr/>
        </p:nvSpPr>
        <p:spPr>
          <a:xfrm>
            <a:off x="9837419" y="5772150"/>
            <a:ext cx="152781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289,055</a:t>
            </a:r>
          </a:p>
        </p:txBody>
      </p:sp>
      <p:sp>
        <p:nvSpPr>
          <p:cNvPr id="84" name="951,163"/>
          <p:cNvSpPr txBox="1"/>
          <p:nvPr/>
        </p:nvSpPr>
        <p:spPr>
          <a:xfrm>
            <a:off x="9837419" y="6057900"/>
            <a:ext cx="1527812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951,163</a:t>
            </a:r>
          </a:p>
        </p:txBody>
      </p:sp>
      <p:sp>
        <p:nvSpPr>
          <p:cNvPr id="85" name="Source: U.S. EPA 2026 Q2 Service Line Inventory. Narrative examples, not statistical clusters. All bars use the same scale."/>
          <p:cNvSpPr txBox="1"/>
          <p:nvPr/>
        </p:nvSpPr>
        <p:spPr>
          <a:xfrm>
            <a:off x="750569" y="6524625"/>
            <a:ext cx="10290812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Source: U.S. EPA 2026 Q2 Service Line Inventory. Narrative examples, not statistical clusters. All bars use the same scale.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Chart"/>
          <p:cNvGraphicFramePr/>
          <p:nvPr/>
        </p:nvGraphicFramePr>
        <p:xfrm>
          <a:off x="1097657" y="1470589"/>
          <a:ext cx="7077969" cy="428981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0" name="A single ranking would hide…"/>
          <p:cNvSpPr txBox="1"/>
          <p:nvPr/>
        </p:nvSpPr>
        <p:spPr>
          <a:xfrm>
            <a:off x="750569" y="400050"/>
            <a:ext cx="10719437" cy="917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9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 single ranking would hide</a:t>
            </a:r>
          </a:p>
          <a:p>
            <a:pPr>
              <a:defRPr b="1" sz="29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where each state’s workload sits</a:t>
            </a:r>
          </a:p>
        </p:txBody>
      </p:sp>
      <p:sp>
        <p:nvSpPr>
          <p:cNvPr id="91" name="Line"/>
          <p:cNvSpPr/>
          <p:nvPr/>
        </p:nvSpPr>
        <p:spPr>
          <a:xfrm>
            <a:off x="704850" y="6438900"/>
            <a:ext cx="10782301" cy="0"/>
          </a:xfrm>
          <a:prstGeom prst="line">
            <a:avLst/>
          </a:prstGeom>
          <a:ln>
            <a:solidFill>
              <a:srgbClr val="BEC7C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2" name="4"/>
          <p:cNvSpPr txBox="1"/>
          <p:nvPr/>
        </p:nvSpPr>
        <p:spPr>
          <a:xfrm>
            <a:off x="11351894" y="6524625"/>
            <a:ext cx="194312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3" name="Texas"/>
          <p:cNvSpPr txBox="1"/>
          <p:nvPr/>
        </p:nvSpPr>
        <p:spPr>
          <a:xfrm>
            <a:off x="2646044" y="1724025"/>
            <a:ext cx="16230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Texas</a:t>
            </a:r>
          </a:p>
        </p:txBody>
      </p:sp>
      <p:sp>
        <p:nvSpPr>
          <p:cNvPr id="94" name="Pennsylvania"/>
          <p:cNvSpPr txBox="1"/>
          <p:nvPr/>
        </p:nvSpPr>
        <p:spPr>
          <a:xfrm>
            <a:off x="2646044" y="2085975"/>
            <a:ext cx="16230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Pennsylvania</a:t>
            </a:r>
          </a:p>
        </p:txBody>
      </p:sp>
      <p:sp>
        <p:nvSpPr>
          <p:cNvPr id="95" name="New York"/>
          <p:cNvSpPr txBox="1"/>
          <p:nvPr/>
        </p:nvSpPr>
        <p:spPr>
          <a:xfrm>
            <a:off x="3912869" y="3419475"/>
            <a:ext cx="143256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New York</a:t>
            </a:r>
          </a:p>
        </p:txBody>
      </p:sp>
      <p:sp>
        <p:nvSpPr>
          <p:cNvPr id="96" name="Ohio"/>
          <p:cNvSpPr txBox="1"/>
          <p:nvPr/>
        </p:nvSpPr>
        <p:spPr>
          <a:xfrm>
            <a:off x="4741544" y="3752850"/>
            <a:ext cx="114681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Ohio</a:t>
            </a:r>
          </a:p>
        </p:txBody>
      </p:sp>
      <p:sp>
        <p:nvSpPr>
          <p:cNvPr id="97" name="Illinois"/>
          <p:cNvSpPr txBox="1"/>
          <p:nvPr/>
        </p:nvSpPr>
        <p:spPr>
          <a:xfrm>
            <a:off x="7179944" y="4143375"/>
            <a:ext cx="1146812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Illinois</a:t>
            </a:r>
          </a:p>
        </p:txBody>
      </p:sp>
      <p:sp>
        <p:nvSpPr>
          <p:cNvPr id="98" name="What this reveals"/>
          <p:cNvSpPr txBox="1"/>
          <p:nvPr/>
        </p:nvSpPr>
        <p:spPr>
          <a:xfrm>
            <a:off x="8856344" y="1524000"/>
            <a:ext cx="2670812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this reveals</a:t>
            </a:r>
          </a:p>
        </p:txBody>
      </p:sp>
      <p:sp>
        <p:nvSpPr>
          <p:cNvPr id="99" name="Replacement and identification needs do not consistently move together."/>
          <p:cNvSpPr txBox="1"/>
          <p:nvPr/>
        </p:nvSpPr>
        <p:spPr>
          <a:xfrm>
            <a:off x="8856344" y="2105025"/>
            <a:ext cx="2594612" cy="732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Replacement and identification needs do not consistently move together.</a:t>
            </a:r>
          </a:p>
        </p:txBody>
      </p:sp>
      <p:sp>
        <p:nvSpPr>
          <p:cNvPr id="100" name="One overall “need” ranking would hide these differences."/>
          <p:cNvSpPr txBox="1"/>
          <p:nvPr/>
        </p:nvSpPr>
        <p:spPr>
          <a:xfrm>
            <a:off x="8856344" y="3228975"/>
            <a:ext cx="2594612" cy="517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One overall “need” ranking would hide these differences.</a:t>
            </a:r>
          </a:p>
        </p:txBody>
      </p:sp>
      <p:sp>
        <p:nvSpPr>
          <p:cNvPr id="101" name="Planning should distinguish known replacement work from inventory still requiring identification."/>
          <p:cNvSpPr txBox="1"/>
          <p:nvPr/>
        </p:nvSpPr>
        <p:spPr>
          <a:xfrm>
            <a:off x="8856344" y="4219575"/>
            <a:ext cx="2594612" cy="948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Planning should distinguish known replacement work from inventory still requiring identification.</a:t>
            </a:r>
          </a:p>
        </p:txBody>
      </p:sp>
      <p:sp>
        <p:nvSpPr>
          <p:cNvPr id="102" name="This pattern describes inventory. It does not measure progress, maturity, or cause."/>
          <p:cNvSpPr txBox="1"/>
          <p:nvPr/>
        </p:nvSpPr>
        <p:spPr>
          <a:xfrm>
            <a:off x="8856344" y="5610225"/>
            <a:ext cx="2623187" cy="61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This pattern describes inventory. It does not measure progress, maturity, or cause.</a:t>
            </a:r>
          </a:p>
        </p:txBody>
      </p:sp>
      <p:sp>
        <p:nvSpPr>
          <p:cNvPr id="103" name="Source: U.S. EPA 2026 Q2 Service Line Inventory. Each point represents one state or DC."/>
          <p:cNvSpPr txBox="1"/>
          <p:nvPr/>
        </p:nvSpPr>
        <p:spPr>
          <a:xfrm>
            <a:off x="750569" y="6524625"/>
            <a:ext cx="10290812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Source: U.S. EPA 2026 Q2 Service Line Inventory. Each point represents one state or DC.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tate size changes who stands out,…"/>
          <p:cNvSpPr txBox="1"/>
          <p:nvPr/>
        </p:nvSpPr>
        <p:spPr>
          <a:xfrm>
            <a:off x="750569" y="400050"/>
            <a:ext cx="10719437" cy="917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9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State size changes who stands out,</a:t>
            </a:r>
          </a:p>
          <a:p>
            <a:pPr>
              <a:defRPr b="1" sz="29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and local evidence is needed before acting</a:t>
            </a:r>
          </a:p>
        </p:txBody>
      </p:sp>
      <p:sp>
        <p:nvSpPr>
          <p:cNvPr id="108" name="Absolute workload"/>
          <p:cNvSpPr txBox="1"/>
          <p:nvPr/>
        </p:nvSpPr>
        <p:spPr>
          <a:xfrm>
            <a:off x="779144" y="1533525"/>
            <a:ext cx="3042287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Absolute workload</a:t>
            </a:r>
          </a:p>
        </p:txBody>
      </p:sp>
      <p:sp>
        <p:nvSpPr>
          <p:cNvPr id="109" name="Raw totals show where the largest overall inventories are concentrated."/>
          <p:cNvSpPr txBox="1"/>
          <p:nvPr/>
        </p:nvSpPr>
        <p:spPr>
          <a:xfrm>
            <a:off x="779144" y="1981200"/>
            <a:ext cx="2908937" cy="846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Raw totals show where the largest overall inventories are concentrated.</a:t>
            </a:r>
          </a:p>
        </p:txBody>
      </p:sp>
      <p:sp>
        <p:nvSpPr>
          <p:cNvPr id="110" name="Relative scale"/>
          <p:cNvSpPr txBox="1"/>
          <p:nvPr/>
        </p:nvSpPr>
        <p:spPr>
          <a:xfrm>
            <a:off x="4189094" y="1533525"/>
            <a:ext cx="3909062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Relative scale</a:t>
            </a:r>
          </a:p>
        </p:txBody>
      </p:sp>
      <p:sp>
        <p:nvSpPr>
          <p:cNvPr id="111" name="Per 10,000 state residents"/>
          <p:cNvSpPr txBox="1"/>
          <p:nvPr/>
        </p:nvSpPr>
        <p:spPr>
          <a:xfrm>
            <a:off x="4189094" y="1952625"/>
            <a:ext cx="4004312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 10,000 state residents</a:t>
            </a:r>
          </a:p>
        </p:txBody>
      </p:sp>
      <p:sp>
        <p:nvSpPr>
          <p:cNvPr id="112" name="Raw top 10 retained after normalization"/>
          <p:cNvSpPr txBox="1"/>
          <p:nvPr/>
        </p:nvSpPr>
        <p:spPr>
          <a:xfrm>
            <a:off x="4189094" y="2333625"/>
            <a:ext cx="4099562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Raw top 10 retained after normalization</a:t>
            </a:r>
          </a:p>
        </p:txBody>
      </p:sp>
      <p:sp>
        <p:nvSpPr>
          <p:cNvPr id="113" name="6 of 10"/>
          <p:cNvSpPr txBox="1"/>
          <p:nvPr/>
        </p:nvSpPr>
        <p:spPr>
          <a:xfrm>
            <a:off x="4189094" y="2724150"/>
            <a:ext cx="1623062" cy="47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7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 of 10</a:t>
            </a:r>
          </a:p>
        </p:txBody>
      </p:sp>
      <p:sp>
        <p:nvSpPr>
          <p:cNvPr id="114" name="Known Replacement"/>
          <p:cNvSpPr txBox="1"/>
          <p:nvPr/>
        </p:nvSpPr>
        <p:spPr>
          <a:xfrm>
            <a:off x="5913119" y="2790825"/>
            <a:ext cx="2413637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3F7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Known Replacement</a:t>
            </a:r>
          </a:p>
        </p:txBody>
      </p:sp>
      <p:sp>
        <p:nvSpPr>
          <p:cNvPr id="115" name="3 of 10"/>
          <p:cNvSpPr txBox="1"/>
          <p:nvPr/>
        </p:nvSpPr>
        <p:spPr>
          <a:xfrm>
            <a:off x="4189094" y="3228975"/>
            <a:ext cx="1623062" cy="47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7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 of 10</a:t>
            </a:r>
          </a:p>
        </p:txBody>
      </p:sp>
      <p:sp>
        <p:nvSpPr>
          <p:cNvPr id="116" name="Identification Need"/>
          <p:cNvSpPr txBox="1"/>
          <p:nvPr/>
        </p:nvSpPr>
        <p:spPr>
          <a:xfrm>
            <a:off x="5913119" y="3295650"/>
            <a:ext cx="2413637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F07C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Identification Need</a:t>
            </a:r>
          </a:p>
        </p:txBody>
      </p:sp>
      <p:sp>
        <p:nvSpPr>
          <p:cNvPr id="117" name="Illinois: #1 Known Replacement…"/>
          <p:cNvSpPr txBox="1"/>
          <p:nvPr/>
        </p:nvSpPr>
        <p:spPr>
          <a:xfrm>
            <a:off x="4189094" y="3886200"/>
            <a:ext cx="4118612" cy="517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5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Illinois: #1 Known Replacement</a:t>
            </a:r>
          </a:p>
          <a:p>
            <a:pPr>
              <a:defRPr sz="15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Pennsylvania: #1 Unknown</a:t>
            </a:r>
          </a:p>
        </p:txBody>
      </p:sp>
      <p:sp>
        <p:nvSpPr>
          <p:cNvPr id="118" name="Both per 10,000 state residents"/>
          <p:cNvSpPr txBox="1"/>
          <p:nvPr/>
        </p:nvSpPr>
        <p:spPr>
          <a:xfrm>
            <a:off x="4189094" y="4505325"/>
            <a:ext cx="4099562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Both per 10,000 state residents</a:t>
            </a:r>
          </a:p>
        </p:txBody>
      </p:sp>
      <p:sp>
        <p:nvSpPr>
          <p:cNvPr id="119" name="Rhode Island, Louisiana and New Mexico become more visible."/>
          <p:cNvSpPr txBox="1"/>
          <p:nvPr/>
        </p:nvSpPr>
        <p:spPr>
          <a:xfrm>
            <a:off x="4189094" y="4867275"/>
            <a:ext cx="4013837" cy="517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Rhode Island, Louisiana and New Mexico become more visible.</a:t>
            </a:r>
          </a:p>
        </p:txBody>
      </p:sp>
      <p:sp>
        <p:nvSpPr>
          <p:cNvPr id="120" name="Decision implication"/>
          <p:cNvSpPr txBox="1"/>
          <p:nvPr/>
        </p:nvSpPr>
        <p:spPr>
          <a:xfrm>
            <a:off x="8789669" y="1533525"/>
            <a:ext cx="2785112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Decision implication</a:t>
            </a:r>
          </a:p>
        </p:txBody>
      </p:sp>
      <p:sp>
        <p:nvSpPr>
          <p:cNvPr id="121" name="State inventories can guide deeper local investigation."/>
          <p:cNvSpPr txBox="1"/>
          <p:nvPr/>
        </p:nvSpPr>
        <p:spPr>
          <a:xfrm>
            <a:off x="8789669" y="1981200"/>
            <a:ext cx="2651762" cy="846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State inventories can guide deeper local investigation.</a:t>
            </a:r>
          </a:p>
        </p:txBody>
      </p:sp>
      <p:sp>
        <p:nvSpPr>
          <p:cNvPr id="122" name="Intervention decisions require utility-level records, GIS information, inspections, funding information, local capacity, project plans and other local evidence."/>
          <p:cNvSpPr txBox="1"/>
          <p:nvPr/>
        </p:nvSpPr>
        <p:spPr>
          <a:xfrm>
            <a:off x="8789669" y="2895600"/>
            <a:ext cx="2632712" cy="1684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Intervention decisions require utility-level records, GIS information, inspections, funding information, local capacity, project plans and other local evidence.</a:t>
            </a:r>
          </a:p>
        </p:txBody>
      </p:sp>
      <p:sp>
        <p:nvSpPr>
          <p:cNvPr id="123" name="Line"/>
          <p:cNvSpPr/>
          <p:nvPr/>
        </p:nvSpPr>
        <p:spPr>
          <a:xfrm>
            <a:off x="733425" y="5553075"/>
            <a:ext cx="10744201" cy="0"/>
          </a:xfrm>
          <a:prstGeom prst="line">
            <a:avLst/>
          </a:prstGeom>
          <a:ln>
            <a:solidFill>
              <a:srgbClr val="102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4" name="Next question"/>
          <p:cNvSpPr txBox="1"/>
          <p:nvPr/>
        </p:nvSpPr>
        <p:spPr>
          <a:xfrm>
            <a:off x="779144" y="5705475"/>
            <a:ext cx="2385062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Next question</a:t>
            </a:r>
          </a:p>
        </p:txBody>
      </p:sp>
      <p:sp>
        <p:nvSpPr>
          <p:cNvPr id="125" name="How do state and utility identification and replacement needs align with available funding…"/>
          <p:cNvSpPr txBox="1"/>
          <p:nvPr/>
        </p:nvSpPr>
        <p:spPr>
          <a:xfrm>
            <a:off x="2693669" y="5676900"/>
            <a:ext cx="8843012" cy="517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5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How do state and utility identification and replacement needs align with available funding</a:t>
            </a:r>
          </a:p>
          <a:p>
            <a:pPr>
              <a:defRPr b="1" sz="15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and local capacity to complete service-line replacement?</a:t>
            </a:r>
          </a:p>
        </p:txBody>
      </p:sp>
      <p:sp>
        <p:nvSpPr>
          <p:cNvPr id="126" name="Unknown does not mean lead. Inventory does not measure exposure or water quality. Incomplete-report systems are excluded."/>
          <p:cNvSpPr txBox="1"/>
          <p:nvPr/>
        </p:nvSpPr>
        <p:spPr>
          <a:xfrm>
            <a:off x="779144" y="6296025"/>
            <a:ext cx="10624187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Unknown does not mean lead. Inventory does not measure exposure or water quality. Incomplete-report systems are excluded.</a:t>
            </a:r>
          </a:p>
        </p:txBody>
      </p:sp>
      <p:sp>
        <p:nvSpPr>
          <p:cNvPr id="127" name="Sources: U.S. EPA 2026 Q2 Service Line Inventory; U.S. Census Bureau 2025 resident population estimates (population context)."/>
          <p:cNvSpPr txBox="1"/>
          <p:nvPr/>
        </p:nvSpPr>
        <p:spPr>
          <a:xfrm>
            <a:off x="779144" y="6534150"/>
            <a:ext cx="10624187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Sources: U.S. EPA 2026 Q2 Service Line Inventory; U.S. Census Bureau 2025 resident population estimates (population context).</a:t>
            </a:r>
          </a:p>
        </p:txBody>
      </p:sp>
      <p:sp>
        <p:nvSpPr>
          <p:cNvPr id="128" name="5"/>
          <p:cNvSpPr txBox="1"/>
          <p:nvPr/>
        </p:nvSpPr>
        <p:spPr>
          <a:xfrm>
            <a:off x="11380469" y="6534150"/>
            <a:ext cx="146687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