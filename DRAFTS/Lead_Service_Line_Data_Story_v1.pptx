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1d7019adb04576" /><Relationship Type="http://schemas.openxmlformats.org/officeDocument/2006/relationships/extended-properties" Target="/docProps/app.xml" Id="R4e410f5b6d254680" /><Relationship Type="http://schemas.openxmlformats.org/officeDocument/2006/relationships/officeDocument" Target="/ppt/presentation.xml" Id="R7a416b3fb1fe4644" /></Relationships>
</file>

<file path=ppt/presentation.xml><?xml version="1.0" encoding="utf-8"?>
<p:presentation xmlns:p="http://schemas.openxmlformats.org/presentationml/2006/main">
  <p:sldMasterIdLst>
    <p:sldMasterId xmlns:r="http://schemas.openxmlformats.org/officeDocument/2006/relationships" id="2147483648" r:id="Rcfa32d0d9db74859"/>
  </p:sldMasterIdLst>
  <p:notesMasterIdLst>
    <p:notesMasterId xmlns:r="http://schemas.openxmlformats.org/officeDocument/2006/relationships" r:id="Ref7b8f4c5b294a71"/>
  </p:notesMasterIdLst>
  <p:sldIdLst>
    <p:sldId xmlns:r="http://schemas.openxmlformats.org/officeDocument/2006/relationships" id="256" r:id="Ra64acd10521f44a9"/>
    <p:sldId xmlns:r="http://schemas.openxmlformats.org/officeDocument/2006/relationships" id="257" r:id="Ra146290df5b841d6"/>
    <p:sldId xmlns:r="http://schemas.openxmlformats.org/officeDocument/2006/relationships" id="258" r:id="Re865dcf6da6a4535"/>
    <p:sldId xmlns:r="http://schemas.openxmlformats.org/officeDocument/2006/relationships" id="259" r:id="Rad2644cf2ca2456a"/>
    <p:sldId xmlns:r="http://schemas.openxmlformats.org/officeDocument/2006/relationships" id="260" r:id="Rebf7820e412344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c02c232d8c4f0f" /><Relationship Type="http://schemas.openxmlformats.org/officeDocument/2006/relationships/slideMaster" Target="/ppt/slideMasters/slideMaster1.xml" Id="Rcfa32d0d9db74859" /><Relationship Type="http://schemas.openxmlformats.org/officeDocument/2006/relationships/notesMaster" Target="/ppt/notesMasters/notesMaster1.xml" Id="Ref7b8f4c5b294a71" /><Relationship Type="http://schemas.openxmlformats.org/officeDocument/2006/relationships/presProps" Target="/ppt/presProps.xml" Id="R76478bff54084660" /><Relationship Type="http://schemas.openxmlformats.org/officeDocument/2006/relationships/tableStyles" Target="/ppt/tableStyles.xml" Id="Rb06c3e2856fa4b32" /><Relationship Type="http://schemas.openxmlformats.org/officeDocument/2006/relationships/slide" Target="/ppt/slides/slide1.xml" Id="Ra64acd10521f44a9" /><Relationship Type="http://schemas.openxmlformats.org/officeDocument/2006/relationships/slide" Target="/ppt/slides/slide2.xml" Id="Ra146290df5b841d6" /><Relationship Type="http://schemas.openxmlformats.org/officeDocument/2006/relationships/slide" Target="/ppt/slides/slide3.xml" Id="Re865dcf6da6a4535" /><Relationship Type="http://schemas.openxmlformats.org/officeDocument/2006/relationships/slide" Target="/ppt/slides/slide4.xml" Id="Rad2644cf2ca2456a" /><Relationship Type="http://schemas.openxmlformats.org/officeDocument/2006/relationships/slide" Target="/ppt/slides/slide5.xml" Id="Rebf7820e412344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c76738913c41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35ecc8d7f64302" /><Relationship Type="http://schemas.openxmlformats.org/officeDocument/2006/relationships/notesMaster" Target="/ppt/notesMasters/notesMaster1.xml" Id="Re243f17f967441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deadacc80a40f7" /><Relationship Type="http://schemas.openxmlformats.org/officeDocument/2006/relationships/notesMaster" Target="/ppt/notesMasters/notesMaster1.xml" Id="Ra36b9170c7fd49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b792d4bd4e44e8" /><Relationship Type="http://schemas.openxmlformats.org/officeDocument/2006/relationships/notesMaster" Target="/ppt/notesMasters/notesMaster1.xml" Id="R453d74fbf63b4e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b70c1fddc742a7" /><Relationship Type="http://schemas.openxmlformats.org/officeDocument/2006/relationships/notesMaster" Target="/ppt/notesMasters/notesMaster1.xml" Id="Racc15d9c73be4a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ffdb8101448c0" /><Relationship Type="http://schemas.openxmlformats.org/officeDocument/2006/relationships/notesMaster" Target="/ppt/notesMasters/notesMaster1.xml" Id="R5d5af613f7524f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Where are lead service line infrastructure needs greatest across U.S. states? Known Replacement Inventory equals Lead plus Galvanized Requiring Replacement. Identification Need equals Lead Status Unknown. Unknown lines still require material identification and must not be interpreted as confirmed lead. Analytical sample: 43,993 Community Water Systems that reported all required service-line types, limited to 50 states and the District of Columbia.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totals in the analytical sample: 2,179,217 Lead service lines; 936,091 Galvanized Requiring Replacement service lines; 3,115,308 Known Replacement service lines; and 21,589,524 Lead Status Unknown service lines. The Unknown inventory is about 6.9 times the Known Replacement inventory. Unknown does not mean lead.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Known Replacement leaders: Illinois 672,210; Ohio 321,502; New York 289,055. Identification Need leaders: Texas 2,178,881; Pennsylvania 2,055,512; Florida 1,665,928. Only five states appear in both raw top 10 lists: New Jersey, New York, Ohio, Pennsylvania, and Texas.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represents one state or the District of Columbia. Illinois has the largest Known Replacement Inventory, while Texas and Pennsylvania have much larger Unknown inventories. Ohio and New York are relatively high on both dimensions. These patterns may reflect different stages of identification and replacement, but the chart does not establish a causal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Population adjustment uses 2025 Census resident population as a state-size benchmark for 2026 Q2 EPA inventory data. Illinois remains highest for Known Replacement at 528.5 per 10,000 residents. Pennsylvania leads Unknown at 1,574.0 per 10,000 residents. Six of the raw Known Replacement top 10 remain after normalization; only three of the raw Unknown top 10 remain. Per-capita values are contextual rates, not affected-customer or exposure rates. Recommended next question: How do state and utility identification and replacement needs align with available funding and local capacity to complete service-line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c9643ad2624f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3ffac6bf7948e5" /><Relationship Type="http://schemas.openxmlformats.org/officeDocument/2006/relationships/slideLayout" Target="/ppt/slideLayouts/slideLayout1.xml" Id="R6d5f173daada45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5f173daada45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7de37585494b7d" /><Relationship Type="http://schemas.openxmlformats.org/officeDocument/2006/relationships/notesSlide" Target="/ppt/notesSlides/notesSlide1.xml" Id="Rccb84bb73c7844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2391db299b4f84" /><Relationship Type="http://schemas.openxmlformats.org/officeDocument/2006/relationships/image" Target="/ppt/media/image.png" Id="R0a552bb220a1460e" /><Relationship Type="http://schemas.openxmlformats.org/officeDocument/2006/relationships/notesSlide" Target="/ppt/notesSlides/notesSlide2.xml" Id="R1e874a9bab854f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8e97ee80c4421e" /><Relationship Type="http://schemas.openxmlformats.org/officeDocument/2006/relationships/image" Target="/ppt/media/image2.png" Id="Re9f51007a144466b" /><Relationship Type="http://schemas.openxmlformats.org/officeDocument/2006/relationships/image" Target="/ppt/media/image3.png" Id="Rab2cd76f14b94f63" /><Relationship Type="http://schemas.openxmlformats.org/officeDocument/2006/relationships/notesSlide" Target="/ppt/notesSlides/notesSlide3.xml" Id="R8547379cc3de47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ef4bb1ec3349d9" /><Relationship Type="http://schemas.openxmlformats.org/officeDocument/2006/relationships/image" Target="/ppt/media/image4.png" Id="R1c1d9a1d2cb145bc" /><Relationship Type="http://schemas.openxmlformats.org/officeDocument/2006/relationships/notesSlide" Target="/ppt/notesSlides/notesSlide4.xml" Id="R8f480bb2be5a48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e8fcc20d14bad" /><Relationship Type="http://schemas.openxmlformats.org/officeDocument/2006/relationships/image" Target="/ppt/media/image5.png" Id="Re124a065e7624408" /><Relationship Type="http://schemas.openxmlformats.org/officeDocument/2006/relationships/notesSlide" Target="/ppt/notesSlides/notesSlide5.xml" Id="R76d4c6e52cab4cc9" /></Relationships>
</file>

<file path=ppt/slides/slide1.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66E8D4C-C5FD-4B32-9103-1AC7E15931C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7683CF-BB6F-4409-BEE4-0A5B037EB517}"/>
              </a:ext>
            </a:extLst>
          </p:cNvPr>
          <p:cNvSpPr>
            <a:spLocks xmlns:a="http://schemas.openxmlformats.org/drawingml/2006/main" noGrp="1"/>
          </p:cNvSpPr>
          <p:nvPr/>
        </p:nvSpPr>
        <p:spPr>
          <a:xfrm xmlns:a="http://schemas.openxmlformats.org/drawingml/2006/main">
            <a:off x="628650" y="3429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4472C4"/>
                </a:solidFill>
                <a:latin typeface="Arial"/>
                <a:ea typeface="Arial"/>
                <a:cs typeface="Arial"/>
              </a:defRPr>
            </a:pPr>
            <a:r>
              <a:rPr sz="1050" b="1">
                <a:solidFill>
                  <a:srgbClr val="4472C4"/>
                </a:solidFill>
                <a:latin typeface="Arial"/>
                <a:ea typeface="Arial"/>
                <a:cs typeface="Arial"/>
              </a:rPr>
              <a:t>LEAD SERVICE LINE INFRASTRUCTURE NEEDS</a:t>
            </a:r>
          </a:p>
        </p:txBody>
      </p:sp>
      <p:sp>
        <p:nvSpPr>
          <p:cNvPr id="3" name="">
            <a:extLst xmlns:a="http://schemas.openxmlformats.org/drawingml/2006/main">
              <a:ext uri="{FF2B5EF4-FFF2-40B4-BE49-F238E27FC236}">
                <a16:creationId xmlns:a16="http://schemas.microsoft.com/office/drawing/2014/main" id="{AAF18E0C-3822-420C-A289-5B0438B0D4C7}"/>
              </a:ext>
            </a:extLst>
          </p:cNvPr>
          <p:cNvSpPr>
            <a:spLocks xmlns:a="http://schemas.openxmlformats.org/drawingml/2006/main" noGrp="1"/>
          </p:cNvSpPr>
          <p:nvPr/>
        </p:nvSpPr>
        <p:spPr>
          <a:xfrm xmlns:a="http://schemas.openxmlformats.org/drawingml/2006/main">
            <a:off x="628650" y="6477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153"/>
          </a:bodyPr>
          <a:lstStyle xmlns:a="http://schemas.openxmlformats.org/drawingml/2006/main"/>
          <a:p xmlns:a="http://schemas.openxmlformats.org/drawingml/2006/main">
            <a:pPr>
              <a:defRPr sz="3600" b="1">
                <a:solidFill>
                  <a:srgbClr val="17324D"/>
                </a:solidFill>
                <a:latin typeface="Arial"/>
                <a:ea typeface="Arial"/>
                <a:cs typeface="Arial"/>
              </a:defRPr>
            </a:pPr>
            <a:r>
              <a:rPr sz="3600" b="1">
                <a:solidFill>
                  <a:srgbClr val="17324D"/>
                </a:solidFill>
                <a:latin typeface="Arial"/>
                <a:ea typeface="Arial"/>
                <a:cs typeface="Arial"/>
              </a:rPr>
              <a:t>Where are lead service line infrastructure needs greatest across U.S. states?</a:t>
            </a:r>
          </a:p>
        </p:txBody>
      </p:sp>
      <p:sp>
        <p:nvSpPr>
          <p:cNvPr id="4" name="">
            <a:extLst xmlns:a="http://schemas.openxmlformats.org/drawingml/2006/main">
              <a:ext uri="{FF2B5EF4-FFF2-40B4-BE49-F238E27FC236}">
                <a16:creationId xmlns:a16="http://schemas.microsoft.com/office/drawing/2014/main" id="{368515F4-0B93-435D-A0CA-CC405A81A7BE}"/>
              </a:ext>
            </a:extLst>
          </p:cNvPr>
          <p:cNvSpPr>
            <a:spLocks xmlns:a="http://schemas.openxmlformats.org/drawingml/2006/main" noGrp="1"/>
          </p:cNvSpPr>
          <p:nvPr/>
        </p:nvSpPr>
        <p:spPr>
          <a:xfrm xmlns:a="http://schemas.openxmlformats.org/drawingml/2006/main">
            <a:off x="647700" y="17430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5D6B74"/>
                </a:solidFill>
                <a:latin typeface="Arial"/>
                <a:ea typeface="Arial"/>
                <a:cs typeface="Arial"/>
              </a:defRPr>
            </a:pPr>
            <a:r>
              <a:rPr sz="1350" b="0">
                <a:solidFill>
                  <a:srgbClr val="5D6B74"/>
                </a:solidFill>
                <a:latin typeface="Arial"/>
                <a:ea typeface="Arial"/>
                <a:cs typeface="Arial"/>
              </a:rPr>
              <a:t>EPA 2026 Q2 inventory | 43,993 complete-report Community Water Systems | 50 states and DC</a:t>
            </a:r>
          </a:p>
        </p:txBody>
      </p:sp>
      <p:sp>
        <p:nvSpPr>
          <p:cNvPr id="5" name="">
            <a:extLst xmlns:a="http://schemas.openxmlformats.org/drawingml/2006/main">
              <a:ext uri="{FF2B5EF4-FFF2-40B4-BE49-F238E27FC236}">
                <a16:creationId xmlns:a16="http://schemas.microsoft.com/office/drawing/2014/main" id="{101C98B3-C748-43A7-BC70-30C92D8DF840}"/>
              </a:ext>
            </a:extLst>
          </p:cNvPr>
          <p:cNvSpPr>
            <a:spLocks xmlns:a="http://schemas.openxmlformats.org/drawingml/2006/main" noGrp="1"/>
          </p:cNvSpPr>
          <p:nvPr/>
        </p:nvSpPr>
        <p:spPr>
          <a:xfrm xmlns:a="http://schemas.openxmlformats.org/drawingml/2006/main">
            <a:off x="647700" y="2400300"/>
            <a:ext cx="4857750" cy="514350"/>
          </a:xfrm>
          <a:prstGeom xmlns:a="http://schemas.openxmlformats.org/drawingml/2006/main" prst="roundRect">
            <a:avLst>
              <a:gd name="adj" fmla="val 25926"/>
            </a:avLst>
          </a:prstGeom>
          <a:solidFill xmlns:a="http://schemas.openxmlformats.org/drawingml/2006/main">
            <a:srgbClr val="EAF0F8"/>
          </a:solidFill>
          <a:ln xmlns:a="http://schemas.openxmlformats.org/drawingml/2006/main" w="9525">
            <a:solidFill>
              <a:srgbClr val="4472C4"/>
            </a:solid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Known Replacement Inventory</a:t>
            </a:r>
          </a:p>
        </p:txBody>
      </p:sp>
      <p:sp>
        <p:nvSpPr>
          <p:cNvPr id="6" name="">
            <a:extLst xmlns:a="http://schemas.openxmlformats.org/drawingml/2006/main">
              <a:ext uri="{FF2B5EF4-FFF2-40B4-BE49-F238E27FC236}">
                <a16:creationId xmlns:a16="http://schemas.microsoft.com/office/drawing/2014/main" id="{A0C3172E-DAB8-4F46-B3D9-DB177B03481B}"/>
              </a:ext>
            </a:extLst>
          </p:cNvPr>
          <p:cNvSpPr>
            <a:spLocks xmlns:a="http://schemas.openxmlformats.org/drawingml/2006/main" noGrp="1"/>
          </p:cNvSpPr>
          <p:nvPr/>
        </p:nvSpPr>
        <p:spPr>
          <a:xfrm xmlns:a="http://schemas.openxmlformats.org/drawingml/2006/main">
            <a:off x="838200" y="300990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0">
                <a:solidFill>
                  <a:srgbClr val="20303C"/>
                </a:solidFill>
                <a:latin typeface="Arial"/>
                <a:ea typeface="Arial"/>
                <a:cs typeface="Arial"/>
              </a:defRPr>
            </a:pPr>
            <a:r>
              <a:rPr sz="1500" b="0">
                <a:solidFill>
                  <a:srgbClr val="20303C"/>
                </a:solidFill>
                <a:latin typeface="Arial"/>
                <a:ea typeface="Arial"/>
                <a:cs typeface="Arial"/>
              </a:rPr>
              <a:t>Lead service lines plus galvanized lines requiring replacement</a:t>
            </a:r>
          </a:p>
        </p:txBody>
      </p:sp>
      <p:sp>
        <p:nvSpPr>
          <p:cNvPr id="7" name="">
            <a:extLst xmlns:a="http://schemas.openxmlformats.org/drawingml/2006/main">
              <a:ext uri="{FF2B5EF4-FFF2-40B4-BE49-F238E27FC236}">
                <a16:creationId xmlns:a16="http://schemas.microsoft.com/office/drawing/2014/main" id="{8F22297C-4B8B-4455-95A3-183136799D28}"/>
              </a:ext>
            </a:extLst>
          </p:cNvPr>
          <p:cNvSpPr>
            <a:spLocks xmlns:a="http://schemas.openxmlformats.org/drawingml/2006/main" noGrp="1"/>
          </p:cNvSpPr>
          <p:nvPr/>
        </p:nvSpPr>
        <p:spPr>
          <a:xfrm xmlns:a="http://schemas.openxmlformats.org/drawingml/2006/main">
            <a:off x="6705600" y="2400300"/>
            <a:ext cx="4857750" cy="514350"/>
          </a:xfrm>
          <a:prstGeom xmlns:a="http://schemas.openxmlformats.org/drawingml/2006/main" prst="roundRect">
            <a:avLst>
              <a:gd name="adj" fmla="val 25926"/>
            </a:avLst>
          </a:prstGeom>
          <a:solidFill xmlns:a="http://schemas.openxmlformats.org/drawingml/2006/main">
            <a:srgbClr val="FFF0E5"/>
          </a:solidFill>
          <a:ln xmlns:a="http://schemas.openxmlformats.org/drawingml/2006/main" w="9525">
            <a:solidFill>
              <a:srgbClr val="F07F2F"/>
            </a:solid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Identification Need</a:t>
            </a:r>
          </a:p>
        </p:txBody>
      </p:sp>
      <p:sp>
        <p:nvSpPr>
          <p:cNvPr id="8" name="">
            <a:extLst xmlns:a="http://schemas.openxmlformats.org/drawingml/2006/main">
              <a:ext uri="{FF2B5EF4-FFF2-40B4-BE49-F238E27FC236}">
                <a16:creationId xmlns:a16="http://schemas.microsoft.com/office/drawing/2014/main" id="{10D93AE9-5283-4F33-A708-5F2F9B44BFB2}"/>
              </a:ext>
            </a:extLst>
          </p:cNvPr>
          <p:cNvSpPr>
            <a:spLocks xmlns:a="http://schemas.openxmlformats.org/drawingml/2006/main" noGrp="1"/>
          </p:cNvSpPr>
          <p:nvPr/>
        </p:nvSpPr>
        <p:spPr>
          <a:xfrm xmlns:a="http://schemas.openxmlformats.org/drawingml/2006/main">
            <a:off x="6896100" y="3009900"/>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0">
                <a:solidFill>
                  <a:srgbClr val="20303C"/>
                </a:solidFill>
                <a:latin typeface="Arial"/>
                <a:ea typeface="Arial"/>
                <a:cs typeface="Arial"/>
              </a:defRPr>
            </a:pPr>
            <a:r>
              <a:rPr sz="1500" b="0">
                <a:solidFill>
                  <a:srgbClr val="20303C"/>
                </a:solidFill>
                <a:latin typeface="Arial"/>
                <a:ea typeface="Arial"/>
                <a:cs typeface="Arial"/>
              </a:rPr>
              <a:t>Lead Status Unknown lines that still require material identification</a:t>
            </a:r>
          </a:p>
        </p:txBody>
      </p:sp>
      <p:sp>
        <p:nvSpPr>
          <p:cNvPr id="9" name="">
            <a:extLst xmlns:a="http://schemas.openxmlformats.org/drawingml/2006/main">
              <a:ext uri="{FF2B5EF4-FFF2-40B4-BE49-F238E27FC236}">
                <a16:creationId xmlns:a16="http://schemas.microsoft.com/office/drawing/2014/main" id="{DAD72435-BF0D-4A75-BC37-62D029207FCD}"/>
              </a:ext>
            </a:extLst>
          </p:cNvPr>
          <p:cNvSpPr>
            <a:spLocks xmlns:a="http://schemas.openxmlformats.org/drawingml/2006/main" noGrp="1"/>
          </p:cNvSpPr>
          <p:nvPr/>
        </p:nvSpPr>
        <p:spPr>
          <a:xfrm xmlns:a="http://schemas.openxmlformats.org/drawingml/2006/main">
            <a:off x="6896100" y="3552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F07F2F"/>
                </a:solidFill>
                <a:latin typeface="Arial"/>
                <a:ea typeface="Arial"/>
                <a:cs typeface="Arial"/>
              </a:defRPr>
            </a:pPr>
            <a:r>
              <a:rPr sz="1275" b="1">
                <a:solidFill>
                  <a:srgbClr val="F07F2F"/>
                </a:solidFill>
                <a:latin typeface="Arial"/>
                <a:ea typeface="Arial"/>
                <a:cs typeface="Arial"/>
              </a:rPr>
              <a:t>Unknown does not mean lead</a:t>
            </a:r>
          </a:p>
        </p:txBody>
      </p:sp>
      <p:sp>
        <p:nvSpPr>
          <p:cNvPr id="10" name="">
            <a:extLst xmlns:a="http://schemas.openxmlformats.org/drawingml/2006/main">
              <a:ext uri="{FF2B5EF4-FFF2-40B4-BE49-F238E27FC236}">
                <a16:creationId xmlns:a16="http://schemas.microsoft.com/office/drawing/2014/main" id="{45AB2239-E391-42C3-AFC6-8EDD22855D53}"/>
              </a:ext>
            </a:extLst>
          </p:cNvPr>
          <p:cNvSpPr>
            <a:spLocks xmlns:a="http://schemas.openxmlformats.org/drawingml/2006/main" noGrp="1"/>
          </p:cNvSpPr>
          <p:nvPr/>
        </p:nvSpPr>
        <p:spPr>
          <a:xfrm xmlns:a="http://schemas.openxmlformats.org/drawingml/2006/main">
            <a:off x="647700" y="41529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Infrastructure management stages</a:t>
            </a:r>
          </a:p>
        </p:txBody>
      </p:sp>
      <p:sp>
        <p:nvSpPr>
          <p:cNvPr id="11" name="">
            <a:extLst xmlns:a="http://schemas.openxmlformats.org/drawingml/2006/main">
              <a:ext uri="{FF2B5EF4-FFF2-40B4-BE49-F238E27FC236}">
                <a16:creationId xmlns:a16="http://schemas.microsoft.com/office/drawing/2014/main" id="{DFFF0642-0411-45BB-A546-28CCEA9BCCC0}"/>
              </a:ext>
            </a:extLst>
          </p:cNvPr>
          <p:cNvSpPr>
            <a:spLocks xmlns:a="http://schemas.openxmlformats.org/drawingml/2006/main" noGrp="1"/>
          </p:cNvSpPr>
          <p:nvPr/>
        </p:nvSpPr>
        <p:spPr>
          <a:xfrm xmlns:a="http://schemas.openxmlformats.org/drawingml/2006/main">
            <a:off x="647700" y="4638675"/>
            <a:ext cx="400050" cy="40005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ormAutofit fontScale="88151"/>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6A4EB422-A7A9-4D2B-AE45-DB913AB66B0F}"/>
              </a:ext>
            </a:extLst>
          </p:cNvPr>
          <p:cNvSpPr>
            <a:spLocks xmlns:a="http://schemas.openxmlformats.org/drawingml/2006/main" noGrp="1"/>
          </p:cNvSpPr>
          <p:nvPr/>
        </p:nvSpPr>
        <p:spPr>
          <a:xfrm xmlns:a="http://schemas.openxmlformats.org/drawingml/2006/main">
            <a:off x="1152525" y="465772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20303C"/>
                </a:solidFill>
                <a:latin typeface="Arial"/>
                <a:ea typeface="Arial"/>
                <a:cs typeface="Arial"/>
              </a:defRPr>
            </a:pPr>
            <a:r>
              <a:rPr sz="1500" b="1">
                <a:solidFill>
                  <a:srgbClr val="20303C"/>
                </a:solidFill>
                <a:latin typeface="Arial"/>
                <a:ea typeface="Arial"/>
                <a:cs typeface="Arial"/>
              </a:rPr>
              <a:t>Unknown</a:t>
            </a:r>
          </a:p>
        </p:txBody>
      </p:sp>
      <p:sp>
        <p:nvSpPr>
          <p:cNvPr id="13" name="">
            <a:extLst xmlns:a="http://schemas.openxmlformats.org/drawingml/2006/main">
              <a:ext uri="{FF2B5EF4-FFF2-40B4-BE49-F238E27FC236}">
                <a16:creationId xmlns:a16="http://schemas.microsoft.com/office/drawing/2014/main" id="{6F5D3281-4F78-4D3B-8708-C9113E95FC79}"/>
              </a:ext>
            </a:extLst>
          </p:cNvPr>
          <p:cNvSpPr>
            <a:spLocks xmlns:a="http://schemas.openxmlformats.org/drawingml/2006/main" noGrp="1"/>
          </p:cNvSpPr>
          <p:nvPr/>
        </p:nvSpPr>
        <p:spPr>
          <a:xfrm xmlns:a="http://schemas.openxmlformats.org/drawingml/2006/main">
            <a:off x="3362325" y="4638675"/>
            <a:ext cx="400050" cy="40005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ormAutofit fontScale="88151"/>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D65E5175-85F0-447C-8993-5A89080081C4}"/>
              </a:ext>
            </a:extLst>
          </p:cNvPr>
          <p:cNvSpPr>
            <a:spLocks xmlns:a="http://schemas.openxmlformats.org/drawingml/2006/main" noGrp="1"/>
          </p:cNvSpPr>
          <p:nvPr/>
        </p:nvSpPr>
        <p:spPr>
          <a:xfrm xmlns:a="http://schemas.openxmlformats.org/drawingml/2006/main">
            <a:off x="3867150" y="465772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20303C"/>
                </a:solidFill>
                <a:latin typeface="Arial"/>
                <a:ea typeface="Arial"/>
                <a:cs typeface="Arial"/>
              </a:defRPr>
            </a:pPr>
            <a:r>
              <a:rPr sz="1500" b="1">
                <a:solidFill>
                  <a:srgbClr val="20303C"/>
                </a:solidFill>
                <a:latin typeface="Arial"/>
                <a:ea typeface="Arial"/>
                <a:cs typeface="Arial"/>
              </a:rPr>
              <a:t>Identify material</a:t>
            </a:r>
          </a:p>
        </p:txBody>
      </p:sp>
      <p:sp>
        <p:nvSpPr>
          <p:cNvPr id="15" name="">
            <a:extLst xmlns:a="http://schemas.openxmlformats.org/drawingml/2006/main">
              <a:ext uri="{FF2B5EF4-FFF2-40B4-BE49-F238E27FC236}">
                <a16:creationId xmlns:a16="http://schemas.microsoft.com/office/drawing/2014/main" id="{08194365-8E5B-4AEF-9C34-283A0CBD58CE}"/>
              </a:ext>
            </a:extLst>
          </p:cNvPr>
          <p:cNvSpPr>
            <a:spLocks xmlns:a="http://schemas.openxmlformats.org/drawingml/2006/main" noGrp="1"/>
          </p:cNvSpPr>
          <p:nvPr/>
        </p:nvSpPr>
        <p:spPr>
          <a:xfrm xmlns:a="http://schemas.openxmlformats.org/drawingml/2006/main">
            <a:off x="6076950" y="4638675"/>
            <a:ext cx="400050" cy="40005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ormAutofit fontScale="88151"/>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5096B09E-08FD-4EED-9447-5BD29B4C2E00}"/>
              </a:ext>
            </a:extLst>
          </p:cNvPr>
          <p:cNvSpPr>
            <a:spLocks xmlns:a="http://schemas.openxmlformats.org/drawingml/2006/main" noGrp="1"/>
          </p:cNvSpPr>
          <p:nvPr/>
        </p:nvSpPr>
        <p:spPr>
          <a:xfrm xmlns:a="http://schemas.openxmlformats.org/drawingml/2006/main">
            <a:off x="6581775" y="465772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20303C"/>
                </a:solidFill>
                <a:latin typeface="Arial"/>
                <a:ea typeface="Arial"/>
                <a:cs typeface="Arial"/>
              </a:defRPr>
            </a:pPr>
            <a:r>
              <a:rPr sz="1500" b="1">
                <a:solidFill>
                  <a:srgbClr val="20303C"/>
                </a:solidFill>
                <a:latin typeface="Arial"/>
                <a:ea typeface="Arial"/>
                <a:cs typeface="Arial"/>
              </a:rPr>
              <a:t>Classify</a:t>
            </a:r>
          </a:p>
        </p:txBody>
      </p:sp>
      <p:sp>
        <p:nvSpPr>
          <p:cNvPr id="17" name="">
            <a:extLst xmlns:a="http://schemas.openxmlformats.org/drawingml/2006/main">
              <a:ext uri="{FF2B5EF4-FFF2-40B4-BE49-F238E27FC236}">
                <a16:creationId xmlns:a16="http://schemas.microsoft.com/office/drawing/2014/main" id="{0DEFD96F-E9F3-4051-85FB-35CD800EFED9}"/>
              </a:ext>
            </a:extLst>
          </p:cNvPr>
          <p:cNvSpPr>
            <a:spLocks xmlns:a="http://schemas.openxmlformats.org/drawingml/2006/main" noGrp="1"/>
          </p:cNvSpPr>
          <p:nvPr/>
        </p:nvSpPr>
        <p:spPr>
          <a:xfrm xmlns:a="http://schemas.openxmlformats.org/drawingml/2006/main">
            <a:off x="8791575" y="4638675"/>
            <a:ext cx="400050" cy="40005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ormAutofit fontScale="88151"/>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7503A2DA-7ACB-4F95-B79C-F17C60987003}"/>
              </a:ext>
            </a:extLst>
          </p:cNvPr>
          <p:cNvSpPr>
            <a:spLocks xmlns:a="http://schemas.openxmlformats.org/drawingml/2006/main" noGrp="1"/>
          </p:cNvSpPr>
          <p:nvPr/>
        </p:nvSpPr>
        <p:spPr>
          <a:xfrm xmlns:a="http://schemas.openxmlformats.org/drawingml/2006/main">
            <a:off x="9296400" y="465772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512"/>
          </a:bodyPr>
          <a:lstStyle xmlns:a="http://schemas.openxmlformats.org/drawingml/2006/main"/>
          <a:p xmlns:a="http://schemas.openxmlformats.org/drawingml/2006/main">
            <a:pPr>
              <a:defRPr sz="1500" b="1">
                <a:solidFill>
                  <a:srgbClr val="20303C"/>
                </a:solidFill>
                <a:latin typeface="Arial"/>
                <a:ea typeface="Arial"/>
                <a:cs typeface="Arial"/>
              </a:defRPr>
            </a:pPr>
            <a:r>
              <a:rPr sz="1500" b="1">
                <a:solidFill>
                  <a:srgbClr val="20303C"/>
                </a:solidFill>
                <a:latin typeface="Arial"/>
                <a:ea typeface="Arial"/>
                <a:cs typeface="Arial"/>
              </a:rPr>
              <a:t>Replace where required</a:t>
            </a:r>
          </a:p>
        </p:txBody>
      </p:sp>
      <p:sp>
        <p:nvSpPr>
          <p:cNvPr id="19" name="">
            <a:extLst xmlns:a="http://schemas.openxmlformats.org/drawingml/2006/main">
              <a:ext uri="{FF2B5EF4-FFF2-40B4-BE49-F238E27FC236}">
                <a16:creationId xmlns:a16="http://schemas.microsoft.com/office/drawing/2014/main" id="{15E3048E-6317-4CB0-8C2E-D973049DB190}"/>
              </a:ext>
            </a:extLst>
          </p:cNvPr>
          <p:cNvSpPr>
            <a:spLocks xmlns:a="http://schemas.openxmlformats.org/drawingml/2006/main" noGrp="1"/>
          </p:cNvSpPr>
          <p:nvPr/>
        </p:nvSpPr>
        <p:spPr>
          <a:xfrm xmlns:a="http://schemas.openxmlformats.org/drawingml/2006/main">
            <a:off x="3028950" y="4829175"/>
            <a:ext cx="228600" cy="19050"/>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633B862-2925-4F46-860E-2A29E269FD82}"/>
              </a:ext>
            </a:extLst>
          </p:cNvPr>
          <p:cNvSpPr>
            <a:spLocks xmlns:a="http://schemas.openxmlformats.org/drawingml/2006/main" noGrp="1"/>
          </p:cNvSpPr>
          <p:nvPr/>
        </p:nvSpPr>
        <p:spPr>
          <a:xfrm xmlns:a="http://schemas.openxmlformats.org/drawingml/2006/main">
            <a:off x="5743575" y="4829175"/>
            <a:ext cx="228600" cy="19050"/>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4B7BF1F-4DB7-4ED6-95EC-436B4230EE25}"/>
              </a:ext>
            </a:extLst>
          </p:cNvPr>
          <p:cNvSpPr>
            <a:spLocks xmlns:a="http://schemas.openxmlformats.org/drawingml/2006/main" noGrp="1"/>
          </p:cNvSpPr>
          <p:nvPr/>
        </p:nvSpPr>
        <p:spPr>
          <a:xfrm xmlns:a="http://schemas.openxmlformats.org/drawingml/2006/main">
            <a:off x="8458200" y="4829175"/>
            <a:ext cx="228600" cy="19050"/>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9BE5CF-2970-4EB1-8E84-67E7C0950CD0}"/>
              </a:ext>
            </a:extLst>
          </p:cNvPr>
          <p:cNvSpPr>
            <a:spLocks xmlns:a="http://schemas.openxmlformats.org/drawingml/2006/main" noGrp="1"/>
          </p:cNvSpPr>
          <p:nvPr/>
        </p:nvSpPr>
        <p:spPr>
          <a:xfrm xmlns:a="http://schemas.openxmlformats.org/drawingml/2006/main">
            <a:off x="647700" y="54483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The analysis keeps replacement workload separate from unresolved identification workload.</a:t>
            </a:r>
          </a:p>
        </p:txBody>
      </p:sp>
      <p:sp>
        <p:nvSpPr>
          <p:cNvPr id="23" name="">
            <a:extLst xmlns:a="http://schemas.openxmlformats.org/drawingml/2006/main">
              <a:ext uri="{FF2B5EF4-FFF2-40B4-BE49-F238E27FC236}">
                <a16:creationId xmlns:a16="http://schemas.microsoft.com/office/drawing/2014/main" id="{D007BD4E-4DA6-4903-954D-A3A94EC532B0}"/>
              </a:ext>
            </a:extLst>
          </p:cNvPr>
          <p:cNvSpPr>
            <a:spLocks xmlns:a="http://schemas.openxmlformats.org/drawingml/2006/main" noGrp="1"/>
          </p:cNvSpPr>
          <p:nvPr/>
        </p:nvSpPr>
        <p:spPr>
          <a:xfrm xmlns:a="http://schemas.openxmlformats.org/drawingml/2006/main">
            <a:off x="628650" y="6496050"/>
            <a:ext cx="10934700" cy="9525"/>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D5635F1-4E9D-4A5A-B215-5E8232F2067B}"/>
              </a:ext>
            </a:extLst>
          </p:cNvPr>
          <p:cNvSpPr>
            <a:spLocks xmlns:a="http://schemas.openxmlformats.org/drawingml/2006/main" noGrp="1"/>
          </p:cNvSpPr>
          <p:nvPr/>
        </p:nvSpPr>
        <p:spPr>
          <a:xfrm xmlns:a="http://schemas.openxmlformats.org/drawingml/2006/main">
            <a:off x="628650" y="65532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5D6B74"/>
                </a:solidFill>
                <a:latin typeface="Arial"/>
                <a:ea typeface="Arial"/>
                <a:cs typeface="Arial"/>
              </a:defRPr>
            </a:pPr>
            <a:r>
              <a:rPr sz="825" b="0">
                <a:solidFill>
                  <a:srgbClr val="5D6B74"/>
                </a:solidFill>
                <a:latin typeface="Arial"/>
                <a:ea typeface="Arial"/>
                <a:cs typeface="Arial"/>
              </a:rPr>
              <a:t>Source: U.S. EPA, 2026 Q2 Service Line Inventory</a:t>
            </a:r>
          </a:p>
        </p:txBody>
      </p:sp>
      <p:sp>
        <p:nvSpPr>
          <p:cNvPr id="25" name="">
            <a:extLst xmlns:a="http://schemas.openxmlformats.org/drawingml/2006/main">
              <a:ext uri="{FF2B5EF4-FFF2-40B4-BE49-F238E27FC236}">
                <a16:creationId xmlns:a16="http://schemas.microsoft.com/office/drawing/2014/main" id="{417FB7F2-1AAA-4BBF-99B6-10E726E023E9}"/>
              </a:ext>
            </a:extLst>
          </p:cNvPr>
          <p:cNvSpPr>
            <a:spLocks xmlns:a="http://schemas.openxmlformats.org/drawingml/2006/main" noGrp="1"/>
          </p:cNvSpPr>
          <p:nvPr/>
        </p:nvSpPr>
        <p:spPr>
          <a:xfrm xmlns:a="http://schemas.openxmlformats.org/drawingml/2006/main">
            <a:off x="11096625" y="654367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0">
                <a:solidFill>
                  <a:srgbClr val="5D6B74"/>
                </a:solidFill>
                <a:latin typeface="Arial"/>
                <a:ea typeface="Arial"/>
                <a:cs typeface="Arial"/>
              </a:defRPr>
            </a:pPr>
            <a:r>
              <a:rPr sz="825" b="0">
                <a:solidFill>
                  <a:srgbClr val="5D6B74"/>
                </a:solidFill>
                <a:latin typeface="Arial"/>
                <a:ea typeface="Arial"/>
                <a:cs typeface="Arial"/>
              </a:rPr>
              <a:t>1</a:t>
            </a:r>
          </a:p>
        </p:txBody>
      </p:sp>
    </p:spTree>
    <p:extLst>
      <p:ext uri="{BB962C8B-B14F-4D97-AF65-F5344CB8AC3E}">
        <p14:creationId xmlns:p14="http://schemas.microsoft.com/office/powerpoint/2010/main" val="476313119"/>
      </p:ext>
    </p:extLst>
  </p:cSld>
</p:sld>
</file>

<file path=ppt/slides/slide2.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41460E-6A09-4D8A-87CB-FA59139B16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61A904-7AA2-467D-B18E-1CFABD708FD4}"/>
              </a:ext>
            </a:extLst>
          </p:cNvPr>
          <p:cNvSpPr>
            <a:spLocks xmlns:a="http://schemas.openxmlformats.org/drawingml/2006/main" noGrp="1"/>
          </p:cNvSpPr>
          <p:nvPr/>
        </p:nvSpPr>
        <p:spPr>
          <a:xfrm xmlns:a="http://schemas.openxmlformats.org/drawingml/2006/main">
            <a:off x="628650" y="2857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4472C4"/>
                </a:solidFill>
                <a:latin typeface="Arial"/>
                <a:ea typeface="Arial"/>
                <a:cs typeface="Arial"/>
              </a:defRPr>
            </a:pPr>
            <a:r>
              <a:rPr sz="1050" b="1">
                <a:solidFill>
                  <a:srgbClr val="4472C4"/>
                </a:solidFill>
                <a:latin typeface="Arial"/>
                <a:ea typeface="Arial"/>
                <a:cs typeface="Arial"/>
              </a:rPr>
              <a:t>NATIONAL SCALE</a:t>
            </a:r>
          </a:p>
        </p:txBody>
      </p:sp>
      <p:sp>
        <p:nvSpPr>
          <p:cNvPr id="3" name="">
            <a:extLst xmlns:a="http://schemas.openxmlformats.org/drawingml/2006/main">
              <a:ext uri="{FF2B5EF4-FFF2-40B4-BE49-F238E27FC236}">
                <a16:creationId xmlns:a16="http://schemas.microsoft.com/office/drawing/2014/main" id="{602CD831-A458-4BB2-B1D6-7AB31109E682}"/>
              </a:ext>
            </a:extLst>
          </p:cNvPr>
          <p:cNvSpPr>
            <a:spLocks xmlns:a="http://schemas.openxmlformats.org/drawingml/2006/main" noGrp="1"/>
          </p:cNvSpPr>
          <p:nvPr/>
        </p:nvSpPr>
        <p:spPr>
          <a:xfrm xmlns:a="http://schemas.openxmlformats.org/drawingml/2006/main">
            <a:off x="628650" y="5334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393"/>
          </a:bodyPr>
          <a:lstStyle xmlns:a="http://schemas.openxmlformats.org/drawingml/2006/main"/>
          <a:p xmlns:a="http://schemas.openxmlformats.org/drawingml/2006/main">
            <a:pPr>
              <a:defRPr sz="2925" b="1">
                <a:solidFill>
                  <a:srgbClr val="17324D"/>
                </a:solidFill>
                <a:latin typeface="Arial"/>
                <a:ea typeface="Arial"/>
                <a:cs typeface="Arial"/>
              </a:defRPr>
            </a:pPr>
            <a:r>
              <a:rPr sz="2925" b="1">
                <a:solidFill>
                  <a:srgbClr val="17324D"/>
                </a:solidFill>
                <a:latin typeface="Arial"/>
                <a:ea typeface="Arial"/>
                <a:cs typeface="Arial"/>
              </a:rPr>
              <a:t>Unresolved identification inventory is nearly seven times larger than known replacement inventory</a:t>
            </a:r>
          </a:p>
        </p:txBody>
      </p:sp>
      <p:sp>
        <p:nvSpPr>
          <p:cNvPr id="4" name="">
            <a:extLst xmlns:a="http://schemas.openxmlformats.org/drawingml/2006/main">
              <a:ext uri="{FF2B5EF4-FFF2-40B4-BE49-F238E27FC236}">
                <a16:creationId xmlns:a16="http://schemas.microsoft.com/office/drawing/2014/main" id="{672BD5E0-666C-46A4-BA38-FA6A6D385FE4}"/>
              </a:ext>
            </a:extLst>
          </p:cNvPr>
          <p:cNvSpPr>
            <a:spLocks xmlns:a="http://schemas.openxmlformats.org/drawingml/2006/main" noGrp="1"/>
          </p:cNvSpPr>
          <p:nvPr/>
        </p:nvSpPr>
        <p:spPr>
          <a:xfrm xmlns:a="http://schemas.openxmlformats.org/drawingml/2006/main">
            <a:off x="666750" y="1676400"/>
            <a:ext cx="2238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383"/>
          </a:bodyPr>
          <a:lstStyle xmlns:a="http://schemas.openxmlformats.org/drawingml/2006/main"/>
          <a:p xmlns:a="http://schemas.openxmlformats.org/drawingml/2006/main">
            <a:pPr>
              <a:defRPr sz="4050" b="1">
                <a:solidFill>
                  <a:srgbClr val="4472C4"/>
                </a:solidFill>
                <a:latin typeface="Arial"/>
                <a:ea typeface="Arial"/>
                <a:cs typeface="Arial"/>
              </a:defRPr>
            </a:pPr>
            <a:r>
              <a:rPr sz="4050" b="1">
                <a:solidFill>
                  <a:srgbClr val="4472C4"/>
                </a:solidFill>
                <a:latin typeface="Arial"/>
                <a:ea typeface="Arial"/>
                <a:cs typeface="Arial"/>
              </a:rPr>
              <a:t>3.1M</a:t>
            </a:r>
          </a:p>
        </p:txBody>
      </p:sp>
      <p:sp>
        <p:nvSpPr>
          <p:cNvPr id="5" name="">
            <a:extLst xmlns:a="http://schemas.openxmlformats.org/drawingml/2006/main">
              <a:ext uri="{FF2B5EF4-FFF2-40B4-BE49-F238E27FC236}">
                <a16:creationId xmlns:a16="http://schemas.microsoft.com/office/drawing/2014/main" id="{AB16D64C-09DC-4CDE-BE5D-6A4732E3E055}"/>
              </a:ext>
            </a:extLst>
          </p:cNvPr>
          <p:cNvSpPr>
            <a:spLocks xmlns:a="http://schemas.openxmlformats.org/drawingml/2006/main" noGrp="1"/>
          </p:cNvSpPr>
          <p:nvPr/>
        </p:nvSpPr>
        <p:spPr>
          <a:xfrm xmlns:a="http://schemas.openxmlformats.org/drawingml/2006/main">
            <a:off x="685800" y="2381250"/>
            <a:ext cx="223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defRPr sz="1425" b="1">
                <a:solidFill>
                  <a:srgbClr val="20303C"/>
                </a:solidFill>
                <a:latin typeface="Arial"/>
                <a:ea typeface="Arial"/>
                <a:cs typeface="Arial"/>
              </a:defRPr>
            </a:pPr>
            <a:r>
              <a:rPr sz="1425" b="1">
                <a:solidFill>
                  <a:srgbClr val="20303C"/>
                </a:solidFill>
                <a:latin typeface="Arial"/>
                <a:ea typeface="Arial"/>
                <a:cs typeface="Arial"/>
              </a:rPr>
              <a:t>Known Replacement service lines</a:t>
            </a:r>
          </a:p>
        </p:txBody>
      </p:sp>
      <p:sp>
        <p:nvSpPr>
          <p:cNvPr id="6" name="">
            <a:extLst xmlns:a="http://schemas.openxmlformats.org/drawingml/2006/main">
              <a:ext uri="{FF2B5EF4-FFF2-40B4-BE49-F238E27FC236}">
                <a16:creationId xmlns:a16="http://schemas.microsoft.com/office/drawing/2014/main" id="{AEF42205-0566-4C73-AB65-65E1DCA35A18}"/>
              </a:ext>
            </a:extLst>
          </p:cNvPr>
          <p:cNvSpPr>
            <a:spLocks xmlns:a="http://schemas.openxmlformats.org/drawingml/2006/main" noGrp="1"/>
          </p:cNvSpPr>
          <p:nvPr/>
        </p:nvSpPr>
        <p:spPr>
          <a:xfrm xmlns:a="http://schemas.openxmlformats.org/drawingml/2006/main">
            <a:off x="666750" y="3276600"/>
            <a:ext cx="2238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383"/>
          </a:bodyPr>
          <a:lstStyle xmlns:a="http://schemas.openxmlformats.org/drawingml/2006/main"/>
          <a:p xmlns:a="http://schemas.openxmlformats.org/drawingml/2006/main">
            <a:pPr>
              <a:defRPr sz="4050" b="1">
                <a:solidFill>
                  <a:srgbClr val="F07F2F"/>
                </a:solidFill>
                <a:latin typeface="Arial"/>
                <a:ea typeface="Arial"/>
                <a:cs typeface="Arial"/>
              </a:defRPr>
            </a:pPr>
            <a:r>
              <a:rPr sz="4050" b="1">
                <a:solidFill>
                  <a:srgbClr val="F07F2F"/>
                </a:solidFill>
                <a:latin typeface="Arial"/>
                <a:ea typeface="Arial"/>
                <a:cs typeface="Arial"/>
              </a:rPr>
              <a:t>21.6M</a:t>
            </a:r>
          </a:p>
        </p:txBody>
      </p:sp>
      <p:sp>
        <p:nvSpPr>
          <p:cNvPr id="7" name="">
            <a:extLst xmlns:a="http://schemas.openxmlformats.org/drawingml/2006/main">
              <a:ext uri="{FF2B5EF4-FFF2-40B4-BE49-F238E27FC236}">
                <a16:creationId xmlns:a16="http://schemas.microsoft.com/office/drawing/2014/main" id="{D48F5AEA-20D0-4F14-9E93-B476AFEE0410}"/>
              </a:ext>
            </a:extLst>
          </p:cNvPr>
          <p:cNvSpPr>
            <a:spLocks xmlns:a="http://schemas.openxmlformats.org/drawingml/2006/main" noGrp="1"/>
          </p:cNvSpPr>
          <p:nvPr/>
        </p:nvSpPr>
        <p:spPr>
          <a:xfrm xmlns:a="http://schemas.openxmlformats.org/drawingml/2006/main">
            <a:off x="685800" y="39814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20303C"/>
                </a:solidFill>
                <a:latin typeface="Arial"/>
                <a:ea typeface="Arial"/>
                <a:cs typeface="Arial"/>
              </a:defRPr>
            </a:pPr>
            <a:r>
              <a:rPr sz="1425" b="1">
                <a:solidFill>
                  <a:srgbClr val="20303C"/>
                </a:solidFill>
                <a:latin typeface="Arial"/>
                <a:ea typeface="Arial"/>
                <a:cs typeface="Arial"/>
              </a:rPr>
              <a:t>Lead Status Unknown service lines</a:t>
            </a:r>
          </a:p>
        </p:txBody>
      </p:sp>
      <p:sp>
        <p:nvSpPr>
          <p:cNvPr id="8" name="">
            <a:extLst xmlns:a="http://schemas.openxmlformats.org/drawingml/2006/main">
              <a:ext uri="{FF2B5EF4-FFF2-40B4-BE49-F238E27FC236}">
                <a16:creationId xmlns:a16="http://schemas.microsoft.com/office/drawing/2014/main" id="{8685C859-74B3-4E0C-B4CF-2DA37462BEC8}"/>
              </a:ext>
            </a:extLst>
          </p:cNvPr>
          <p:cNvSpPr>
            <a:spLocks xmlns:a="http://schemas.openxmlformats.org/drawingml/2006/main" noGrp="1"/>
          </p:cNvSpPr>
          <p:nvPr/>
        </p:nvSpPr>
        <p:spPr>
          <a:xfrm xmlns:a="http://schemas.openxmlformats.org/drawingml/2006/main">
            <a:off x="685800" y="4981575"/>
            <a:ext cx="2381250" cy="762000"/>
          </a:xfrm>
          <a:prstGeom xmlns:a="http://schemas.openxmlformats.org/drawingml/2006/main" prst="roundRect">
            <a:avLst>
              <a:gd name="adj" fmla="val 15000"/>
            </a:avLst>
          </a:prstGeom>
          <a:solidFill xmlns:a="http://schemas.openxmlformats.org/drawingml/2006/main">
            <a:srgbClr val="FFF0E5"/>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20303C"/>
                </a:solidFill>
                <a:latin typeface="Arial"/>
                <a:ea typeface="Arial"/>
                <a:cs typeface="Arial"/>
              </a:defRPr>
            </a:pPr>
            <a:r>
              <a:rPr sz="1275" b="1">
                <a:solidFill>
                  <a:srgbClr val="20303C"/>
                </a:solidFill>
                <a:latin typeface="Arial"/>
                <a:ea typeface="Arial"/>
                <a:cs typeface="Arial"/>
              </a:rPr>
              <a:t>Unknown lines require identification. They are not confirmed lead lines.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a552bb220a1460e"/>
          <a:stretch xmlns:a="http://schemas.openxmlformats.org/drawingml/2006/main"/>
        </p:blipFill>
        <p:spPr>
          <a:xfrm xmlns:a="http://schemas.openxmlformats.org/drawingml/2006/main">
            <a:off x="3537907" y="1352550"/>
            <a:ext cx="7764135" cy="48006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D48248F-266C-4A76-856C-45AB4F65B7C5}"/>
              </a:ext>
            </a:extLst>
          </p:cNvPr>
          <p:cNvSpPr>
            <a:spLocks xmlns:a="http://schemas.openxmlformats.org/drawingml/2006/main" noGrp="1"/>
          </p:cNvSpPr>
          <p:nvPr/>
        </p:nvSpPr>
        <p:spPr>
          <a:xfrm xmlns:a="http://schemas.openxmlformats.org/drawingml/2006/main">
            <a:off x="628650" y="6496050"/>
            <a:ext cx="10934700" cy="9525"/>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360C66-7E24-4A8F-A4F6-DE7098365412}"/>
              </a:ext>
            </a:extLst>
          </p:cNvPr>
          <p:cNvSpPr>
            <a:spLocks xmlns:a="http://schemas.openxmlformats.org/drawingml/2006/main" noGrp="1"/>
          </p:cNvSpPr>
          <p:nvPr/>
        </p:nvSpPr>
        <p:spPr>
          <a:xfrm xmlns:a="http://schemas.openxmlformats.org/drawingml/2006/main">
            <a:off x="628650" y="65532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5D6B74"/>
                </a:solidFill>
                <a:latin typeface="Arial"/>
                <a:ea typeface="Arial"/>
                <a:cs typeface="Arial"/>
              </a:defRPr>
            </a:pPr>
            <a:r>
              <a:rPr sz="825" b="0">
                <a:solidFill>
                  <a:srgbClr val="5D6B74"/>
                </a:solidFill>
                <a:latin typeface="Arial"/>
                <a:ea typeface="Arial"/>
                <a:cs typeface="Arial"/>
              </a:rPr>
              <a:t>Source: U.S. EPA, 2026 Q2 Service Line Inventory. Counts reflect the analytical sample.</a:t>
            </a:r>
          </a:p>
        </p:txBody>
      </p:sp>
      <p:sp>
        <p:nvSpPr>
          <p:cNvPr id="12" name="">
            <a:extLst xmlns:a="http://schemas.openxmlformats.org/drawingml/2006/main">
              <a:ext uri="{FF2B5EF4-FFF2-40B4-BE49-F238E27FC236}">
                <a16:creationId xmlns:a16="http://schemas.microsoft.com/office/drawing/2014/main" id="{9B4403C0-E102-4C57-99A6-AC73511E1A32}"/>
              </a:ext>
            </a:extLst>
          </p:cNvPr>
          <p:cNvSpPr>
            <a:spLocks xmlns:a="http://schemas.openxmlformats.org/drawingml/2006/main" noGrp="1"/>
          </p:cNvSpPr>
          <p:nvPr/>
        </p:nvSpPr>
        <p:spPr>
          <a:xfrm xmlns:a="http://schemas.openxmlformats.org/drawingml/2006/main">
            <a:off x="11096625" y="654367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0">
                <a:solidFill>
                  <a:srgbClr val="5D6B74"/>
                </a:solidFill>
                <a:latin typeface="Arial"/>
                <a:ea typeface="Arial"/>
                <a:cs typeface="Arial"/>
              </a:defRPr>
            </a:pPr>
            <a:r>
              <a:rPr sz="825" b="0">
                <a:solidFill>
                  <a:srgbClr val="5D6B74"/>
                </a:solidFill>
                <a:latin typeface="Arial"/>
                <a:ea typeface="Arial"/>
                <a:cs typeface="Arial"/>
              </a:rPr>
              <a:t>2</a:t>
            </a:r>
          </a:p>
        </p:txBody>
      </p:sp>
    </p:spTree>
    <p:extLst>
      <p:ext uri="{BB962C8B-B14F-4D97-AF65-F5344CB8AC3E}">
        <p14:creationId xmlns:p14="http://schemas.microsoft.com/office/powerpoint/2010/main" val="2057914656"/>
      </p:ext>
    </p:extLst>
  </p:cSld>
</p:sld>
</file>

<file path=ppt/slides/slide3.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E29A1B-604E-4325-9AE5-BAB71652702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FF659F-99B6-402B-A273-34B0C499B599}"/>
              </a:ext>
            </a:extLst>
          </p:cNvPr>
          <p:cNvSpPr>
            <a:spLocks xmlns:a="http://schemas.openxmlformats.org/drawingml/2006/main" noGrp="1"/>
          </p:cNvSpPr>
          <p:nvPr/>
        </p:nvSpPr>
        <p:spPr>
          <a:xfrm xmlns:a="http://schemas.openxmlformats.org/drawingml/2006/main">
            <a:off x="628650" y="2857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4472C4"/>
                </a:solidFill>
                <a:latin typeface="Arial"/>
                <a:ea typeface="Arial"/>
                <a:cs typeface="Arial"/>
              </a:defRPr>
            </a:pPr>
            <a:r>
              <a:rPr sz="1050" b="1">
                <a:solidFill>
                  <a:srgbClr val="4472C4"/>
                </a:solidFill>
                <a:latin typeface="Arial"/>
                <a:ea typeface="Arial"/>
                <a:cs typeface="Arial"/>
              </a:rPr>
              <a:t>STATE-LEVEL COMPARISON</a:t>
            </a:r>
          </a:p>
        </p:txBody>
      </p:sp>
      <p:sp>
        <p:nvSpPr>
          <p:cNvPr id="3" name="">
            <a:extLst xmlns:a="http://schemas.openxmlformats.org/drawingml/2006/main">
              <a:ext uri="{FF2B5EF4-FFF2-40B4-BE49-F238E27FC236}">
                <a16:creationId xmlns:a16="http://schemas.microsoft.com/office/drawing/2014/main" id="{4B766B2B-8E06-4CBB-A08D-A898EE028122}"/>
              </a:ext>
            </a:extLst>
          </p:cNvPr>
          <p:cNvSpPr>
            <a:spLocks xmlns:a="http://schemas.openxmlformats.org/drawingml/2006/main" noGrp="1"/>
          </p:cNvSpPr>
          <p:nvPr/>
        </p:nvSpPr>
        <p:spPr>
          <a:xfrm xmlns:a="http://schemas.openxmlformats.org/drawingml/2006/main">
            <a:off x="628650" y="5334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832"/>
          </a:bodyPr>
          <a:lstStyle xmlns:a="http://schemas.openxmlformats.org/drawingml/2006/main"/>
          <a:p xmlns:a="http://schemas.openxmlformats.org/drawingml/2006/main">
            <a:pPr>
              <a:defRPr sz="2925" b="1">
                <a:solidFill>
                  <a:srgbClr val="17324D"/>
                </a:solidFill>
                <a:latin typeface="Arial"/>
                <a:ea typeface="Arial"/>
                <a:cs typeface="Arial"/>
              </a:defRPr>
            </a:pPr>
            <a:r>
              <a:rPr sz="2925" b="1">
                <a:solidFill>
                  <a:srgbClr val="17324D"/>
                </a:solidFill>
                <a:latin typeface="Arial"/>
                <a:ea typeface="Arial"/>
                <a:cs typeface="Arial"/>
              </a:rPr>
              <a:t>Replacement and identification workloads concentrate in different states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f51007a144466b"/>
          <a:stretch xmlns:a="http://schemas.openxmlformats.org/drawingml/2006/main"/>
        </p:blipFill>
        <p:spPr>
          <a:xfrm xmlns:a="http://schemas.openxmlformats.org/drawingml/2006/main">
            <a:off x="514350" y="1581441"/>
            <a:ext cx="5429250" cy="3590343"/>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b2cd76f14b94f63"/>
          <a:stretch xmlns:a="http://schemas.openxmlformats.org/drawingml/2006/main"/>
        </p:blipFill>
        <p:spPr>
          <a:xfrm xmlns:a="http://schemas.openxmlformats.org/drawingml/2006/main">
            <a:off x="6238875" y="1580768"/>
            <a:ext cx="5429250" cy="359168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21C9AB-ECAB-4C72-BC1E-B766657EDCAF}"/>
              </a:ext>
            </a:extLst>
          </p:cNvPr>
          <p:cNvSpPr>
            <a:spLocks xmlns:a="http://schemas.openxmlformats.org/drawingml/2006/main" noGrp="1"/>
          </p:cNvSpPr>
          <p:nvPr/>
        </p:nvSpPr>
        <p:spPr>
          <a:xfrm xmlns:a="http://schemas.openxmlformats.org/drawingml/2006/main">
            <a:off x="876300" y="56102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4472C4"/>
                </a:solidFill>
                <a:latin typeface="Arial"/>
                <a:ea typeface="Arial"/>
                <a:cs typeface="Arial"/>
              </a:defRPr>
            </a:pPr>
            <a:r>
              <a:rPr sz="1425" b="1">
                <a:solidFill>
                  <a:srgbClr val="4472C4"/>
                </a:solidFill>
                <a:latin typeface="Arial"/>
                <a:ea typeface="Arial"/>
                <a:cs typeface="Arial"/>
              </a:rPr>
              <a:t>Illinois leads Known Replacement at 672,210</a:t>
            </a:r>
          </a:p>
        </p:txBody>
      </p:sp>
      <p:sp>
        <p:nvSpPr>
          <p:cNvPr id="7" name="">
            <a:extLst xmlns:a="http://schemas.openxmlformats.org/drawingml/2006/main">
              <a:ext uri="{FF2B5EF4-FFF2-40B4-BE49-F238E27FC236}">
                <a16:creationId xmlns:a16="http://schemas.microsoft.com/office/drawing/2014/main" id="{1CB2C30B-3B0A-42C7-8AA1-A3AE8FD08199}"/>
              </a:ext>
            </a:extLst>
          </p:cNvPr>
          <p:cNvSpPr>
            <a:spLocks xmlns:a="http://schemas.openxmlformats.org/drawingml/2006/main" noGrp="1"/>
          </p:cNvSpPr>
          <p:nvPr/>
        </p:nvSpPr>
        <p:spPr>
          <a:xfrm xmlns:a="http://schemas.openxmlformats.org/drawingml/2006/main">
            <a:off x="6486525" y="56102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F07F2F"/>
                </a:solidFill>
                <a:latin typeface="Arial"/>
                <a:ea typeface="Arial"/>
                <a:cs typeface="Arial"/>
              </a:defRPr>
            </a:pPr>
            <a:r>
              <a:rPr sz="1425" b="1">
                <a:solidFill>
                  <a:srgbClr val="F07F2F"/>
                </a:solidFill>
                <a:latin typeface="Arial"/>
                <a:ea typeface="Arial"/>
                <a:cs typeface="Arial"/>
              </a:rPr>
              <a:t>Texas and Pennsylvania lead Identification Need</a:t>
            </a:r>
          </a:p>
        </p:txBody>
      </p:sp>
      <p:sp>
        <p:nvSpPr>
          <p:cNvPr id="8" name="">
            <a:extLst xmlns:a="http://schemas.openxmlformats.org/drawingml/2006/main">
              <a:ext uri="{FF2B5EF4-FFF2-40B4-BE49-F238E27FC236}">
                <a16:creationId xmlns:a16="http://schemas.microsoft.com/office/drawing/2014/main" id="{FA46A6DA-9CE3-4639-8225-C927D2220D3A}"/>
              </a:ext>
            </a:extLst>
          </p:cNvPr>
          <p:cNvSpPr>
            <a:spLocks xmlns:a="http://schemas.openxmlformats.org/drawingml/2006/main" noGrp="1"/>
          </p:cNvSpPr>
          <p:nvPr/>
        </p:nvSpPr>
        <p:spPr>
          <a:xfrm xmlns:a="http://schemas.openxmlformats.org/drawingml/2006/main">
            <a:off x="1143000" y="601027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ctr">
              <a:defRPr sz="1275" b="0">
                <a:solidFill>
                  <a:srgbClr val="20303C"/>
                </a:solidFill>
                <a:latin typeface="Arial"/>
                <a:ea typeface="Arial"/>
                <a:cs typeface="Arial"/>
              </a:defRPr>
            </a:pPr>
            <a:r>
              <a:rPr sz="1275" b="0">
                <a:solidFill>
                  <a:srgbClr val="20303C"/>
                </a:solidFill>
                <a:latin typeface="Arial"/>
                <a:ea typeface="Arial"/>
                <a:cs typeface="Arial"/>
              </a:rPr>
              <a:t>Five states appear in both raw top 10 lists: New Jersey, New York, Ohio, Pennsylvania, and Texas</a:t>
            </a:r>
          </a:p>
        </p:txBody>
      </p:sp>
      <p:sp>
        <p:nvSpPr>
          <p:cNvPr id="9" name="">
            <a:extLst xmlns:a="http://schemas.openxmlformats.org/drawingml/2006/main">
              <a:ext uri="{FF2B5EF4-FFF2-40B4-BE49-F238E27FC236}">
                <a16:creationId xmlns:a16="http://schemas.microsoft.com/office/drawing/2014/main" id="{F43FFA37-6CF9-41BA-9208-08B9EC6EB4D9}"/>
              </a:ext>
            </a:extLst>
          </p:cNvPr>
          <p:cNvSpPr>
            <a:spLocks xmlns:a="http://schemas.openxmlformats.org/drawingml/2006/main" noGrp="1"/>
          </p:cNvSpPr>
          <p:nvPr/>
        </p:nvSpPr>
        <p:spPr>
          <a:xfrm xmlns:a="http://schemas.openxmlformats.org/drawingml/2006/main">
            <a:off x="628650" y="6496050"/>
            <a:ext cx="10934700" cy="9525"/>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A3E57D-207E-46A4-8AB8-BC89130A63EA}"/>
              </a:ext>
            </a:extLst>
          </p:cNvPr>
          <p:cNvSpPr>
            <a:spLocks xmlns:a="http://schemas.openxmlformats.org/drawingml/2006/main" noGrp="1"/>
          </p:cNvSpPr>
          <p:nvPr/>
        </p:nvSpPr>
        <p:spPr>
          <a:xfrm xmlns:a="http://schemas.openxmlformats.org/drawingml/2006/main">
            <a:off x="628650" y="65532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5D6B74"/>
                </a:solidFill>
                <a:latin typeface="Arial"/>
                <a:ea typeface="Arial"/>
                <a:cs typeface="Arial"/>
              </a:defRPr>
            </a:pPr>
            <a:r>
              <a:rPr sz="825" b="0">
                <a:solidFill>
                  <a:srgbClr val="5D6B74"/>
                </a:solidFill>
                <a:latin typeface="Arial"/>
                <a:ea typeface="Arial"/>
                <a:cs typeface="Arial"/>
              </a:rPr>
              <a:t>Source: U.S. EPA, 2026 Q2 Service Line Inventory</a:t>
            </a:r>
          </a:p>
        </p:txBody>
      </p:sp>
      <p:sp>
        <p:nvSpPr>
          <p:cNvPr id="11" name="">
            <a:extLst xmlns:a="http://schemas.openxmlformats.org/drawingml/2006/main">
              <a:ext uri="{FF2B5EF4-FFF2-40B4-BE49-F238E27FC236}">
                <a16:creationId xmlns:a16="http://schemas.microsoft.com/office/drawing/2014/main" id="{1A7AD13A-5AB2-4DB4-ADD0-7280232C200A}"/>
              </a:ext>
            </a:extLst>
          </p:cNvPr>
          <p:cNvSpPr>
            <a:spLocks xmlns:a="http://schemas.openxmlformats.org/drawingml/2006/main" noGrp="1"/>
          </p:cNvSpPr>
          <p:nvPr/>
        </p:nvSpPr>
        <p:spPr>
          <a:xfrm xmlns:a="http://schemas.openxmlformats.org/drawingml/2006/main">
            <a:off x="11096625" y="654367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0">
                <a:solidFill>
                  <a:srgbClr val="5D6B74"/>
                </a:solidFill>
                <a:latin typeface="Arial"/>
                <a:ea typeface="Arial"/>
                <a:cs typeface="Arial"/>
              </a:defRPr>
            </a:pPr>
            <a:r>
              <a:rPr sz="825" b="0">
                <a:solidFill>
                  <a:srgbClr val="5D6B74"/>
                </a:solidFill>
                <a:latin typeface="Arial"/>
                <a:ea typeface="Arial"/>
                <a:cs typeface="Arial"/>
              </a:rPr>
              <a:t>3</a:t>
            </a:r>
          </a:p>
        </p:txBody>
      </p:sp>
    </p:spTree>
    <p:extLst>
      <p:ext uri="{BB962C8B-B14F-4D97-AF65-F5344CB8AC3E}">
        <p14:creationId xmlns:p14="http://schemas.microsoft.com/office/powerpoint/2010/main" val="1367377005"/>
      </p:ext>
    </p:extLst>
  </p:cSld>
</p:sld>
</file>

<file path=ppt/slides/slide4.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B6058D-C229-4757-8739-964FA856901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500E18-C42D-4930-86CE-7FDBBC632200}"/>
              </a:ext>
            </a:extLst>
          </p:cNvPr>
          <p:cNvSpPr>
            <a:spLocks xmlns:a="http://schemas.openxmlformats.org/drawingml/2006/main" noGrp="1"/>
          </p:cNvSpPr>
          <p:nvPr/>
        </p:nvSpPr>
        <p:spPr>
          <a:xfrm xmlns:a="http://schemas.openxmlformats.org/drawingml/2006/main">
            <a:off x="628650" y="2857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4472C4"/>
                </a:solidFill>
                <a:latin typeface="Arial"/>
                <a:ea typeface="Arial"/>
                <a:cs typeface="Arial"/>
              </a:defRPr>
            </a:pPr>
            <a:r>
              <a:rPr sz="1050" b="1">
                <a:solidFill>
                  <a:srgbClr val="4472C4"/>
                </a:solidFill>
                <a:latin typeface="Arial"/>
                <a:ea typeface="Arial"/>
                <a:cs typeface="Arial"/>
              </a:rPr>
              <a:t>RELATIONSHIP BETWEEN NEEDS</a:t>
            </a:r>
          </a:p>
        </p:txBody>
      </p:sp>
      <p:sp>
        <p:nvSpPr>
          <p:cNvPr id="3" name="">
            <a:extLst xmlns:a="http://schemas.openxmlformats.org/drawingml/2006/main">
              <a:ext uri="{FF2B5EF4-FFF2-40B4-BE49-F238E27FC236}">
                <a16:creationId xmlns:a16="http://schemas.microsoft.com/office/drawing/2014/main" id="{540D4559-795A-442B-8484-88B1E249A53A}"/>
              </a:ext>
            </a:extLst>
          </p:cNvPr>
          <p:cNvSpPr>
            <a:spLocks xmlns:a="http://schemas.openxmlformats.org/drawingml/2006/main" noGrp="1"/>
          </p:cNvSpPr>
          <p:nvPr/>
        </p:nvSpPr>
        <p:spPr>
          <a:xfrm xmlns:a="http://schemas.openxmlformats.org/drawingml/2006/main">
            <a:off x="628650" y="5334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319"/>
          </a:bodyPr>
          <a:lstStyle xmlns:a="http://schemas.openxmlformats.org/drawingml/2006/main"/>
          <a:p xmlns:a="http://schemas.openxmlformats.org/drawingml/2006/main">
            <a:pPr>
              <a:defRPr sz="2925" b="1">
                <a:solidFill>
                  <a:srgbClr val="17324D"/>
                </a:solidFill>
                <a:latin typeface="Arial"/>
                <a:ea typeface="Arial"/>
                <a:cs typeface="Arial"/>
              </a:defRPr>
            </a:pPr>
            <a:r>
              <a:rPr sz="2925" b="1">
                <a:solidFill>
                  <a:srgbClr val="17324D"/>
                </a:solidFill>
                <a:latin typeface="Arial"/>
                <a:ea typeface="Arial"/>
                <a:cs typeface="Arial"/>
              </a:rPr>
              <a:t>High replacement and identification needs do not always occur together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c1d9a1d2cb145bc"/>
          <a:stretch xmlns:a="http://schemas.openxmlformats.org/drawingml/2006/main"/>
        </p:blipFill>
        <p:spPr>
          <a:xfrm xmlns:a="http://schemas.openxmlformats.org/drawingml/2006/main">
            <a:off x="818022" y="1295400"/>
            <a:ext cx="7374606" cy="4876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206D7B6-F917-421C-8B2B-D16AE88D6B50}"/>
              </a:ext>
            </a:extLst>
          </p:cNvPr>
          <p:cNvSpPr>
            <a:spLocks xmlns:a="http://schemas.openxmlformats.org/drawingml/2006/main" noGrp="1"/>
          </p:cNvSpPr>
          <p:nvPr/>
        </p:nvSpPr>
        <p:spPr>
          <a:xfrm xmlns:a="http://schemas.openxmlformats.org/drawingml/2006/main">
            <a:off x="8839200" y="16192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4472C4"/>
                </a:solidFill>
                <a:latin typeface="Arial"/>
                <a:ea typeface="Arial"/>
                <a:cs typeface="Arial"/>
              </a:defRPr>
            </a:pPr>
            <a:r>
              <a:rPr sz="1650" b="1">
                <a:solidFill>
                  <a:srgbClr val="4472C4"/>
                </a:solidFill>
                <a:latin typeface="Arial"/>
                <a:ea typeface="Arial"/>
                <a:cs typeface="Arial"/>
              </a:rPr>
              <a:t>Illinois</a:t>
            </a:r>
          </a:p>
        </p:txBody>
      </p:sp>
      <p:sp>
        <p:nvSpPr>
          <p:cNvPr id="6" name="">
            <a:extLst xmlns:a="http://schemas.openxmlformats.org/drawingml/2006/main">
              <a:ext uri="{FF2B5EF4-FFF2-40B4-BE49-F238E27FC236}">
                <a16:creationId xmlns:a16="http://schemas.microsoft.com/office/drawing/2014/main" id="{A5426C17-11E4-4A9F-A780-9A19B7AB3C0D}"/>
              </a:ext>
            </a:extLst>
          </p:cNvPr>
          <p:cNvSpPr>
            <a:spLocks xmlns:a="http://schemas.openxmlformats.org/drawingml/2006/main" noGrp="1"/>
          </p:cNvSpPr>
          <p:nvPr/>
        </p:nvSpPr>
        <p:spPr>
          <a:xfrm xmlns:a="http://schemas.openxmlformats.org/drawingml/2006/main">
            <a:off x="8839200" y="197167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0303C"/>
                </a:solidFill>
                <a:latin typeface="Arial"/>
                <a:ea typeface="Arial"/>
                <a:cs typeface="Arial"/>
              </a:defRPr>
            </a:pPr>
            <a:r>
              <a:rPr sz="1350" b="0">
                <a:solidFill>
                  <a:srgbClr val="20303C"/>
                </a:solidFill>
                <a:latin typeface="Arial"/>
                <a:ea typeface="Arial"/>
                <a:cs typeface="Arial"/>
              </a:rPr>
              <a:t>672,210 known replacement lines; 529,706 unknown</a:t>
            </a:r>
          </a:p>
        </p:txBody>
      </p:sp>
      <p:sp>
        <p:nvSpPr>
          <p:cNvPr id="7" name="">
            <a:extLst xmlns:a="http://schemas.openxmlformats.org/drawingml/2006/main">
              <a:ext uri="{FF2B5EF4-FFF2-40B4-BE49-F238E27FC236}">
                <a16:creationId xmlns:a16="http://schemas.microsoft.com/office/drawing/2014/main" id="{657D9BD6-C0EA-4676-AA96-B1B5F48ADB76}"/>
              </a:ext>
            </a:extLst>
          </p:cNvPr>
          <p:cNvSpPr>
            <a:spLocks xmlns:a="http://schemas.openxmlformats.org/drawingml/2006/main" noGrp="1"/>
          </p:cNvSpPr>
          <p:nvPr/>
        </p:nvSpPr>
        <p:spPr>
          <a:xfrm xmlns:a="http://schemas.openxmlformats.org/drawingml/2006/main">
            <a:off x="8839200" y="290512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F07F2F"/>
                </a:solidFill>
                <a:latin typeface="Arial"/>
                <a:ea typeface="Arial"/>
                <a:cs typeface="Arial"/>
              </a:defRPr>
            </a:pPr>
            <a:r>
              <a:rPr sz="1650" b="1">
                <a:solidFill>
                  <a:srgbClr val="F07F2F"/>
                </a:solidFill>
                <a:latin typeface="Arial"/>
                <a:ea typeface="Arial"/>
                <a:cs typeface="Arial"/>
              </a:rPr>
              <a:t>Texas and Pennsylvania</a:t>
            </a:r>
          </a:p>
        </p:txBody>
      </p:sp>
      <p:sp>
        <p:nvSpPr>
          <p:cNvPr id="8" name="">
            <a:extLst xmlns:a="http://schemas.openxmlformats.org/drawingml/2006/main">
              <a:ext uri="{FF2B5EF4-FFF2-40B4-BE49-F238E27FC236}">
                <a16:creationId xmlns:a16="http://schemas.microsoft.com/office/drawing/2014/main" id="{A0F52042-39B0-4644-85FC-27102BBD07B1}"/>
              </a:ext>
            </a:extLst>
          </p:cNvPr>
          <p:cNvSpPr>
            <a:spLocks xmlns:a="http://schemas.openxmlformats.org/drawingml/2006/main" noGrp="1"/>
          </p:cNvSpPr>
          <p:nvPr/>
        </p:nvSpPr>
        <p:spPr>
          <a:xfrm xmlns:a="http://schemas.openxmlformats.org/drawingml/2006/main">
            <a:off x="8839200" y="3257550"/>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0303C"/>
                </a:solidFill>
                <a:latin typeface="Arial"/>
                <a:ea typeface="Arial"/>
                <a:cs typeface="Arial"/>
              </a:defRPr>
            </a:pPr>
            <a:r>
              <a:rPr sz="1350" b="0">
                <a:solidFill>
                  <a:srgbClr val="20303C"/>
                </a:solidFill>
                <a:latin typeface="Arial"/>
                <a:ea typeface="Arial"/>
                <a:cs typeface="Arial"/>
              </a:rPr>
              <a:t>About 114,000 known replacement lines each; more than 2.0 million unknown</a:t>
            </a:r>
          </a:p>
        </p:txBody>
      </p:sp>
      <p:sp>
        <p:nvSpPr>
          <p:cNvPr id="9" name="">
            <a:extLst xmlns:a="http://schemas.openxmlformats.org/drawingml/2006/main">
              <a:ext uri="{FF2B5EF4-FFF2-40B4-BE49-F238E27FC236}">
                <a16:creationId xmlns:a16="http://schemas.microsoft.com/office/drawing/2014/main" id="{4CB61B41-EEDE-4DAF-9F97-AA7F862C926E}"/>
              </a:ext>
            </a:extLst>
          </p:cNvPr>
          <p:cNvSpPr>
            <a:spLocks xmlns:a="http://schemas.openxmlformats.org/drawingml/2006/main" noGrp="1"/>
          </p:cNvSpPr>
          <p:nvPr/>
        </p:nvSpPr>
        <p:spPr>
          <a:xfrm xmlns:a="http://schemas.openxmlformats.org/drawingml/2006/main">
            <a:off x="8839200" y="44100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Ohio and New York</a:t>
            </a:r>
          </a:p>
        </p:txBody>
      </p:sp>
      <p:sp>
        <p:nvSpPr>
          <p:cNvPr id="10" name="">
            <a:extLst xmlns:a="http://schemas.openxmlformats.org/drawingml/2006/main">
              <a:ext uri="{FF2B5EF4-FFF2-40B4-BE49-F238E27FC236}">
                <a16:creationId xmlns:a16="http://schemas.microsoft.com/office/drawing/2014/main" id="{8AC17A19-6228-4F21-89F1-E6489F084D45}"/>
              </a:ext>
            </a:extLst>
          </p:cNvPr>
          <p:cNvSpPr>
            <a:spLocks xmlns:a="http://schemas.openxmlformats.org/drawingml/2006/main" noGrp="1"/>
          </p:cNvSpPr>
          <p:nvPr/>
        </p:nvSpPr>
        <p:spPr>
          <a:xfrm xmlns:a="http://schemas.openxmlformats.org/drawingml/2006/main">
            <a:off x="8839200" y="47625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0303C"/>
                </a:solidFill>
                <a:latin typeface="Arial"/>
                <a:ea typeface="Arial"/>
                <a:cs typeface="Arial"/>
              </a:defRPr>
            </a:pPr>
            <a:r>
              <a:rPr sz="1350" b="0">
                <a:solidFill>
                  <a:srgbClr val="20303C"/>
                </a:solidFill>
                <a:latin typeface="Arial"/>
                <a:ea typeface="Arial"/>
                <a:cs typeface="Arial"/>
              </a:rPr>
              <a:t>Relatively high on both dimensions</a:t>
            </a:r>
          </a:p>
        </p:txBody>
      </p:sp>
      <p:sp>
        <p:nvSpPr>
          <p:cNvPr id="11" name="">
            <a:extLst xmlns:a="http://schemas.openxmlformats.org/drawingml/2006/main">
              <a:ext uri="{FF2B5EF4-FFF2-40B4-BE49-F238E27FC236}">
                <a16:creationId xmlns:a16="http://schemas.microsoft.com/office/drawing/2014/main" id="{8D5C974F-7391-40DB-8109-84EA6C4956C4}"/>
              </a:ext>
            </a:extLst>
          </p:cNvPr>
          <p:cNvSpPr>
            <a:spLocks xmlns:a="http://schemas.openxmlformats.org/drawingml/2006/main" noGrp="1"/>
          </p:cNvSpPr>
          <p:nvPr/>
        </p:nvSpPr>
        <p:spPr>
          <a:xfrm xmlns:a="http://schemas.openxmlformats.org/drawingml/2006/main">
            <a:off x="8839200" y="5600700"/>
            <a:ext cx="2571750" cy="495300"/>
          </a:xfrm>
          <a:prstGeom xmlns:a="http://schemas.openxmlformats.org/drawingml/2006/main" prst="roundRect">
            <a:avLst>
              <a:gd name="adj" fmla="val 23077"/>
            </a:avLst>
          </a:prstGeom>
          <a:solidFill xmlns:a="http://schemas.openxmlformats.org/drawingml/2006/main">
            <a:srgbClr val="EAF0F8"/>
          </a:solidFill>
          <a:ln xmlns:a="http://schemas.openxmlformats.org/drawingml/2006/main" w="0">
            <a:noFill/>
          </a:ln>
        </p:spPr>
        <p:txBody>
          <a:bodyPr xmlns:a="http://schemas.openxmlformats.org/drawingml/2006/main">
            <a:normAutofit fontScale="92111"/>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The pattern is descriptive and does not establish a cause.</a:t>
            </a:r>
          </a:p>
        </p:txBody>
      </p:sp>
      <p:sp>
        <p:nvSpPr>
          <p:cNvPr id="12" name="">
            <a:extLst xmlns:a="http://schemas.openxmlformats.org/drawingml/2006/main">
              <a:ext uri="{FF2B5EF4-FFF2-40B4-BE49-F238E27FC236}">
                <a16:creationId xmlns:a16="http://schemas.microsoft.com/office/drawing/2014/main" id="{8CC3B888-0385-432F-AA93-82CE5020A1BC}"/>
              </a:ext>
            </a:extLst>
          </p:cNvPr>
          <p:cNvSpPr>
            <a:spLocks xmlns:a="http://schemas.openxmlformats.org/drawingml/2006/main" noGrp="1"/>
          </p:cNvSpPr>
          <p:nvPr/>
        </p:nvSpPr>
        <p:spPr>
          <a:xfrm xmlns:a="http://schemas.openxmlformats.org/drawingml/2006/main">
            <a:off x="628650" y="6496050"/>
            <a:ext cx="10934700" cy="9525"/>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7A8ED02-AD26-469D-BC84-93A7857804C4}"/>
              </a:ext>
            </a:extLst>
          </p:cNvPr>
          <p:cNvSpPr>
            <a:spLocks xmlns:a="http://schemas.openxmlformats.org/drawingml/2006/main" noGrp="1"/>
          </p:cNvSpPr>
          <p:nvPr/>
        </p:nvSpPr>
        <p:spPr>
          <a:xfrm xmlns:a="http://schemas.openxmlformats.org/drawingml/2006/main">
            <a:off x="628650" y="65532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5D6B74"/>
                </a:solidFill>
                <a:latin typeface="Arial"/>
                <a:ea typeface="Arial"/>
                <a:cs typeface="Arial"/>
              </a:defRPr>
            </a:pPr>
            <a:r>
              <a:rPr sz="825" b="0">
                <a:solidFill>
                  <a:srgbClr val="5D6B74"/>
                </a:solidFill>
                <a:latin typeface="Arial"/>
                <a:ea typeface="Arial"/>
                <a:cs typeface="Arial"/>
              </a:rPr>
              <a:t>Source: U.S. EPA, 2026 Q2 Service Line Inventory</a:t>
            </a:r>
          </a:p>
        </p:txBody>
      </p:sp>
      <p:sp>
        <p:nvSpPr>
          <p:cNvPr id="14" name="">
            <a:extLst xmlns:a="http://schemas.openxmlformats.org/drawingml/2006/main">
              <a:ext uri="{FF2B5EF4-FFF2-40B4-BE49-F238E27FC236}">
                <a16:creationId xmlns:a16="http://schemas.microsoft.com/office/drawing/2014/main" id="{0D5EE33D-972D-4CBB-B93D-161650FC7C1D}"/>
              </a:ext>
            </a:extLst>
          </p:cNvPr>
          <p:cNvSpPr>
            <a:spLocks xmlns:a="http://schemas.openxmlformats.org/drawingml/2006/main" noGrp="1"/>
          </p:cNvSpPr>
          <p:nvPr/>
        </p:nvSpPr>
        <p:spPr>
          <a:xfrm xmlns:a="http://schemas.openxmlformats.org/drawingml/2006/main">
            <a:off x="11096625" y="654367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0">
                <a:solidFill>
                  <a:srgbClr val="5D6B74"/>
                </a:solidFill>
                <a:latin typeface="Arial"/>
                <a:ea typeface="Arial"/>
                <a:cs typeface="Arial"/>
              </a:defRPr>
            </a:pPr>
            <a:r>
              <a:rPr sz="825" b="0">
                <a:solidFill>
                  <a:srgbClr val="5D6B74"/>
                </a:solidFill>
                <a:latin typeface="Arial"/>
                <a:ea typeface="Arial"/>
                <a:cs typeface="Arial"/>
              </a:rPr>
              <a:t>4</a:t>
            </a:r>
          </a:p>
        </p:txBody>
      </p:sp>
    </p:spTree>
    <p:extLst>
      <p:ext uri="{BB962C8B-B14F-4D97-AF65-F5344CB8AC3E}">
        <p14:creationId xmlns:p14="http://schemas.microsoft.com/office/powerpoint/2010/main" val="1470775288"/>
      </p:ext>
    </p:extLst>
  </p:cSld>
</p:sld>
</file>

<file path=ppt/slides/slide5.xml><?xml version="1.0" encoding="utf-8"?>
<p:sld xmlns:p="http://schemas.openxmlformats.org/presentationml/2006/main">
  <p:cSld>
    <p:bg>
      <p:bgPr>
        <a:solidFill xmlns:a="http://schemas.openxmlformats.org/drawingml/2006/main">
          <a:srgbClr val="F5F7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AEB2C60-3035-44C9-A7EA-5903C0C2F67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7324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2AAFD3-07DC-4406-98C6-C74E9D2ADDA1}"/>
              </a:ext>
            </a:extLst>
          </p:cNvPr>
          <p:cNvSpPr>
            <a:spLocks xmlns:a="http://schemas.openxmlformats.org/drawingml/2006/main" noGrp="1"/>
          </p:cNvSpPr>
          <p:nvPr/>
        </p:nvSpPr>
        <p:spPr>
          <a:xfrm xmlns:a="http://schemas.openxmlformats.org/drawingml/2006/main">
            <a:off x="628650" y="2857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4472C4"/>
                </a:solidFill>
                <a:latin typeface="Arial"/>
                <a:ea typeface="Arial"/>
                <a:cs typeface="Arial"/>
              </a:defRPr>
            </a:pPr>
            <a:r>
              <a:rPr sz="1050" b="1">
                <a:solidFill>
                  <a:srgbClr val="4472C4"/>
                </a:solidFill>
                <a:latin typeface="Arial"/>
                <a:ea typeface="Arial"/>
                <a:cs typeface="Arial"/>
              </a:rPr>
              <a:t>POPULATION CONTEXT</a:t>
            </a:r>
          </a:p>
        </p:txBody>
      </p:sp>
      <p:sp>
        <p:nvSpPr>
          <p:cNvPr id="3" name="">
            <a:extLst xmlns:a="http://schemas.openxmlformats.org/drawingml/2006/main">
              <a:ext uri="{FF2B5EF4-FFF2-40B4-BE49-F238E27FC236}">
                <a16:creationId xmlns:a16="http://schemas.microsoft.com/office/drawing/2014/main" id="{5E336D90-CF19-4FD6-8596-F6E7C0D6026F}"/>
              </a:ext>
            </a:extLst>
          </p:cNvPr>
          <p:cNvSpPr>
            <a:spLocks xmlns:a="http://schemas.openxmlformats.org/drawingml/2006/main" noGrp="1"/>
          </p:cNvSpPr>
          <p:nvPr/>
        </p:nvSpPr>
        <p:spPr>
          <a:xfrm xmlns:a="http://schemas.openxmlformats.org/drawingml/2006/main">
            <a:off x="628650" y="533400"/>
            <a:ext cx="10934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925" b="1">
                <a:solidFill>
                  <a:srgbClr val="17324D"/>
                </a:solidFill>
                <a:latin typeface="Arial"/>
                <a:ea typeface="Arial"/>
                <a:cs typeface="Arial"/>
              </a:defRPr>
            </a:pPr>
            <a:r>
              <a:rPr sz="2925" b="1">
                <a:solidFill>
                  <a:srgbClr val="17324D"/>
                </a:solidFill>
                <a:latin typeface="Arial"/>
                <a:ea typeface="Arial"/>
                <a:cs typeface="Arial"/>
              </a:rPr>
              <a:t>Population adjustment changes which states stand out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124a065e7624408"/>
          <a:stretch xmlns:a="http://schemas.openxmlformats.org/drawingml/2006/main"/>
        </p:blipFill>
        <p:spPr>
          <a:xfrm xmlns:a="http://schemas.openxmlformats.org/drawingml/2006/main">
            <a:off x="541144" y="1352550"/>
            <a:ext cx="720446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1F0A350-B9F9-4F67-8E57-8BB67375BAC1}"/>
              </a:ext>
            </a:extLst>
          </p:cNvPr>
          <p:cNvSpPr>
            <a:spLocks xmlns:a="http://schemas.openxmlformats.org/drawingml/2006/main" noGrp="1"/>
          </p:cNvSpPr>
          <p:nvPr/>
        </p:nvSpPr>
        <p:spPr>
          <a:xfrm xmlns:a="http://schemas.openxmlformats.org/drawingml/2006/main">
            <a:off x="8172450" y="1428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545"/>
          </a:bodyPr>
          <a:lstStyle xmlns:a="http://schemas.openxmlformats.org/drawingml/2006/main"/>
          <a:p xmlns:a="http://schemas.openxmlformats.org/drawingml/2006/main">
            <a:pPr>
              <a:defRPr sz="1575" b="1">
                <a:solidFill>
                  <a:srgbClr val="17324D"/>
                </a:solidFill>
                <a:latin typeface="Arial"/>
                <a:ea typeface="Arial"/>
                <a:cs typeface="Arial"/>
              </a:defRPr>
            </a:pPr>
            <a:r>
              <a:rPr sz="1575" b="1">
                <a:solidFill>
                  <a:srgbClr val="17324D"/>
                </a:solidFill>
                <a:latin typeface="Arial"/>
                <a:ea typeface="Arial"/>
                <a:cs typeface="Arial"/>
              </a:rPr>
              <a:t>Raw and normalized top 10 overlap</a:t>
            </a:r>
          </a:p>
        </p:txBody>
      </p:sp>
      <p:sp>
        <p:nvSpPr>
          <p:cNvPr id="6" name="">
            <a:extLst xmlns:a="http://schemas.openxmlformats.org/drawingml/2006/main">
              <a:ext uri="{FF2B5EF4-FFF2-40B4-BE49-F238E27FC236}">
                <a16:creationId xmlns:a16="http://schemas.microsoft.com/office/drawing/2014/main" id="{0C38B3FC-B247-4982-A457-185A0BDC7550}"/>
              </a:ext>
            </a:extLst>
          </p:cNvPr>
          <p:cNvSpPr>
            <a:spLocks xmlns:a="http://schemas.openxmlformats.org/drawingml/2006/main" noGrp="1"/>
          </p:cNvSpPr>
          <p:nvPr/>
        </p:nvSpPr>
        <p:spPr>
          <a:xfrm xmlns:a="http://schemas.openxmlformats.org/drawingml/2006/main">
            <a:off x="8172450" y="1876425"/>
            <a:ext cx="1381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4472C4"/>
                </a:solidFill>
                <a:latin typeface="Arial"/>
                <a:ea typeface="Arial"/>
                <a:cs typeface="Arial"/>
              </a:defRPr>
            </a:pPr>
            <a:r>
              <a:rPr sz="2925" b="1">
                <a:solidFill>
                  <a:srgbClr val="4472C4"/>
                </a:solidFill>
                <a:latin typeface="Arial"/>
                <a:ea typeface="Arial"/>
                <a:cs typeface="Arial"/>
              </a:rPr>
              <a:t>6 of 10</a:t>
            </a:r>
          </a:p>
        </p:txBody>
      </p:sp>
      <p:sp>
        <p:nvSpPr>
          <p:cNvPr id="7" name="">
            <a:extLst xmlns:a="http://schemas.openxmlformats.org/drawingml/2006/main">
              <a:ext uri="{FF2B5EF4-FFF2-40B4-BE49-F238E27FC236}">
                <a16:creationId xmlns:a16="http://schemas.microsoft.com/office/drawing/2014/main" id="{916910A9-CC0C-4532-A1D7-BB0F66923792}"/>
              </a:ext>
            </a:extLst>
          </p:cNvPr>
          <p:cNvSpPr>
            <a:spLocks xmlns:a="http://schemas.openxmlformats.org/drawingml/2006/main" noGrp="1"/>
          </p:cNvSpPr>
          <p:nvPr/>
        </p:nvSpPr>
        <p:spPr>
          <a:xfrm xmlns:a="http://schemas.openxmlformats.org/drawingml/2006/main">
            <a:off x="8172450" y="2381250"/>
            <a:ext cx="1666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20303C"/>
                </a:solidFill>
                <a:latin typeface="Arial"/>
                <a:ea typeface="Arial"/>
                <a:cs typeface="Arial"/>
              </a:defRPr>
            </a:pPr>
            <a:r>
              <a:rPr sz="1200" b="0">
                <a:solidFill>
                  <a:srgbClr val="20303C"/>
                </a:solidFill>
                <a:latin typeface="Arial"/>
                <a:ea typeface="Arial"/>
                <a:cs typeface="Arial"/>
              </a:rPr>
              <a:t>Known Replacement</a:t>
            </a:r>
          </a:p>
        </p:txBody>
      </p:sp>
      <p:sp>
        <p:nvSpPr>
          <p:cNvPr id="8" name="">
            <a:extLst xmlns:a="http://schemas.openxmlformats.org/drawingml/2006/main">
              <a:ext uri="{FF2B5EF4-FFF2-40B4-BE49-F238E27FC236}">
                <a16:creationId xmlns:a16="http://schemas.microsoft.com/office/drawing/2014/main" id="{14D0F487-DBB0-4A96-B440-89072CE57FA3}"/>
              </a:ext>
            </a:extLst>
          </p:cNvPr>
          <p:cNvSpPr>
            <a:spLocks xmlns:a="http://schemas.openxmlformats.org/drawingml/2006/main" noGrp="1"/>
          </p:cNvSpPr>
          <p:nvPr/>
        </p:nvSpPr>
        <p:spPr>
          <a:xfrm xmlns:a="http://schemas.openxmlformats.org/drawingml/2006/main">
            <a:off x="9906000" y="1876425"/>
            <a:ext cx="1381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07F2F"/>
                </a:solidFill>
                <a:latin typeface="Arial"/>
                <a:ea typeface="Arial"/>
                <a:cs typeface="Arial"/>
              </a:defRPr>
            </a:pPr>
            <a:r>
              <a:rPr sz="2925" b="1">
                <a:solidFill>
                  <a:srgbClr val="F07F2F"/>
                </a:solidFill>
                <a:latin typeface="Arial"/>
                <a:ea typeface="Arial"/>
                <a:cs typeface="Arial"/>
              </a:rPr>
              <a:t>3 of 10</a:t>
            </a:r>
          </a:p>
        </p:txBody>
      </p:sp>
      <p:sp>
        <p:nvSpPr>
          <p:cNvPr id="9" name="">
            <a:extLst xmlns:a="http://schemas.openxmlformats.org/drawingml/2006/main">
              <a:ext uri="{FF2B5EF4-FFF2-40B4-BE49-F238E27FC236}">
                <a16:creationId xmlns:a16="http://schemas.microsoft.com/office/drawing/2014/main" id="{D63C687B-5180-40DB-AAB4-7A8C2ACAC132}"/>
              </a:ext>
            </a:extLst>
          </p:cNvPr>
          <p:cNvSpPr>
            <a:spLocks xmlns:a="http://schemas.openxmlformats.org/drawingml/2006/main" noGrp="1"/>
          </p:cNvSpPr>
          <p:nvPr/>
        </p:nvSpPr>
        <p:spPr>
          <a:xfrm xmlns:a="http://schemas.openxmlformats.org/drawingml/2006/main">
            <a:off x="9925050" y="2381250"/>
            <a:ext cx="1381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20303C"/>
                </a:solidFill>
                <a:latin typeface="Arial"/>
                <a:ea typeface="Arial"/>
                <a:cs typeface="Arial"/>
              </a:defRPr>
            </a:pPr>
            <a:r>
              <a:rPr sz="1200" b="0">
                <a:solidFill>
                  <a:srgbClr val="20303C"/>
                </a:solidFill>
                <a:latin typeface="Arial"/>
                <a:ea typeface="Arial"/>
                <a:cs typeface="Arial"/>
              </a:rPr>
              <a:t>Unknown</a:t>
            </a:r>
          </a:p>
        </p:txBody>
      </p:sp>
      <p:sp>
        <p:nvSpPr>
          <p:cNvPr id="10" name="">
            <a:extLst xmlns:a="http://schemas.openxmlformats.org/drawingml/2006/main">
              <a:ext uri="{FF2B5EF4-FFF2-40B4-BE49-F238E27FC236}">
                <a16:creationId xmlns:a16="http://schemas.microsoft.com/office/drawing/2014/main" id="{F3A1FD41-77E4-4F1D-8CEB-7606E70AA385}"/>
              </a:ext>
            </a:extLst>
          </p:cNvPr>
          <p:cNvSpPr>
            <a:spLocks xmlns:a="http://schemas.openxmlformats.org/drawingml/2006/main" noGrp="1"/>
          </p:cNvSpPr>
          <p:nvPr/>
        </p:nvSpPr>
        <p:spPr>
          <a:xfrm xmlns:a="http://schemas.openxmlformats.org/drawingml/2006/main">
            <a:off x="8172450" y="29241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17324D"/>
                </a:solidFill>
                <a:latin typeface="Arial"/>
                <a:ea typeface="Arial"/>
                <a:cs typeface="Arial"/>
              </a:defRPr>
            </a:pPr>
            <a:r>
              <a:rPr sz="1500" b="1">
                <a:solidFill>
                  <a:srgbClr val="17324D"/>
                </a:solidFill>
                <a:latin typeface="Arial"/>
                <a:ea typeface="Arial"/>
                <a:cs typeface="Arial"/>
              </a:rPr>
              <a:t>How to read the two views</a:t>
            </a:r>
          </a:p>
        </p:txBody>
      </p:sp>
      <p:sp>
        <p:nvSpPr>
          <p:cNvPr id="11" name="">
            <a:extLst xmlns:a="http://schemas.openxmlformats.org/drawingml/2006/main">
              <a:ext uri="{FF2B5EF4-FFF2-40B4-BE49-F238E27FC236}">
                <a16:creationId xmlns:a16="http://schemas.microsoft.com/office/drawing/2014/main" id="{AAB46A52-DAAA-418F-BE6F-03F94FA87126}"/>
              </a:ext>
            </a:extLst>
          </p:cNvPr>
          <p:cNvSpPr>
            <a:spLocks xmlns:a="http://schemas.openxmlformats.org/drawingml/2006/main" noGrp="1"/>
          </p:cNvSpPr>
          <p:nvPr/>
        </p:nvSpPr>
        <p:spPr>
          <a:xfrm xmlns:a="http://schemas.openxmlformats.org/drawingml/2006/main">
            <a:off x="8172450" y="3276600"/>
            <a:ext cx="323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20303C"/>
                </a:solidFill>
                <a:latin typeface="Arial"/>
                <a:ea typeface="Arial"/>
                <a:cs typeface="Arial"/>
              </a:defRPr>
            </a:pPr>
            <a:r>
              <a:rPr sz="1350" b="0">
                <a:solidFill>
                  <a:srgbClr val="20303C"/>
                </a:solidFill>
                <a:latin typeface="Arial"/>
                <a:ea typeface="Arial"/>
                <a:cs typeface="Arial"/>
              </a:rPr>
              <a:t>Raw totals show overall workload. Per-capita values show inventory relative to state population.</a:t>
            </a:r>
          </a:p>
        </p:txBody>
      </p:sp>
      <p:sp>
        <p:nvSpPr>
          <p:cNvPr id="12" name="">
            <a:extLst xmlns:a="http://schemas.openxmlformats.org/drawingml/2006/main">
              <a:ext uri="{FF2B5EF4-FFF2-40B4-BE49-F238E27FC236}">
                <a16:creationId xmlns:a16="http://schemas.microsoft.com/office/drawing/2014/main" id="{C62E0644-3702-4CE9-9071-BD905AB0E364}"/>
              </a:ext>
            </a:extLst>
          </p:cNvPr>
          <p:cNvSpPr>
            <a:spLocks xmlns:a="http://schemas.openxmlformats.org/drawingml/2006/main" noGrp="1"/>
          </p:cNvSpPr>
          <p:nvPr/>
        </p:nvSpPr>
        <p:spPr>
          <a:xfrm xmlns:a="http://schemas.openxmlformats.org/drawingml/2006/main">
            <a:off x="8172450" y="42672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70AD47"/>
                </a:solidFill>
                <a:latin typeface="Arial"/>
                <a:ea typeface="Arial"/>
                <a:cs typeface="Arial"/>
              </a:defRPr>
            </a:pPr>
            <a:r>
              <a:rPr sz="1500" b="1">
                <a:solidFill>
                  <a:srgbClr val="70AD47"/>
                </a:solidFill>
                <a:latin typeface="Arial"/>
                <a:ea typeface="Arial"/>
                <a:cs typeface="Arial"/>
              </a:rPr>
              <a:t>Practical implication</a:t>
            </a:r>
          </a:p>
        </p:txBody>
      </p:sp>
      <p:sp>
        <p:nvSpPr>
          <p:cNvPr id="13" name="">
            <a:extLst xmlns:a="http://schemas.openxmlformats.org/drawingml/2006/main">
              <a:ext uri="{FF2B5EF4-FFF2-40B4-BE49-F238E27FC236}">
                <a16:creationId xmlns:a16="http://schemas.microsoft.com/office/drawing/2014/main" id="{53432A46-6CC7-45BA-8A7A-4955F39D8F87}"/>
              </a:ext>
            </a:extLst>
          </p:cNvPr>
          <p:cNvSpPr>
            <a:spLocks xmlns:a="http://schemas.openxmlformats.org/drawingml/2006/main" noGrp="1"/>
          </p:cNvSpPr>
          <p:nvPr/>
        </p:nvSpPr>
        <p:spPr>
          <a:xfrm xmlns:a="http://schemas.openxmlformats.org/drawingml/2006/main">
            <a:off x="8172450" y="4591050"/>
            <a:ext cx="323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25"/>
          </a:bodyPr>
          <a:lstStyle xmlns:a="http://schemas.openxmlformats.org/drawingml/2006/main"/>
          <a:p xmlns:a="http://schemas.openxmlformats.org/drawingml/2006/main">
            <a:pPr>
              <a:defRPr sz="1350" b="0">
                <a:solidFill>
                  <a:srgbClr val="20303C"/>
                </a:solidFill>
                <a:latin typeface="Arial"/>
                <a:ea typeface="Arial"/>
                <a:cs typeface="Arial"/>
              </a:defRPr>
            </a:pPr>
            <a:r>
              <a:rPr sz="1350" b="0">
                <a:solidFill>
                  <a:srgbClr val="20303C"/>
                </a:solidFill>
                <a:latin typeface="Arial"/>
                <a:ea typeface="Arial"/>
                <a:cs typeface="Arial"/>
              </a:rPr>
              <a:t>Use both views to identify where deeper utility-level investigation may be valuable.</a:t>
            </a:r>
          </a:p>
        </p:txBody>
      </p:sp>
      <p:sp>
        <p:nvSpPr>
          <p:cNvPr id="14" name="">
            <a:extLst xmlns:a="http://schemas.openxmlformats.org/drawingml/2006/main">
              <a:ext uri="{FF2B5EF4-FFF2-40B4-BE49-F238E27FC236}">
                <a16:creationId xmlns:a16="http://schemas.microsoft.com/office/drawing/2014/main" id="{6006A33D-81B3-4154-B26B-ED6D1DE00A33}"/>
              </a:ext>
            </a:extLst>
          </p:cNvPr>
          <p:cNvSpPr>
            <a:spLocks xmlns:a="http://schemas.openxmlformats.org/drawingml/2006/main" noGrp="1"/>
          </p:cNvSpPr>
          <p:nvPr/>
        </p:nvSpPr>
        <p:spPr>
          <a:xfrm xmlns:a="http://schemas.openxmlformats.org/drawingml/2006/main">
            <a:off x="8172450" y="54102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7F2F"/>
                </a:solidFill>
                <a:latin typeface="Arial"/>
                <a:ea typeface="Arial"/>
                <a:cs typeface="Arial"/>
              </a:defRPr>
            </a:pPr>
            <a:r>
              <a:rPr sz="1500" b="1">
                <a:solidFill>
                  <a:srgbClr val="F07F2F"/>
                </a:solidFill>
                <a:latin typeface="Arial"/>
                <a:ea typeface="Arial"/>
                <a:cs typeface="Arial"/>
              </a:rPr>
              <a:t>Important limitation</a:t>
            </a:r>
          </a:p>
        </p:txBody>
      </p:sp>
      <p:sp>
        <p:nvSpPr>
          <p:cNvPr id="15" name="">
            <a:extLst xmlns:a="http://schemas.openxmlformats.org/drawingml/2006/main">
              <a:ext uri="{FF2B5EF4-FFF2-40B4-BE49-F238E27FC236}">
                <a16:creationId xmlns:a16="http://schemas.microsoft.com/office/drawing/2014/main" id="{53EB272D-F2A2-42D9-AA2E-2BB2829876CA}"/>
              </a:ext>
            </a:extLst>
          </p:cNvPr>
          <p:cNvSpPr>
            <a:spLocks xmlns:a="http://schemas.openxmlformats.org/drawingml/2006/main" noGrp="1"/>
          </p:cNvSpPr>
          <p:nvPr/>
        </p:nvSpPr>
        <p:spPr>
          <a:xfrm xmlns:a="http://schemas.openxmlformats.org/drawingml/2006/main">
            <a:off x="8172450" y="57245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666"/>
          </a:bodyPr>
          <a:lstStyle xmlns:a="http://schemas.openxmlformats.org/drawingml/2006/main"/>
          <a:p xmlns:a="http://schemas.openxmlformats.org/drawingml/2006/main">
            <a:pPr>
              <a:defRPr sz="1200" b="0">
                <a:solidFill>
                  <a:srgbClr val="20303C"/>
                </a:solidFill>
                <a:latin typeface="Arial"/>
                <a:ea typeface="Arial"/>
                <a:cs typeface="Arial"/>
              </a:defRPr>
            </a:pPr>
            <a:r>
              <a:rPr sz="1200" b="0">
                <a:solidFill>
                  <a:srgbClr val="20303C"/>
                </a:solidFill>
                <a:latin typeface="Arial"/>
                <a:ea typeface="Arial"/>
                <a:cs typeface="Arial"/>
              </a:rPr>
              <a:t>Unknown does not mean lead. State inventories do not measure household exposure or water quality.</a:t>
            </a:r>
          </a:p>
        </p:txBody>
      </p:sp>
      <p:sp>
        <p:nvSpPr>
          <p:cNvPr id="16" name="">
            <a:extLst xmlns:a="http://schemas.openxmlformats.org/drawingml/2006/main">
              <a:ext uri="{FF2B5EF4-FFF2-40B4-BE49-F238E27FC236}">
                <a16:creationId xmlns:a16="http://schemas.microsoft.com/office/drawing/2014/main" id="{BBBB05FF-6310-4D82-BDF2-D70C36E4BA69}"/>
              </a:ext>
            </a:extLst>
          </p:cNvPr>
          <p:cNvSpPr>
            <a:spLocks xmlns:a="http://schemas.openxmlformats.org/drawingml/2006/main" noGrp="1"/>
          </p:cNvSpPr>
          <p:nvPr/>
        </p:nvSpPr>
        <p:spPr>
          <a:xfrm xmlns:a="http://schemas.openxmlformats.org/drawingml/2006/main">
            <a:off x="628650" y="61531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39"/>
          </a:bodyPr>
          <a:lstStyle xmlns:a="http://schemas.openxmlformats.org/drawingml/2006/main"/>
          <a:p xmlns:a="http://schemas.openxmlformats.org/drawingml/2006/main">
            <a:pPr>
              <a:defRPr sz="1050" b="1">
                <a:solidFill>
                  <a:srgbClr val="17324D"/>
                </a:solidFill>
                <a:latin typeface="Arial"/>
                <a:ea typeface="Arial"/>
                <a:cs typeface="Arial"/>
              </a:defRPr>
            </a:pPr>
            <a:r>
              <a:rPr sz="1050" b="1">
                <a:solidFill>
                  <a:srgbClr val="17324D"/>
                </a:solidFill>
                <a:latin typeface="Arial"/>
                <a:ea typeface="Arial"/>
                <a:cs typeface="Arial"/>
              </a:rPr>
              <a:t>Recommended next question: How do state and utility needs align with available funding and local capacity to complete service-line replacement?</a:t>
            </a:r>
          </a:p>
        </p:txBody>
      </p:sp>
      <p:sp>
        <p:nvSpPr>
          <p:cNvPr id="17" name="">
            <a:extLst xmlns:a="http://schemas.openxmlformats.org/drawingml/2006/main">
              <a:ext uri="{FF2B5EF4-FFF2-40B4-BE49-F238E27FC236}">
                <a16:creationId xmlns:a16="http://schemas.microsoft.com/office/drawing/2014/main" id="{D46C52A4-E1A4-4F07-BA94-D262B2DDC0A6}"/>
              </a:ext>
            </a:extLst>
          </p:cNvPr>
          <p:cNvSpPr>
            <a:spLocks xmlns:a="http://schemas.openxmlformats.org/drawingml/2006/main" noGrp="1"/>
          </p:cNvSpPr>
          <p:nvPr/>
        </p:nvSpPr>
        <p:spPr>
          <a:xfrm xmlns:a="http://schemas.openxmlformats.org/drawingml/2006/main">
            <a:off x="628650" y="6496050"/>
            <a:ext cx="10934700" cy="9525"/>
          </a:xfrm>
          <a:prstGeom xmlns:a="http://schemas.openxmlformats.org/drawingml/2006/main" prst="rect">
            <a:avLst/>
          </a:prstGeom>
          <a:solidFill xmlns:a="http://schemas.openxmlformats.org/drawingml/2006/main">
            <a:srgbClr val="D6DE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D00956-EA09-4FEF-9E46-46CB06180542}"/>
              </a:ext>
            </a:extLst>
          </p:cNvPr>
          <p:cNvSpPr>
            <a:spLocks xmlns:a="http://schemas.openxmlformats.org/drawingml/2006/main" noGrp="1"/>
          </p:cNvSpPr>
          <p:nvPr/>
        </p:nvSpPr>
        <p:spPr>
          <a:xfrm xmlns:a="http://schemas.openxmlformats.org/drawingml/2006/main">
            <a:off x="628650" y="65532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5D6B74"/>
                </a:solidFill>
                <a:latin typeface="Arial"/>
                <a:ea typeface="Arial"/>
                <a:cs typeface="Arial"/>
              </a:defRPr>
            </a:pPr>
            <a:r>
              <a:rPr sz="825" b="0">
                <a:solidFill>
                  <a:srgbClr val="5D6B74"/>
                </a:solidFill>
                <a:latin typeface="Arial"/>
                <a:ea typeface="Arial"/>
                <a:cs typeface="Arial"/>
              </a:rPr>
              <a:t>Sources: U.S. EPA 2026 Q2 inventory; U.S. Census Bureau July 1, 2025 resident population estimates</a:t>
            </a:r>
          </a:p>
        </p:txBody>
      </p:sp>
      <p:sp>
        <p:nvSpPr>
          <p:cNvPr id="19" name="">
            <a:extLst xmlns:a="http://schemas.openxmlformats.org/drawingml/2006/main">
              <a:ext uri="{FF2B5EF4-FFF2-40B4-BE49-F238E27FC236}">
                <a16:creationId xmlns:a16="http://schemas.microsoft.com/office/drawing/2014/main" id="{B0D06AB6-A427-4B43-91D1-74DF1AFE97A6}"/>
              </a:ext>
            </a:extLst>
          </p:cNvPr>
          <p:cNvSpPr>
            <a:spLocks xmlns:a="http://schemas.openxmlformats.org/drawingml/2006/main" noGrp="1"/>
          </p:cNvSpPr>
          <p:nvPr/>
        </p:nvSpPr>
        <p:spPr>
          <a:xfrm xmlns:a="http://schemas.openxmlformats.org/drawingml/2006/main">
            <a:off x="11096625" y="654367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0">
                <a:solidFill>
                  <a:srgbClr val="5D6B74"/>
                </a:solidFill>
                <a:latin typeface="Arial"/>
                <a:ea typeface="Arial"/>
                <a:cs typeface="Arial"/>
              </a:defRPr>
            </a:pPr>
            <a:r>
              <a:rPr sz="825" b="0">
                <a:solidFill>
                  <a:srgbClr val="5D6B74"/>
                </a:solidFill>
                <a:latin typeface="Arial"/>
                <a:ea typeface="Arial"/>
                <a:cs typeface="Arial"/>
              </a:rPr>
              <a:t>5</a:t>
            </a:r>
          </a:p>
        </p:txBody>
      </p:sp>
    </p:spTree>
    <p:extLst>
      <p:ext uri="{BB962C8B-B14F-4D97-AF65-F5344CB8AC3E}">
        <p14:creationId xmlns:p14="http://schemas.microsoft.com/office/powerpoint/2010/main" val="1481700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2026-09-17T23:53:52.3530000Z</dcterms:created>
  <dcterms:modified xsi:type="dcterms:W3CDTF">2026-09-17T23:53:52.3530000Z</dcterms:modified>
</coreProperties>
</file>