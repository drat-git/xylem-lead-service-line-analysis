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96186"/>
          <c:y val="0.0776158"/>
          <c:w val="0.975381"/>
          <c:h val="0.883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21589524.000000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3115308.000000</c:v>
                </c:pt>
              </c:numCache>
            </c:numRef>
          </c:val>
        </c:ser>
        <c:gapWidth val="0"/>
        <c:overlap val="-7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5.5e+06"/>
        <c:minorUnit val="2.75e+06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672210.000000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529706.000000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114501.000000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2178881.000000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113717.000000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2055512.000000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321502.000000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878788.000000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289055.000000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951163.000000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1777"/>
          <c:y val="0.0287333"/>
          <c:w val="0.895416"/>
          <c:h val="0.87362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states</c:v>
                </c:pt>
              </c:strCache>
            </c:strRef>
          </c:tx>
          <c:spPr>
            <a:solidFill>
              <a:srgbClr val="BEC8CE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5"/>
            <c:spPr>
              <a:solidFill>
                <a:srgbClr val="BEC8CE"/>
              </a:solidFill>
              <a:ln w="12700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Sheet1!$B$2:$B$47</c:f>
              <c:numCache>
                <c:ptCount val="46"/>
                <c:pt idx="0">
                  <c:v>69230.000000</c:v>
                </c:pt>
                <c:pt idx="1">
                  <c:v>16.000000</c:v>
                </c:pt>
                <c:pt idx="2">
                  <c:v>2812.000000</c:v>
                </c:pt>
                <c:pt idx="3">
                  <c:v>11569.000000</c:v>
                </c:pt>
                <c:pt idx="4">
                  <c:v>12839.000000</c:v>
                </c:pt>
                <c:pt idx="5">
                  <c:v>21412.000000</c:v>
                </c:pt>
                <c:pt idx="6">
                  <c:v>13171.000000</c:v>
                </c:pt>
                <c:pt idx="7">
                  <c:v>6292.000000</c:v>
                </c:pt>
                <c:pt idx="8">
                  <c:v>17155.000000</c:v>
                </c:pt>
                <c:pt idx="9">
                  <c:v>44559.000000</c:v>
                </c:pt>
                <c:pt idx="10">
                  <c:v>50342.000000</c:v>
                </c:pt>
                <c:pt idx="11">
                  <c:v>490.000000</c:v>
                </c:pt>
                <c:pt idx="12">
                  <c:v>2769.000000</c:v>
                </c:pt>
                <c:pt idx="13">
                  <c:v>190947.000000</c:v>
                </c:pt>
                <c:pt idx="14">
                  <c:v>67950.000000</c:v>
                </c:pt>
                <c:pt idx="15">
                  <c:v>26807.000000</c:v>
                </c:pt>
                <c:pt idx="16">
                  <c:v>28036.000000</c:v>
                </c:pt>
                <c:pt idx="17">
                  <c:v>20558.000000</c:v>
                </c:pt>
                <c:pt idx="18">
                  <c:v>1599.000000</c:v>
                </c:pt>
                <c:pt idx="19">
                  <c:v>3136.000000</c:v>
                </c:pt>
                <c:pt idx="20">
                  <c:v>41737.000000</c:v>
                </c:pt>
                <c:pt idx="21">
                  <c:v>255524.000000</c:v>
                </c:pt>
                <c:pt idx="22">
                  <c:v>87183.000000</c:v>
                </c:pt>
                <c:pt idx="23">
                  <c:v>23670.000000</c:v>
                </c:pt>
                <c:pt idx="24">
                  <c:v>70968.000000</c:v>
                </c:pt>
                <c:pt idx="25">
                  <c:v>3220.000000</c:v>
                </c:pt>
                <c:pt idx="26">
                  <c:v>48712.000000</c:v>
                </c:pt>
                <c:pt idx="27">
                  <c:v>1091.000000</c:v>
                </c:pt>
                <c:pt idx="28">
                  <c:v>260.000000</c:v>
                </c:pt>
                <c:pt idx="29">
                  <c:v>135360.000000</c:v>
                </c:pt>
                <c:pt idx="30">
                  <c:v>331.000000</c:v>
                </c:pt>
                <c:pt idx="31">
                  <c:v>12934.000000</c:v>
                </c:pt>
                <c:pt idx="32">
                  <c:v>5658.000000</c:v>
                </c:pt>
                <c:pt idx="33">
                  <c:v>14244.000000</c:v>
                </c:pt>
                <c:pt idx="34">
                  <c:v>0.000000</c:v>
                </c:pt>
                <c:pt idx="35">
                  <c:v>31489.000000</c:v>
                </c:pt>
                <c:pt idx="36">
                  <c:v>19245.000000</c:v>
                </c:pt>
                <c:pt idx="37">
                  <c:v>2697.000000</c:v>
                </c:pt>
                <c:pt idx="38">
                  <c:v>64134.000000</c:v>
                </c:pt>
                <c:pt idx="39">
                  <c:v>898.000000</c:v>
                </c:pt>
                <c:pt idx="40">
                  <c:v>1910.000000</c:v>
                </c:pt>
                <c:pt idx="41">
                  <c:v>13819.000000</c:v>
                </c:pt>
                <c:pt idx="42">
                  <c:v>6922.000000</c:v>
                </c:pt>
                <c:pt idx="43">
                  <c:v>8398.000000</c:v>
                </c:pt>
                <c:pt idx="44">
                  <c:v>158815.000000</c:v>
                </c:pt>
                <c:pt idx="45">
                  <c:v>3415.000000</c:v>
                </c:pt>
              </c:numCache>
            </c:numRef>
          </c:xVal>
          <c:yVal>
            <c:numRef>
              <c:f>Sheet1!$C$2:$C$47</c:f>
              <c:numCache>
                <c:ptCount val="46"/>
                <c:pt idx="0">
                  <c:v>192502.000000</c:v>
                </c:pt>
                <c:pt idx="1">
                  <c:v>25945.000000</c:v>
                </c:pt>
                <c:pt idx="2">
                  <c:v>704381.000000</c:v>
                </c:pt>
                <c:pt idx="3">
                  <c:v>477926.000000</c:v>
                </c:pt>
                <c:pt idx="4">
                  <c:v>599523.000000</c:v>
                </c:pt>
                <c:pt idx="5">
                  <c:v>141284.000000</c:v>
                </c:pt>
                <c:pt idx="6">
                  <c:v>281092.000000</c:v>
                </c:pt>
                <c:pt idx="7">
                  <c:v>113360.000000</c:v>
                </c:pt>
                <c:pt idx="8">
                  <c:v>13427.000000</c:v>
                </c:pt>
                <c:pt idx="9">
                  <c:v>1665928.000000</c:v>
                </c:pt>
                <c:pt idx="10">
                  <c:v>630117.000000</c:v>
                </c:pt>
                <c:pt idx="11">
                  <c:v>34235.000000</c:v>
                </c:pt>
                <c:pt idx="12">
                  <c:v>96673.000000</c:v>
                </c:pt>
                <c:pt idx="13">
                  <c:v>545507.000000</c:v>
                </c:pt>
                <c:pt idx="14">
                  <c:v>180539.000000</c:v>
                </c:pt>
                <c:pt idx="15">
                  <c:v>106076.000000</c:v>
                </c:pt>
                <c:pt idx="16">
                  <c:v>424074.000000</c:v>
                </c:pt>
                <c:pt idx="17">
                  <c:v>719101.000000</c:v>
                </c:pt>
                <c:pt idx="18">
                  <c:v>41662.000000</c:v>
                </c:pt>
                <c:pt idx="19">
                  <c:v>563397.000000</c:v>
                </c:pt>
                <c:pt idx="20">
                  <c:v>349967.000000</c:v>
                </c:pt>
                <c:pt idx="21">
                  <c:v>301508.000000</c:v>
                </c:pt>
                <c:pt idx="22">
                  <c:v>209216.000000</c:v>
                </c:pt>
                <c:pt idx="23">
                  <c:v>161821.000000</c:v>
                </c:pt>
                <c:pt idx="24">
                  <c:v>895013.000000</c:v>
                </c:pt>
                <c:pt idx="25">
                  <c:v>65847.000000</c:v>
                </c:pt>
                <c:pt idx="26">
                  <c:v>88447.000000</c:v>
                </c:pt>
                <c:pt idx="27">
                  <c:v>128987.000000</c:v>
                </c:pt>
                <c:pt idx="28">
                  <c:v>3041.000000</c:v>
                </c:pt>
                <c:pt idx="29">
                  <c:v>860857.000000</c:v>
                </c:pt>
                <c:pt idx="30">
                  <c:v>327310.000000</c:v>
                </c:pt>
                <c:pt idx="31">
                  <c:v>798785.000000</c:v>
                </c:pt>
                <c:pt idx="32">
                  <c:v>97950.000000</c:v>
                </c:pt>
                <c:pt idx="33">
                  <c:v>623329.000000</c:v>
                </c:pt>
                <c:pt idx="34">
                  <c:v>27093.000000</c:v>
                </c:pt>
                <c:pt idx="35">
                  <c:v>55695.000000</c:v>
                </c:pt>
                <c:pt idx="36">
                  <c:v>348969.000000</c:v>
                </c:pt>
                <c:pt idx="37">
                  <c:v>96462.000000</c:v>
                </c:pt>
                <c:pt idx="38">
                  <c:v>621686.000000</c:v>
                </c:pt>
                <c:pt idx="39">
                  <c:v>95149.000000</c:v>
                </c:pt>
                <c:pt idx="40">
                  <c:v>36284.000000</c:v>
                </c:pt>
                <c:pt idx="41">
                  <c:v>529417.000000</c:v>
                </c:pt>
                <c:pt idx="42">
                  <c:v>220180.000000</c:v>
                </c:pt>
                <c:pt idx="43">
                  <c:v>232026.000000</c:v>
                </c:pt>
                <c:pt idx="44">
                  <c:v>182814.000000</c:v>
                </c:pt>
                <c:pt idx="45">
                  <c:v>80872.000000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Illinois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0"/>
            <c:spPr>
              <a:solidFill>
                <a:srgbClr val="3F73C7"/>
              </a:solidFill>
              <a:ln w="12700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Sheet1!$D$2:$D$2</c:f>
              <c:numCache>
                <c:ptCount val="1"/>
                <c:pt idx="0">
                  <c:v>672210.000000</c:v>
                </c:pt>
              </c:numCache>
            </c:numRef>
          </c:xVal>
          <c:yVal>
            <c:numRef>
              <c:f>Sheet1!$E$2:$E$2</c:f>
              <c:numCache>
                <c:ptCount val="1"/>
                <c:pt idx="0">
                  <c:v>529706.000000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Identification examples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0"/>
            <c:spPr>
              <a:solidFill>
                <a:srgbClr val="F07C2B"/>
              </a:solidFill>
              <a:ln w="12700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Sheet1!$F$2:$F$3</c:f>
              <c:numCache>
                <c:ptCount val="2"/>
                <c:pt idx="0">
                  <c:v>114501.000000</c:v>
                </c:pt>
                <c:pt idx="1">
                  <c:v>113717.000000</c:v>
                </c:pt>
              </c:numCache>
            </c:numRef>
          </c:xVal>
          <c:yVal>
            <c:numRef>
              <c:f>Sheet1!$G$2:$G$3</c:f>
              <c:numCache>
                <c:ptCount val="2"/>
                <c:pt idx="0">
                  <c:v>2178881.000000</c:v>
                </c:pt>
                <c:pt idx="1">
                  <c:v>2055512.000000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High on both</c:v>
                </c:pt>
              </c:strCache>
            </c:strRef>
          </c:tx>
          <c:spPr>
            <a:solidFill>
              <a:srgbClr val="102A43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0"/>
            <c:spPr>
              <a:solidFill>
                <a:srgbClr val="102A43"/>
              </a:solidFill>
              <a:ln w="12700" cap="flat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Sheet1!$H$2:$H$3</c:f>
              <c:numCache>
                <c:ptCount val="2"/>
                <c:pt idx="0">
                  <c:v>321502.000000</c:v>
                </c:pt>
                <c:pt idx="1">
                  <c:v>289055.000000</c:v>
                </c:pt>
              </c:numCache>
            </c:numRef>
          </c:xVal>
          <c:yVal>
            <c:numRef>
              <c:f>Sheet1!$I$2:$I$3</c:f>
              <c:numCache>
                <c:ptCount val="2"/>
                <c:pt idx="0">
                  <c:v>878788.000000</c:v>
                </c:pt>
                <c:pt idx="1">
                  <c:v>951163.000000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b="1" i="0" strike="noStrike" sz="1000" u="none">
                    <a:solidFill>
                      <a:srgbClr val="23333F"/>
                    </a:solidFill>
                    <a:latin typeface="Arial"/>
                  </a:defRPr>
                </a:pPr>
                <a:r>
                  <a:rPr b="1" i="0" strike="noStrike" sz="1000" u="none">
                    <a:solidFill>
                      <a:srgbClr val="23333F"/>
                    </a:solidFill>
                    <a:latin typeface="Arial"/>
                  </a:rPr>
                  <a:t>Known Replacement Inventory</a:t>
                </a:r>
              </a:p>
            </c:rich>
          </c:tx>
          <c:layout/>
          <c:overlay val="1"/>
        </c:title>
        <c:numFmt formatCode="0,&quot;k&quot;" sourceLinked="0"/>
        <c:majorTickMark val="none"/>
        <c:minorTickMark val="none"/>
        <c:tickLblPos val="nextTo"/>
        <c:spPr>
          <a:ln w="12700" cap="flat">
            <a:solidFill>
              <a:srgbClr val="D8DE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65727B"/>
                </a:solidFill>
                <a:latin typeface="Arial"/>
              </a:defRPr>
            </a:pPr>
          </a:p>
        </c:txPr>
        <c:crossAx val="2094734553"/>
        <c:crosses val="autoZero"/>
        <c:crossBetween val="between"/>
        <c:majorUnit val="102857"/>
        <c:minorUnit val="51428.6"/>
      </c:valAx>
      <c:valAx>
        <c:axId val="2094734553"/>
        <c:scaling>
          <c:orientation val="minMax"/>
          <c:max val="2.3e+06"/>
          <c:min val="0"/>
        </c:scaling>
        <c:delete val="0"/>
        <c:axPos val="l"/>
        <c:majorGridlines>
          <c:spPr>
            <a:ln w="12700" cap="flat">
              <a:solidFill>
                <a:srgbClr val="E1E6E3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1" i="0" strike="noStrike" sz="1100" u="none">
                    <a:solidFill>
                      <a:srgbClr val="102A43"/>
                    </a:solidFill>
                    <a:latin typeface="Arial"/>
                  </a:defRPr>
                </a:pPr>
                <a:r>
                  <a:rPr b="1" i="0" strike="noStrike" sz="1100" u="none">
                    <a:solidFill>
                      <a:srgbClr val="102A43"/>
                    </a:solidFill>
                    <a:latin typeface="Arial"/>
                  </a:rPr>
                  <a:t>Lead Status Unknown Service Lines</a:t>
                </a:r>
              </a:p>
            </c:rich>
          </c:tx>
          <c:layout/>
          <c:overlay val="1"/>
        </c:title>
        <c:numFmt formatCode="0.0,,&quot;M&quot;" sourceLinked="0"/>
        <c:majorTickMark val="none"/>
        <c:minorTickMark val="none"/>
        <c:tickLblPos val="nextTo"/>
        <c:spPr>
          <a:ln w="12700" cap="flat">
            <a:solidFill>
              <a:srgbClr val="D8DE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65727B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460000"/>
        <c:minorUnit val="23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" name="Shape 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" name="Shape 1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ead service line need is not one problem"/>
          <p:cNvSpPr txBox="1"/>
          <p:nvPr/>
        </p:nvSpPr>
        <p:spPr>
          <a:xfrm>
            <a:off x="750569" y="400050"/>
            <a:ext cx="10719437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service line need is not one problem</a:t>
            </a:r>
          </a:p>
        </p:txBody>
      </p:sp>
      <p:sp>
        <p:nvSpPr>
          <p:cNvPr id="21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" name="1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" name="States face different mixes of identification and replacement work"/>
          <p:cNvSpPr txBox="1"/>
          <p:nvPr/>
        </p:nvSpPr>
        <p:spPr>
          <a:xfrm>
            <a:off x="769619" y="1381125"/>
            <a:ext cx="10481312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States face different mixes of identification and replacement work</a:t>
            </a:r>
          </a:p>
        </p:txBody>
      </p:sp>
      <p:sp>
        <p:nvSpPr>
          <p:cNvPr id="24" name="Where are infrastructure needs greatest across U.S. states?"/>
          <p:cNvSpPr txBox="1"/>
          <p:nvPr/>
        </p:nvSpPr>
        <p:spPr>
          <a:xfrm>
            <a:off x="769619" y="2019300"/>
            <a:ext cx="10386062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Where are infrastructure needs greatest across U.S. states?</a:t>
            </a:r>
          </a:p>
        </p:txBody>
      </p:sp>
      <p:sp>
        <p:nvSpPr>
          <p:cNvPr id="25" name="01  IDENTIFY"/>
          <p:cNvSpPr txBox="1"/>
          <p:nvPr/>
        </p:nvSpPr>
        <p:spPr>
          <a:xfrm>
            <a:off x="788669" y="2895600"/>
            <a:ext cx="467106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  IDENTIFY</a:t>
            </a:r>
          </a:p>
        </p:txBody>
      </p:sp>
      <p:sp>
        <p:nvSpPr>
          <p:cNvPr id="26" name="Resolve Lead Status Unknown lines"/>
          <p:cNvSpPr txBox="1"/>
          <p:nvPr/>
        </p:nvSpPr>
        <p:spPr>
          <a:xfrm>
            <a:off x="788669" y="3533775"/>
            <a:ext cx="47186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Resolve Lead Status Unknown lines</a:t>
            </a:r>
          </a:p>
        </p:txBody>
      </p:sp>
      <p:sp>
        <p:nvSpPr>
          <p:cNvPr id="27" name="Identification Need…"/>
          <p:cNvSpPr txBox="1"/>
          <p:nvPr/>
        </p:nvSpPr>
        <p:spPr>
          <a:xfrm>
            <a:off x="788669" y="4076700"/>
            <a:ext cx="4671062" cy="59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Identification Need</a:t>
            </a:r>
          </a:p>
          <a:p>
            <a:pPr>
              <a:defRPr sz="17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= Lead Status Unknown</a:t>
            </a:r>
          </a:p>
        </p:txBody>
      </p:sp>
      <p:sp>
        <p:nvSpPr>
          <p:cNvPr id="28" name="02  REPLACE"/>
          <p:cNvSpPr txBox="1"/>
          <p:nvPr/>
        </p:nvSpPr>
        <p:spPr>
          <a:xfrm>
            <a:off x="6751319" y="2895600"/>
            <a:ext cx="467106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  REPLACE</a:t>
            </a:r>
          </a:p>
        </p:txBody>
      </p:sp>
      <p:sp>
        <p:nvSpPr>
          <p:cNvPr id="29" name="Act on known Lead and GRR lines"/>
          <p:cNvSpPr txBox="1"/>
          <p:nvPr/>
        </p:nvSpPr>
        <p:spPr>
          <a:xfrm>
            <a:off x="6751319" y="3533775"/>
            <a:ext cx="47186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 on known Lead and GRR lines</a:t>
            </a:r>
          </a:p>
        </p:txBody>
      </p:sp>
      <p:sp>
        <p:nvSpPr>
          <p:cNvPr id="30" name="Known Replacement Inventory…"/>
          <p:cNvSpPr txBox="1"/>
          <p:nvPr/>
        </p:nvSpPr>
        <p:spPr>
          <a:xfrm>
            <a:off x="6751319" y="4076700"/>
            <a:ext cx="4718687" cy="59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Known Replacement Inventory</a:t>
            </a:r>
          </a:p>
          <a:p>
            <a:pPr>
              <a:defRPr sz="17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= Lead + GRR</a:t>
            </a:r>
          </a:p>
        </p:txBody>
      </p:sp>
      <p:sp>
        <p:nvSpPr>
          <p:cNvPr id="31" name="Comparing states on only one measure would hide where their actual workload sits."/>
          <p:cNvSpPr txBox="1"/>
          <p:nvPr/>
        </p:nvSpPr>
        <p:spPr>
          <a:xfrm>
            <a:off x="788669" y="5381625"/>
            <a:ext cx="10481312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Comparing states on only one measure would hide where their actual workload sits.</a:t>
            </a:r>
          </a:p>
        </p:txBody>
      </p:sp>
      <p:sp>
        <p:nvSpPr>
          <p:cNvPr id="32" name="Scope: 43,993 complete-report Community Water Systems across 50 states and DC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Scope: 43,993 complete-report Community Water Systems across 50 states and DC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ost of the reported national workload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Most of the reported national workload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still unresolved identification</a:t>
            </a:r>
          </a:p>
        </p:txBody>
      </p:sp>
      <p:sp>
        <p:nvSpPr>
          <p:cNvPr id="37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2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" name="National inventory within the analytical sample"/>
          <p:cNvSpPr txBox="1"/>
          <p:nvPr/>
        </p:nvSpPr>
        <p:spPr>
          <a:xfrm>
            <a:off x="779144" y="1428750"/>
            <a:ext cx="94335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National inventory within the analytical sample</a:t>
            </a:r>
          </a:p>
        </p:txBody>
      </p:sp>
      <p:sp>
        <p:nvSpPr>
          <p:cNvPr id="40" name="Lead Status Unknown"/>
          <p:cNvSpPr txBox="1"/>
          <p:nvPr/>
        </p:nvSpPr>
        <p:spPr>
          <a:xfrm>
            <a:off x="836294" y="2038350"/>
            <a:ext cx="714756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Status Unknown</a:t>
            </a:r>
          </a:p>
        </p:txBody>
      </p:sp>
      <p:sp>
        <p:nvSpPr>
          <p:cNvPr id="41" name="21.59M"/>
          <p:cNvSpPr txBox="1"/>
          <p:nvPr/>
        </p:nvSpPr>
        <p:spPr>
          <a:xfrm>
            <a:off x="836294" y="2409825"/>
            <a:ext cx="5623562" cy="69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3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21.59M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821233" y="3106129"/>
          <a:ext cx="6852742" cy="174636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Known Replacement Inventory"/>
          <p:cNvSpPr txBox="1"/>
          <p:nvPr/>
        </p:nvSpPr>
        <p:spPr>
          <a:xfrm>
            <a:off x="836294" y="5019675"/>
            <a:ext cx="667131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Known Replacement Inventory</a:t>
            </a:r>
          </a:p>
        </p:txBody>
      </p:sp>
      <p:sp>
        <p:nvSpPr>
          <p:cNvPr id="44" name="3.12M"/>
          <p:cNvSpPr txBox="1"/>
          <p:nvPr/>
        </p:nvSpPr>
        <p:spPr>
          <a:xfrm>
            <a:off x="836294" y="5381625"/>
            <a:ext cx="209931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9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3.12M</a:t>
            </a:r>
          </a:p>
        </p:txBody>
      </p:sp>
      <p:sp>
        <p:nvSpPr>
          <p:cNvPr id="45" name="2.18M Lead + 0.94M GRR"/>
          <p:cNvSpPr txBox="1"/>
          <p:nvPr/>
        </p:nvSpPr>
        <p:spPr>
          <a:xfrm>
            <a:off x="2846069" y="5457825"/>
            <a:ext cx="467106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2.18M Lead + 0.94M GRR</a:t>
            </a:r>
          </a:p>
        </p:txBody>
      </p:sp>
      <p:sp>
        <p:nvSpPr>
          <p:cNvPr id="46" name="6.9×"/>
          <p:cNvSpPr txBox="1"/>
          <p:nvPr/>
        </p:nvSpPr>
        <p:spPr>
          <a:xfrm>
            <a:off x="8932544" y="2352675"/>
            <a:ext cx="2670812" cy="807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0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6.9×</a:t>
            </a:r>
          </a:p>
        </p:txBody>
      </p:sp>
      <p:sp>
        <p:nvSpPr>
          <p:cNvPr id="47" name="as many Unknown lines as lines already classified for replacement"/>
          <p:cNvSpPr txBox="1"/>
          <p:nvPr/>
        </p:nvSpPr>
        <p:spPr>
          <a:xfrm>
            <a:off x="8970644" y="3276600"/>
            <a:ext cx="2575562" cy="1150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 many Unknown lines as lines already classified for replacement</a:t>
            </a:r>
          </a:p>
        </p:txBody>
      </p:sp>
      <p:sp>
        <p:nvSpPr>
          <p:cNvPr id="48" name="Unknown lines require identification.…"/>
          <p:cNvSpPr txBox="1"/>
          <p:nvPr/>
        </p:nvSpPr>
        <p:spPr>
          <a:xfrm>
            <a:off x="8970644" y="4905375"/>
            <a:ext cx="2556512" cy="948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Unknown lines require identification.</a:t>
            </a:r>
          </a:p>
          <a:p>
            <a:pPr>
              <a:defRPr sz="15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 are not confirmed lead lines.</a:t>
            </a:r>
          </a:p>
        </p:txBody>
      </p:sp>
      <p:sp>
        <p:nvSpPr>
          <p:cNvPr id="49" name="Source: U.S. EPA 2026 Q2 Service Line Inventory. Counts reflect the analytical sample.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Source: U.S. EPA 2026 Q2 Service Line Inventory. Counts reflect the analytical sample.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he same national challenge looks very different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same national challenge looks very different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from state to state</a:t>
            </a:r>
          </a:p>
        </p:txBody>
      </p:sp>
      <p:sp>
        <p:nvSpPr>
          <p:cNvPr id="54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" name="3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6" name="Known Replacement Inventory"/>
          <p:cNvSpPr txBox="1"/>
          <p:nvPr/>
        </p:nvSpPr>
        <p:spPr>
          <a:xfrm>
            <a:off x="3074669" y="1428750"/>
            <a:ext cx="39090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Known Replacement Inventory</a:t>
            </a:r>
          </a:p>
        </p:txBody>
      </p:sp>
      <p:sp>
        <p:nvSpPr>
          <p:cNvPr id="57" name="Lead Status Unknown"/>
          <p:cNvSpPr txBox="1"/>
          <p:nvPr/>
        </p:nvSpPr>
        <p:spPr>
          <a:xfrm>
            <a:off x="7389494" y="1428750"/>
            <a:ext cx="3813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Status Unknown</a:t>
            </a:r>
          </a:p>
        </p:txBody>
      </p:sp>
      <p:sp>
        <p:nvSpPr>
          <p:cNvPr id="58" name="Replacement-…"/>
          <p:cNvSpPr txBox="1"/>
          <p:nvPr/>
        </p:nvSpPr>
        <p:spPr>
          <a:xfrm>
            <a:off x="788669" y="2047875"/>
            <a:ext cx="1956437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Replacement-</a:t>
            </a:r>
          </a:p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heavy</a:t>
            </a:r>
          </a:p>
        </p:txBody>
      </p:sp>
      <p:sp>
        <p:nvSpPr>
          <p:cNvPr id="59" name="Illinois"/>
          <p:cNvSpPr txBox="1"/>
          <p:nvPr/>
        </p:nvSpPr>
        <p:spPr>
          <a:xfrm>
            <a:off x="2950844" y="2095500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Illinois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="4469308" y="2021867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1" name="672,210"/>
          <p:cNvSpPr txBox="1"/>
          <p:nvPr/>
        </p:nvSpPr>
        <p:spPr>
          <a:xfrm>
            <a:off x="9837419" y="205740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672,210</a:t>
            </a:r>
          </a:p>
        </p:txBody>
      </p:sp>
      <p:sp>
        <p:nvSpPr>
          <p:cNvPr id="62" name="529,706"/>
          <p:cNvSpPr txBox="1"/>
          <p:nvPr/>
        </p:nvSpPr>
        <p:spPr>
          <a:xfrm>
            <a:off x="9837419" y="234315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529,706</a:t>
            </a:r>
          </a:p>
        </p:txBody>
      </p:sp>
      <p:sp>
        <p:nvSpPr>
          <p:cNvPr id="63" name="Largest already-classified replacement inventory"/>
          <p:cNvSpPr txBox="1"/>
          <p:nvPr/>
        </p:nvSpPr>
        <p:spPr>
          <a:xfrm>
            <a:off x="2950844" y="2743200"/>
            <a:ext cx="79095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Largest already-classified replacement inventory</a:t>
            </a:r>
          </a:p>
        </p:txBody>
      </p:sp>
      <p:sp>
        <p:nvSpPr>
          <p:cNvPr id="64" name="Line"/>
          <p:cNvSpPr/>
          <p:nvPr/>
        </p:nvSpPr>
        <p:spPr>
          <a:xfrm>
            <a:off x="742950" y="3171825"/>
            <a:ext cx="10715626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" name="Identification-…"/>
          <p:cNvSpPr txBox="1"/>
          <p:nvPr/>
        </p:nvSpPr>
        <p:spPr>
          <a:xfrm>
            <a:off x="788669" y="3467100"/>
            <a:ext cx="1956437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Identification-</a:t>
            </a:r>
          </a:p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heavy</a:t>
            </a:r>
          </a:p>
        </p:txBody>
      </p:sp>
      <p:sp>
        <p:nvSpPr>
          <p:cNvPr id="66" name="Texas"/>
          <p:cNvSpPr txBox="1"/>
          <p:nvPr/>
        </p:nvSpPr>
        <p:spPr>
          <a:xfrm>
            <a:off x="2950844" y="3400425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Texas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469308" y="3326792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8" name="114,501"/>
          <p:cNvSpPr txBox="1"/>
          <p:nvPr/>
        </p:nvSpPr>
        <p:spPr>
          <a:xfrm>
            <a:off x="9837419" y="336232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114,501</a:t>
            </a:r>
          </a:p>
        </p:txBody>
      </p:sp>
      <p:sp>
        <p:nvSpPr>
          <p:cNvPr id="69" name="2,178,881"/>
          <p:cNvSpPr txBox="1"/>
          <p:nvPr/>
        </p:nvSpPr>
        <p:spPr>
          <a:xfrm>
            <a:off x="9837419" y="364807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2,178,881</a:t>
            </a:r>
          </a:p>
        </p:txBody>
      </p:sp>
      <p:sp>
        <p:nvSpPr>
          <p:cNvPr id="70" name="Pennsylvania"/>
          <p:cNvSpPr txBox="1"/>
          <p:nvPr/>
        </p:nvSpPr>
        <p:spPr>
          <a:xfrm>
            <a:off x="2950844" y="4057650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Pennsylvania</a:t>
            </a:r>
          </a:p>
        </p:txBody>
      </p:sp>
      <p:graphicFrame>
        <p:nvGraphicFramePr>
          <p:cNvPr id="71" name="Chart"/>
          <p:cNvGraphicFramePr/>
          <p:nvPr/>
        </p:nvGraphicFramePr>
        <p:xfrm>
          <a:off x="4469308" y="3984017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2" name="113,717"/>
          <p:cNvSpPr txBox="1"/>
          <p:nvPr/>
        </p:nvSpPr>
        <p:spPr>
          <a:xfrm>
            <a:off x="9837419" y="401955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113,717</a:t>
            </a:r>
          </a:p>
        </p:txBody>
      </p:sp>
      <p:sp>
        <p:nvSpPr>
          <p:cNvPr id="73" name="2,055,512"/>
          <p:cNvSpPr txBox="1"/>
          <p:nvPr/>
        </p:nvSpPr>
        <p:spPr>
          <a:xfrm>
            <a:off x="9837419" y="430530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2,055,512</a:t>
            </a:r>
          </a:p>
        </p:txBody>
      </p:sp>
      <p:sp>
        <p:nvSpPr>
          <p:cNvPr id="74" name="Much larger unresolved identification inventories"/>
          <p:cNvSpPr txBox="1"/>
          <p:nvPr/>
        </p:nvSpPr>
        <p:spPr>
          <a:xfrm>
            <a:off x="2950844" y="4676775"/>
            <a:ext cx="79095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Much larger unresolved identification inventories</a:t>
            </a:r>
          </a:p>
        </p:txBody>
      </p:sp>
      <p:sp>
        <p:nvSpPr>
          <p:cNvPr id="75" name="Line"/>
          <p:cNvSpPr/>
          <p:nvPr/>
        </p:nvSpPr>
        <p:spPr>
          <a:xfrm>
            <a:off x="742950" y="5029200"/>
            <a:ext cx="10715626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6" name="Substantial work…"/>
          <p:cNvSpPr txBox="1"/>
          <p:nvPr/>
        </p:nvSpPr>
        <p:spPr>
          <a:xfrm>
            <a:off x="788669" y="5248275"/>
            <a:ext cx="2004062" cy="846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7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Substantial work</a:t>
            </a:r>
          </a:p>
          <a:p>
            <a:pPr>
              <a:defRPr b="1" sz="17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 both dimensions</a:t>
            </a:r>
          </a:p>
        </p:txBody>
      </p:sp>
      <p:sp>
        <p:nvSpPr>
          <p:cNvPr id="77" name="Ohio"/>
          <p:cNvSpPr txBox="1"/>
          <p:nvPr/>
        </p:nvSpPr>
        <p:spPr>
          <a:xfrm>
            <a:off x="2950844" y="5229225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Ohio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4469308" y="5155592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79" name="321,502"/>
          <p:cNvSpPr txBox="1"/>
          <p:nvPr/>
        </p:nvSpPr>
        <p:spPr>
          <a:xfrm>
            <a:off x="9837419" y="519112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321,502</a:t>
            </a:r>
          </a:p>
        </p:txBody>
      </p:sp>
      <p:sp>
        <p:nvSpPr>
          <p:cNvPr id="80" name="878,788"/>
          <p:cNvSpPr txBox="1"/>
          <p:nvPr/>
        </p:nvSpPr>
        <p:spPr>
          <a:xfrm>
            <a:off x="9837419" y="547687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878,788</a:t>
            </a:r>
          </a:p>
        </p:txBody>
      </p:sp>
      <p:sp>
        <p:nvSpPr>
          <p:cNvPr id="81" name="New York"/>
          <p:cNvSpPr txBox="1"/>
          <p:nvPr/>
        </p:nvSpPr>
        <p:spPr>
          <a:xfrm>
            <a:off x="2950844" y="5810250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York</a:t>
            </a:r>
          </a:p>
        </p:txBody>
      </p:sp>
      <p:graphicFrame>
        <p:nvGraphicFramePr>
          <p:cNvPr id="82" name="Chart"/>
          <p:cNvGraphicFramePr/>
          <p:nvPr/>
        </p:nvGraphicFramePr>
        <p:xfrm>
          <a:off x="4469308" y="5736617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83" name="289,055"/>
          <p:cNvSpPr txBox="1"/>
          <p:nvPr/>
        </p:nvSpPr>
        <p:spPr>
          <a:xfrm>
            <a:off x="9837419" y="577215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289,055</a:t>
            </a:r>
          </a:p>
        </p:txBody>
      </p:sp>
      <p:sp>
        <p:nvSpPr>
          <p:cNvPr id="84" name="951,163"/>
          <p:cNvSpPr txBox="1"/>
          <p:nvPr/>
        </p:nvSpPr>
        <p:spPr>
          <a:xfrm>
            <a:off x="9837419" y="605790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951,163</a:t>
            </a:r>
          </a:p>
        </p:txBody>
      </p:sp>
      <p:sp>
        <p:nvSpPr>
          <p:cNvPr id="85" name="Source: U.S. EPA 2026 Q2 Service Line Inventory. Narrative examples, not statistical clusters. All bars use the same scale.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Source: U.S. EPA 2026 Q2 Service Line Inventory. Narrative examples, not statistical clusters. All bars use the same scale.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"/>
          <p:cNvGraphicFramePr/>
          <p:nvPr/>
        </p:nvGraphicFramePr>
        <p:xfrm>
          <a:off x="1097657" y="1470589"/>
          <a:ext cx="7077969" cy="428981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A single ranking would hide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single ranking would hide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where each state’s workload sits</a:t>
            </a:r>
          </a:p>
        </p:txBody>
      </p:sp>
      <p:sp>
        <p:nvSpPr>
          <p:cNvPr id="4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" name="4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" name="Texas"/>
          <p:cNvSpPr txBox="1"/>
          <p:nvPr/>
        </p:nvSpPr>
        <p:spPr>
          <a:xfrm>
            <a:off x="2646044" y="1724025"/>
            <a:ext cx="1623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Texas</a:t>
            </a:r>
          </a:p>
        </p:txBody>
      </p:sp>
      <p:sp>
        <p:nvSpPr>
          <p:cNvPr id="7" name="Pennsylvania"/>
          <p:cNvSpPr txBox="1"/>
          <p:nvPr/>
        </p:nvSpPr>
        <p:spPr>
          <a:xfrm>
            <a:off x="2646044" y="2085975"/>
            <a:ext cx="1623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Pennsylvania</a:t>
            </a:r>
          </a:p>
        </p:txBody>
      </p:sp>
      <p:sp>
        <p:nvSpPr>
          <p:cNvPr id="8" name="New York"/>
          <p:cNvSpPr txBox="1"/>
          <p:nvPr/>
        </p:nvSpPr>
        <p:spPr>
          <a:xfrm>
            <a:off x="3912869" y="3419475"/>
            <a:ext cx="14325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York</a:t>
            </a:r>
          </a:p>
        </p:txBody>
      </p:sp>
      <p:sp>
        <p:nvSpPr>
          <p:cNvPr id="9" name="Ohio"/>
          <p:cNvSpPr txBox="1"/>
          <p:nvPr/>
        </p:nvSpPr>
        <p:spPr>
          <a:xfrm>
            <a:off x="4741544" y="3752850"/>
            <a:ext cx="114681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Ohio</a:t>
            </a:r>
          </a:p>
        </p:txBody>
      </p:sp>
      <p:sp>
        <p:nvSpPr>
          <p:cNvPr id="10" name="Illinois"/>
          <p:cNvSpPr txBox="1"/>
          <p:nvPr/>
        </p:nvSpPr>
        <p:spPr>
          <a:xfrm>
            <a:off x="7179944" y="4143375"/>
            <a:ext cx="114681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Illinois</a:t>
            </a:r>
          </a:p>
        </p:txBody>
      </p:sp>
      <p:sp>
        <p:nvSpPr>
          <p:cNvPr id="11" name="Source: U.S. EPA 2026 Q2 Service Line Inventory. Each point represents one state or DC.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Source: U.S. EPA 2026 Q2 Service Line Inventory. Each point represents one state or DC.</a:t>
            </a:r>
          </a:p>
        </p:txBody>
      </p:sp>
      <p:sp>
        <p:nvSpPr>
          <p:cNvPr id="12" name="v5-4-heading">
            <a:extLst>
              <a:ext uri="{FF2B5EF4-FFF2-40B4-BE49-F238E27FC236}">
                <a16:creationId xmlns:a16="http://schemas.microsoft.com/office/drawing/2014/main" id="{C6B2F257-DFB3-4BE6-A976-5672C33684BC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THIS REVEALS</a:t>
            </a:r>
          </a:p>
        </p:txBody>
      </p:sp>
      <p:sp>
        <p:nvSpPr>
          <p:cNvPr id="13" name="v5-4-gate">
            <a:extLst>
              <a:ext uri="{FF2B5EF4-FFF2-40B4-BE49-F238E27FC236}">
                <a16:creationId xmlns:a16="http://schemas.microsoft.com/office/drawing/2014/main" id="{EB178121-0D72-472E-8A8C-1D2F3937BAF6}"/>
              </a:ext>
            </a:extLst>
          </p:cNvPr>
          <p:cNvSpPr>
            <a:spLocks noGrp="1"/>
          </p:cNvSpPr>
          <p:nvPr/>
        </p:nvSpPr>
        <p:spPr>
          <a:xfrm>
            <a:off x="8858250" y="1971675"/>
            <a:ext cx="26289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 Unknown lines, identification is the gating step.</a:t>
            </a:r>
          </a:p>
        </p:txBody>
      </p:sp>
      <p:sp>
        <p:nvSpPr>
          <p:cNvPr id="14" name="v5-4-unknown">
            <a:extLst>
              <a:ext uri="{FF2B5EF4-FFF2-40B4-BE49-F238E27FC236}">
                <a16:creationId xmlns:a16="http://schemas.microsoft.com/office/drawing/2014/main" id="{C16D071A-454A-4D87-815B-F0D48A06D1D4}"/>
              </a:ext>
            </a:extLst>
          </p:cNvPr>
          <p:cNvSpPr>
            <a:spLocks noGrp="1"/>
          </p:cNvSpPr>
          <p:nvPr/>
        </p:nvSpPr>
        <p:spPr>
          <a:xfrm>
            <a:off x="8858250" y="2771775"/>
            <a:ext cx="26289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 Unknown line must be classified before its replacement need can be determined.</a:t>
            </a:r>
          </a:p>
        </p:txBody>
      </p:sp>
      <p:sp>
        <p:nvSpPr>
          <p:cNvPr id="15" name="v5-4-known">
            <a:extLst>
              <a:ext uri="{FF2B5EF4-FFF2-40B4-BE49-F238E27FC236}">
                <a16:creationId xmlns:a16="http://schemas.microsoft.com/office/drawing/2014/main" id="{A603DEF2-82DB-4196-845E-F63460D9C34C}"/>
              </a:ext>
            </a:extLst>
          </p:cNvPr>
          <p:cNvSpPr>
            <a:spLocks noGrp="1"/>
          </p:cNvSpPr>
          <p:nvPr/>
        </p:nvSpPr>
        <p:spPr>
          <a:xfrm>
            <a:off x="8858250" y="3676650"/>
            <a:ext cx="26289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Known Lead + GRR lines can already move toward replacement planning.</a:t>
            </a:r>
          </a:p>
        </p:txBody>
      </p:sp>
      <p:sp>
        <p:nvSpPr>
          <p:cNvPr id="16" name="v5-4-national">
            <a:extLst>
              <a:ext uri="{FF2B5EF4-FFF2-40B4-BE49-F238E27FC236}">
                <a16:creationId xmlns:a16="http://schemas.microsoft.com/office/drawing/2014/main" id="{2A1D8AC2-75E8-43E4-BD9A-E4199E12B9DB}"/>
              </a:ext>
            </a:extLst>
          </p:cNvPr>
          <p:cNvSpPr>
            <a:spLocks noGrp="1"/>
          </p:cNvSpPr>
          <p:nvPr/>
        </p:nvSpPr>
        <p:spPr>
          <a:xfrm>
            <a:off x="8858250" y="4533900"/>
            <a:ext cx="26289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Nationally, Unknown inventory is 6.9× the known replacement inventory.</a:t>
            </a:r>
          </a:p>
        </p:txBody>
      </p:sp>
      <p:sp>
        <p:nvSpPr>
          <p:cNvPr id="17" name="v5-4-count">
            <a:extLst>
              <a:ext uri="{FF2B5EF4-FFF2-40B4-BE49-F238E27FC236}">
                <a16:creationId xmlns:a16="http://schemas.microsoft.com/office/drawing/2014/main" id="{072A5BDD-8F6B-4D25-90BE-668C1B6B2FD0}"/>
              </a:ext>
            </a:extLst>
          </p:cNvPr>
          <p:cNvSpPr>
            <a:spLocks noGrp="1"/>
          </p:cNvSpPr>
          <p:nvPr/>
        </p:nvSpPr>
        <p:spPr>
          <a:xfrm>
            <a:off x="8858250" y="5334000"/>
            <a:ext cx="2628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 is larger in 49 of 51 states/DC.</a:t>
            </a:r>
          </a:p>
        </p:txBody>
      </p:sp>
      <p:sp>
        <p:nvSpPr>
          <p:cNvPr id="18" name="v5-4-caveat">
            <a:extLst>
              <a:ext uri="{FF2B5EF4-FFF2-40B4-BE49-F238E27FC236}">
                <a16:creationId xmlns:a16="http://schemas.microsoft.com/office/drawing/2014/main" id="{FABEBFC5-9617-4728-B5A6-7777C62669CB}"/>
              </a:ext>
            </a:extLst>
          </p:cNvPr>
          <p:cNvSpPr>
            <a:spLocks noGrp="1"/>
          </p:cNvSpPr>
          <p:nvPr/>
        </p:nvSpPr>
        <p:spPr>
          <a:xfrm>
            <a:off x="8858250" y="59245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This describes reported inventory, not project progress or implementation capacity.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5-5-title">
            <a:extLst>
              <a:ext uri="{FF2B5EF4-FFF2-40B4-BE49-F238E27FC236}">
                <a16:creationId xmlns:a16="http://schemas.microsoft.com/office/drawing/2014/main" id="{3F788480-9DC2-4E0B-B939-B674307ED624}"/>
              </a:ext>
            </a:extLst>
          </p:cNvPr>
          <p:cNvSpPr>
            <a:spLocks noGrp="1"/>
          </p:cNvSpPr>
          <p:nvPr/>
        </p:nvSpPr>
        <p:spPr>
          <a:xfrm>
            <a:off x="752475" y="361950"/>
            <a:ext cx="1078230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Closing the identification gap is the broadest challenge</a:t>
            </a:r>
          </a:p>
          <a:p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Local evidence determines what happens next</a:t>
            </a:r>
          </a:p>
        </p:txBody>
      </p:sp>
      <p:sp>
        <p:nvSpPr>
          <p:cNvPr id="3" name="v5-5-implication-label">
            <a:extLst>
              <a:ext uri="{FF2B5EF4-FFF2-40B4-BE49-F238E27FC236}">
                <a16:creationId xmlns:a16="http://schemas.microsoft.com/office/drawing/2014/main" id="{7F35DD80-2FD6-48B5-BDD8-A683034459D6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10382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4" name="v5-5-implication">
            <a:extLst>
              <a:ext uri="{FF2B5EF4-FFF2-40B4-BE49-F238E27FC236}">
                <a16:creationId xmlns:a16="http://schemas.microsoft.com/office/drawing/2014/main" id="{155B5995-2203-4B4E-932D-1729CE66EF68}"/>
              </a:ext>
            </a:extLst>
          </p:cNvPr>
          <p:cNvSpPr>
            <a:spLocks noGrp="1"/>
          </p:cNvSpPr>
          <p:nvPr/>
        </p:nvSpPr>
        <p:spPr>
          <a:xfrm>
            <a:off x="781050" y="1876425"/>
            <a:ext cx="104775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more Unknown lines are classified,</a:t>
            </a:r>
          </a:p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clearer the replacement workload becomes.</a:t>
            </a:r>
          </a:p>
        </p:txBody>
      </p:sp>
      <p:sp>
        <p:nvSpPr>
          <p:cNvPr id="5" name="v5-5-popheading">
            <a:extLst>
              <a:ext uri="{FF2B5EF4-FFF2-40B4-BE49-F238E27FC236}">
                <a16:creationId xmlns:a16="http://schemas.microsoft.com/office/drawing/2014/main" id="{CA3DE415-2E85-4F53-AD40-D83EFC68A5BE}"/>
              </a:ext>
            </a:extLst>
          </p:cNvPr>
          <p:cNvSpPr>
            <a:spLocks noGrp="1"/>
          </p:cNvSpPr>
          <p:nvPr/>
        </p:nvSpPr>
        <p:spPr>
          <a:xfrm>
            <a:off x="781050" y="2943225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population context matters</a:t>
            </a:r>
          </a:p>
        </p:txBody>
      </p:sp>
      <p:sp>
        <p:nvSpPr>
          <p:cNvPr id="6" name="v5-5-raw">
            <a:extLst>
              <a:ext uri="{FF2B5EF4-FFF2-40B4-BE49-F238E27FC236}">
                <a16:creationId xmlns:a16="http://schemas.microsoft.com/office/drawing/2014/main" id="{4FFB10E6-B4B3-4583-A104-1C3239D82190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totals show absolute workload and tend to favor larger states.</a:t>
            </a:r>
          </a:p>
        </p:txBody>
      </p:sp>
      <p:sp>
        <p:nvSpPr>
          <p:cNvPr id="7" name="v5-5-normal">
            <a:extLst>
              <a:ext uri="{FF2B5EF4-FFF2-40B4-BE49-F238E27FC236}">
                <a16:creationId xmlns:a16="http://schemas.microsoft.com/office/drawing/2014/main" id="{EE9DB1E7-3001-4476-B3E3-A8B3268F5149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10,000 state residents shows inventory scale relative to state population.</a:t>
            </a:r>
          </a:p>
        </p:txBody>
      </p:sp>
      <p:sp>
        <p:nvSpPr>
          <p:cNvPr id="8" name="v5-5-not">
            <a:extLst>
              <a:ext uri="{FF2B5EF4-FFF2-40B4-BE49-F238E27FC236}">
                <a16:creationId xmlns:a16="http://schemas.microsoft.com/office/drawing/2014/main" id="{D54BA26C-30DB-41C9-84D2-60D4EF45FB70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These rates do not measure affected residents, customers, exposure, or prevalence.</a:t>
            </a:r>
          </a:p>
        </p:txBody>
      </p:sp>
      <p:sp>
        <p:nvSpPr>
          <p:cNvPr id="9" name="v5-5-retained">
            <a:extLst>
              <a:ext uri="{FF2B5EF4-FFF2-40B4-BE49-F238E27FC236}">
                <a16:creationId xmlns:a16="http://schemas.microsoft.com/office/drawing/2014/main" id="{EBE93B17-CCBD-4C89-B895-4E8E16B7E5C6}"/>
              </a:ext>
            </a:extLst>
          </p:cNvPr>
          <p:cNvSpPr>
            <a:spLocks noGrp="1"/>
          </p:cNvSpPr>
          <p:nvPr/>
        </p:nvSpPr>
        <p:spPr>
          <a:xfrm>
            <a:off x="6172200" y="33718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Raw top 10 retained in the population-adjusted top 10</a:t>
            </a:r>
          </a:p>
        </p:txBody>
      </p:sp>
      <p:sp>
        <p:nvSpPr>
          <p:cNvPr id="10" name="v5-5-six">
            <a:extLst>
              <a:ext uri="{FF2B5EF4-FFF2-40B4-BE49-F238E27FC236}">
                <a16:creationId xmlns:a16="http://schemas.microsoft.com/office/drawing/2014/main" id="{62F14AA6-8EEA-4E1B-9B20-41EFB48C55CA}"/>
              </a:ext>
            </a:extLst>
          </p:cNvPr>
          <p:cNvSpPr>
            <a:spLocks noGrp="1"/>
          </p:cNvSpPr>
          <p:nvPr/>
        </p:nvSpPr>
        <p:spPr>
          <a:xfrm>
            <a:off x="6172200" y="3743325"/>
            <a:ext cx="15049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 of 10</a:t>
            </a:r>
          </a:p>
        </p:txBody>
      </p:sp>
      <p:sp>
        <p:nvSpPr>
          <p:cNvPr id="11" name="v5-5-known">
            <a:extLst>
              <a:ext uri="{FF2B5EF4-FFF2-40B4-BE49-F238E27FC236}">
                <a16:creationId xmlns:a16="http://schemas.microsoft.com/office/drawing/2014/main" id="{0E19578B-FBAE-4B9C-8732-5DC708A17D6C}"/>
              </a:ext>
            </a:extLst>
          </p:cNvPr>
          <p:cNvSpPr>
            <a:spLocks noGrp="1"/>
          </p:cNvSpPr>
          <p:nvPr/>
        </p:nvSpPr>
        <p:spPr>
          <a:xfrm>
            <a:off x="7839075" y="3800475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</a:t>
            </a:r>
          </a:p>
        </p:txBody>
      </p:sp>
      <p:sp>
        <p:nvSpPr>
          <p:cNvPr id="12" name="v5-5-three">
            <a:extLst>
              <a:ext uri="{FF2B5EF4-FFF2-40B4-BE49-F238E27FC236}">
                <a16:creationId xmlns:a16="http://schemas.microsoft.com/office/drawing/2014/main" id="{19D4F368-C304-47F3-BEB7-CA01A9CAA079}"/>
              </a:ext>
            </a:extLst>
          </p:cNvPr>
          <p:cNvSpPr>
            <a:spLocks noGrp="1"/>
          </p:cNvSpPr>
          <p:nvPr/>
        </p:nvSpPr>
        <p:spPr>
          <a:xfrm>
            <a:off x="6172200" y="4238625"/>
            <a:ext cx="15049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3 of 10</a:t>
            </a:r>
          </a:p>
        </p:txBody>
      </p:sp>
      <p:sp>
        <p:nvSpPr>
          <p:cNvPr id="13" name="v5-5-identification">
            <a:extLst>
              <a:ext uri="{FF2B5EF4-FFF2-40B4-BE49-F238E27FC236}">
                <a16:creationId xmlns:a16="http://schemas.microsoft.com/office/drawing/2014/main" id="{A829FFD7-FEAB-4A6A-808F-0C5632301050}"/>
              </a:ext>
            </a:extLst>
          </p:cNvPr>
          <p:cNvSpPr>
            <a:spLocks noGrp="1"/>
          </p:cNvSpPr>
          <p:nvPr/>
        </p:nvSpPr>
        <p:spPr>
          <a:xfrm>
            <a:off x="7839075" y="4295775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</p:txBody>
      </p:sp>
      <p:sp>
        <p:nvSpPr>
          <p:cNvPr id="14" name="v5-5-example">
            <a:extLst>
              <a:ext uri="{FF2B5EF4-FFF2-40B4-BE49-F238E27FC236}">
                <a16:creationId xmlns:a16="http://schemas.microsoft.com/office/drawing/2014/main" id="{A9A51BC9-C936-41AE-8F00-9A517E99BB29}"/>
              </a:ext>
            </a:extLst>
          </p:cNvPr>
          <p:cNvSpPr>
            <a:spLocks noGrp="1"/>
          </p:cNvSpPr>
          <p:nvPr/>
        </p:nvSpPr>
        <p:spPr>
          <a:xfrm>
            <a:off x="6172200" y="4762500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Illinois: #1 Known Replacement</a:t>
            </a:r>
          </a:p>
          <a:p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Pennsylvania: #1 Unknown</a:t>
            </a:r>
          </a:p>
          <a:p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Both per 10,000 state residents</a:t>
            </a:r>
          </a:p>
        </p:txBody>
      </p:sp>
      <p:sp>
        <p:nvSpPr>
          <p:cNvPr id="15" name="v5-5-rule">
            <a:extLst>
              <a:ext uri="{FF2B5EF4-FFF2-40B4-BE49-F238E27FC236}">
                <a16:creationId xmlns:a16="http://schemas.microsoft.com/office/drawing/2014/main" id="{A4474C5F-8DFA-4F3D-8EED-6C0747EF2FE1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0734675" cy="0"/>
          </a:xfrm>
          <a:prstGeom prst="line">
            <a:avLst/>
          </a:prstGeom>
          <a:noFill/>
          <a:ln w="9525">
            <a:solidFill>
              <a:srgbClr val="102A43"/>
            </a:solidFill>
          </a:ln>
        </p:spPr>
      </p:sp>
      <p:sp>
        <p:nvSpPr>
          <p:cNvPr id="16" name="v5-5-nextlabel">
            <a:extLst>
              <a:ext uri="{FF2B5EF4-FFF2-40B4-BE49-F238E27FC236}">
                <a16:creationId xmlns:a16="http://schemas.microsoft.com/office/drawing/2014/main" id="{F4B2DA20-8DB7-4FED-A168-9FA868E6519E}"/>
              </a:ext>
            </a:extLst>
          </p:cNvPr>
          <p:cNvSpPr>
            <a:spLocks noGrp="1"/>
          </p:cNvSpPr>
          <p:nvPr/>
        </p:nvSpPr>
        <p:spPr>
          <a:xfrm>
            <a:off x="781050" y="5676900"/>
            <a:ext cx="16859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17" name="v5-5-next">
            <a:extLst>
              <a:ext uri="{FF2B5EF4-FFF2-40B4-BE49-F238E27FC236}">
                <a16:creationId xmlns:a16="http://schemas.microsoft.com/office/drawing/2014/main" id="{DC3241F8-6CAE-40BE-AD27-597480DF9FBC}"/>
              </a:ext>
            </a:extLst>
          </p:cNvPr>
          <p:cNvSpPr>
            <a:spLocks noGrp="1"/>
          </p:cNvSpPr>
          <p:nvPr/>
        </p:nvSpPr>
        <p:spPr>
          <a:xfrm>
            <a:off x="2686050" y="5648325"/>
            <a:ext cx="88011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Once service lines are identified, which utility-level, geographic, funding, and local-capacity factors determine where replacement can move forward?</a:t>
            </a:r>
          </a:p>
        </p:txBody>
      </p:sp>
      <p:sp>
        <p:nvSpPr>
          <p:cNvPr id="18" name="v5-5-limit">
            <a:extLst>
              <a:ext uri="{FF2B5EF4-FFF2-40B4-BE49-F238E27FC236}">
                <a16:creationId xmlns:a16="http://schemas.microsoft.com/office/drawing/2014/main" id="{905C3FCC-D6A5-4657-87E3-B9076B2F1AF9}"/>
              </a:ext>
            </a:extLst>
          </p:cNvPr>
          <p:cNvSpPr>
            <a:spLocks noGrp="1"/>
          </p:cNvSpPr>
          <p:nvPr/>
        </p:nvSpPr>
        <p:spPr>
          <a:xfrm>
            <a:off x="781050" y="633412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19" name="v5-5-source">
            <a:extLst>
              <a:ext uri="{FF2B5EF4-FFF2-40B4-BE49-F238E27FC236}">
                <a16:creationId xmlns:a16="http://schemas.microsoft.com/office/drawing/2014/main" id="{82A3CA99-5318-496B-B4E8-423E10010A35}"/>
              </a:ext>
            </a:extLst>
          </p:cNvPr>
          <p:cNvSpPr>
            <a:spLocks noGrp="1"/>
          </p:cNvSpPr>
          <p:nvPr/>
        </p:nvSpPr>
        <p:spPr>
          <a:xfrm>
            <a:off x="781050" y="657225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Sources: U.S. EPA 2026 Q2 inventory data; 2025 Census resident population estimates (population context).</a:t>
            </a:r>
          </a:p>
        </p:txBody>
      </p:sp>
      <p:sp>
        <p:nvSpPr>
          <p:cNvPr id="20" name="v5-5-number">
            <a:extLst>
              <a:ext uri="{FF2B5EF4-FFF2-40B4-BE49-F238E27FC236}">
                <a16:creationId xmlns:a16="http://schemas.microsoft.com/office/drawing/2014/main" id="{8F66C7AC-3493-43A3-B292-D7A5607DE157}"/>
              </a:ext>
            </a:extLst>
          </p:cNvPr>
          <p:cNvSpPr>
            <a:spLocks noGrp="1"/>
          </p:cNvSpPr>
          <p:nvPr/>
        </p:nvSpPr>
        <p:spPr>
          <a:xfrm>
            <a:off x="11382375" y="65722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