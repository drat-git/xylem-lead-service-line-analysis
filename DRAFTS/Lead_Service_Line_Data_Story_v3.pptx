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b495b60ea0e4f96" /><Relationship Type="http://schemas.openxmlformats.org/officeDocument/2006/relationships/extended-properties" Target="/docProps/app.xml" Id="Rd8aa53a3914940fe" /><Relationship Type="http://schemas.openxmlformats.org/officeDocument/2006/relationships/officeDocument" Target="/ppt/presentation.xml" Id="R0de263d60e8c4a51" /></Relationships>
</file>

<file path=ppt/presentation.xml><?xml version="1.0" encoding="utf-8"?>
<p:presentation xmlns:p="http://schemas.openxmlformats.org/presentationml/2006/main">
  <p:sldMasterIdLst>
    <p:sldMasterId xmlns:r="http://schemas.openxmlformats.org/officeDocument/2006/relationships" id="2147483648" r:id="R2ba2e63bced74fee"/>
  </p:sldMasterIdLst>
  <p:notesMasterIdLst>
    <p:notesMasterId xmlns:r="http://schemas.openxmlformats.org/officeDocument/2006/relationships" r:id="Rde580757e42f4e33"/>
  </p:notesMasterIdLst>
  <p:sldIdLst>
    <p:sldId xmlns:r="http://schemas.openxmlformats.org/officeDocument/2006/relationships" id="256" r:id="Rf02be063ed7b479b"/>
    <p:sldId xmlns:r="http://schemas.openxmlformats.org/officeDocument/2006/relationships" id="257" r:id="R8ef11381166b41e2"/>
    <p:sldId xmlns:r="http://schemas.openxmlformats.org/officeDocument/2006/relationships" id="258" r:id="R778c25df288a4cc6"/>
    <p:sldId xmlns:r="http://schemas.openxmlformats.org/officeDocument/2006/relationships" id="259" r:id="R3f8bddcea04c4ce4"/>
    <p:sldId xmlns:r="http://schemas.openxmlformats.org/officeDocument/2006/relationships" id="260" r:id="R1191bfee7f854b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476bbd9e4b46f0" /><Relationship Type="http://schemas.openxmlformats.org/officeDocument/2006/relationships/slideMaster" Target="/ppt/slideMasters/slideMaster1.xml" Id="R2ba2e63bced74fee" /><Relationship Type="http://schemas.openxmlformats.org/officeDocument/2006/relationships/notesMaster" Target="/ppt/notesMasters/notesMaster1.xml" Id="Rde580757e42f4e33" /><Relationship Type="http://schemas.openxmlformats.org/officeDocument/2006/relationships/presProps" Target="/ppt/presProps.xml" Id="R7e0ec6898f574539" /><Relationship Type="http://schemas.openxmlformats.org/officeDocument/2006/relationships/tableStyles" Target="/ppt/tableStyles.xml" Id="R9127f10dfc88474b" /><Relationship Type="http://schemas.openxmlformats.org/officeDocument/2006/relationships/slide" Target="/ppt/slides/slide1.xml" Id="Rf02be063ed7b479b" /><Relationship Type="http://schemas.openxmlformats.org/officeDocument/2006/relationships/slide" Target="/ppt/slides/slide2.xml" Id="R8ef11381166b41e2" /><Relationship Type="http://schemas.openxmlformats.org/officeDocument/2006/relationships/slide" Target="/ppt/slides/slide3.xml" Id="R778c25df288a4cc6" /><Relationship Type="http://schemas.openxmlformats.org/officeDocument/2006/relationships/slide" Target="/ppt/slides/slide4.xml" Id="R3f8bddcea04c4ce4" /><Relationship Type="http://schemas.openxmlformats.org/officeDocument/2006/relationships/slide" Target="/ppt/slides/slide5.xml" Id="R1191bfee7f854b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5c8ff36a3e43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6e78b19ba94a75" /><Relationship Type="http://schemas.openxmlformats.org/officeDocument/2006/relationships/notesMaster" Target="/ppt/notesMasters/notesMaster1.xml" Id="R1e82efcfbd1943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628242ead74cd9" /><Relationship Type="http://schemas.openxmlformats.org/officeDocument/2006/relationships/notesMaster" Target="/ppt/notesMasters/notesMaster1.xml" Id="Rf6a8f7d65b0047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7a72d4d49a466b" /><Relationship Type="http://schemas.openxmlformats.org/officeDocument/2006/relationships/notesMaster" Target="/ppt/notesMasters/notesMaster1.xml" Id="Rd87c712f551847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f6eb7265be4a50" /><Relationship Type="http://schemas.openxmlformats.org/officeDocument/2006/relationships/notesMaster" Target="/ppt/notesMasters/notesMaster1.xml" Id="R9d431e4e3b604a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1bff6f00964f13" /><Relationship Type="http://schemas.openxmlformats.org/officeDocument/2006/relationships/notesMaster" Target="/ppt/notesMasters/notesMaster1.xml" Id="R04ac506af40a4c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Where are lead service line infrastructure needs greatest across U.S. states? The analysis treats infrastructure need as two distinct workloads. Identification Need equals Lead Status Unknown. Known Replacement Inventory equals Lead plus Galvanized Requiring Replacement. Unknown does not mean lead. Scope: 43,993 Community Water Systems that reported all required service-line types, limited to 50 states and the District of Columbia. Source: U.S. EPA 2026 Q2 Service Line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totals: 2,179,217 Lead service lines and 936,091 Galvanized Requiring Replacement service lines combine to 3,115,308 Known Replacement service lines. The sample also contains 21,589,524 Lead Status Unknown service lines. Unknown is about 6.9 times the Known Replacement Inventory. Unknown lines require material identification and must not be described as confirmed lead.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five Known Replacement states: Illinois 672,210; Ohio 321,502; New York 289,055; Michigan 255,524; Indiana 190,947. Top five Identification Need states: Texas 2,178,881; Pennsylvania 2,055,512; Florida 1,665,928; New York 951,163; Missouri 895,013. New York is the only state appearing in both top-five lists. The contrast supports different planning questions, not a direct funding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scatterplot compares Known Replacement Inventory with Lead Status Unknown for all 50 states and the District of Columbia. Illinois represents a replacement-heavy pattern. Texas and Pennsylvania have the largest unresolved identification inventories. Ohio and New York are relatively high on both dimensions. The chart is descriptive and does not establish progress, maturity, or causation.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Population adjustment uses July 1, 2025 Census resident population estimates as a size benchmark for 2026 Q2 EPA inventory data. Six of the raw Known Replacement top ten remain after normalization, while three of the raw Unknown top ten remain. Illinois remains first for Known Replacement at 528.5 per 10,000 residents. Pennsylvania leads Unknown at 1,574.0 per 10,000 residents. Rhode Island, Louisiana, and New Mexico become more visible after population adjustment. Per-capita values are contextual rates, not affected-customer or exposure rates. Recommended next question: How do state and utility identification and replacement needs align with available funding and local capacity to complete service-line replacement? Sources: U.S. EPA 2026 Q2 Service Line Inventory; U.S. Census Bureau July 1, 2025 resident population estimates released January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d8e4642eb047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87c245b55043cb" /><Relationship Type="http://schemas.openxmlformats.org/officeDocument/2006/relationships/slideLayout" Target="/ppt/slideLayouts/slideLayout1.xml" Id="R75d5cfb4642a48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d5cfb4642a48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5e6af672394084" /><Relationship Type="http://schemas.openxmlformats.org/officeDocument/2006/relationships/notesSlide" Target="/ppt/notesSlides/notesSlide1.xml" Id="R7b940a178eed45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e3ce8fd84c447c" /><Relationship Type="http://schemas.openxmlformats.org/officeDocument/2006/relationships/chart" Target="/ppt/slides/charts/chart1.xml" Id="R192543970cfc4365" /><Relationship Type="http://schemas.openxmlformats.org/officeDocument/2006/relationships/notesSlide" Target="/ppt/notesSlides/notesSlide2.xml" Id="Rae6020f37df24f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72c2974d844324" /><Relationship Type="http://schemas.openxmlformats.org/officeDocument/2006/relationships/chart" Target="/ppt/slides/charts/chart2.xml" Id="R3009b7a26a824ffb" /><Relationship Type="http://schemas.openxmlformats.org/officeDocument/2006/relationships/chart" Target="/ppt/slides/charts/chart3.xml" Id="R173646cc39f64853" /><Relationship Type="http://schemas.openxmlformats.org/officeDocument/2006/relationships/notesSlide" Target="/ppt/notesSlides/notesSlide3.xml" Id="Rd0b5bb7b36b84a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9f868e1ecf493b" /><Relationship Type="http://schemas.openxmlformats.org/officeDocument/2006/relationships/chart" Target="/ppt/slides/charts/chart4.xml" Id="Rd150e0649a74463f" /><Relationship Type="http://schemas.openxmlformats.org/officeDocument/2006/relationships/notesSlide" Target="/ppt/notesSlides/notesSlide4.xml" Id="R77d1de2564b34f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b36ab2fe8d497c" /><Relationship Type="http://schemas.openxmlformats.org/officeDocument/2006/relationships/chart" Target="/ppt/slides/charts/chart5.xml" Id="R939b8607695c43e3" /><Relationship Type="http://schemas.openxmlformats.org/officeDocument/2006/relationships/notesSlide" Target="/ppt/notesSlides/notesSlide5.xml" Id="Re1cb022950dc4b4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Lead</c:v>
          </c:tx>
          <c:spPr>
            <a:solidFill xmlns:a="http://schemas.openxmlformats.org/drawingml/2006/main">
              <a:srgbClr val="3F73C7"/>
            </a:solidFill>
          </c:spPr>
          <c:cat>
            <c:strRef>
              <c:f>'Chart Data'!$A$2:$A$3</c:f>
              <c:strCache>
                <c:ptCount val="2"/>
                <c:pt idx="0">
                  <c:v>Known Replacement</c:v>
                </c:pt>
                <c:pt idx="1">
                  <c:v>Identification Need</c:v>
                </c:pt>
              </c:strCache>
            </c:strRef>
          </c:cat>
          <c:val>
            <c:numRef>
              <c:f>'Chart Data'!$B$2:$B$3</c:f>
              <c:numCache>
                <c:formatCode>0.00"M"</c:formatCode>
                <c:ptCount val="2"/>
                <c:pt idx="0">
                  <c:v>2.179217</c:v>
                </c:pt>
                <c:pt idx="1">
                  <c:v>0</c:v>
                </c:pt>
              </c:numCache>
            </c:numRef>
          </c:val>
        </c:ser>
        <c:ser>
          <c:idx val="1"/>
          <c:order val="1"/>
          <c:tx>
            <c:v>GRR</c:v>
          </c:tx>
          <c:spPr>
            <a:solidFill xmlns:a="http://schemas.openxmlformats.org/drawingml/2006/main">
              <a:srgbClr val="7FA4DE"/>
            </a:solidFill>
          </c:spPr>
          <c:cat>
            <c:strRef>
              <c:f>'Chart Data'!$C$2:$C$3</c:f>
              <c:strCache>
                <c:ptCount val="2"/>
                <c:pt idx="0">
                  <c:v>Known Replacement</c:v>
                </c:pt>
                <c:pt idx="1">
                  <c:v>Identification Need</c:v>
                </c:pt>
              </c:strCache>
            </c:strRef>
          </c:cat>
          <c:val>
            <c:numRef>
              <c:f>'Chart Data'!$D$2:$D$3</c:f>
              <c:numCache>
                <c:formatCode>0.00"M"</c:formatCode>
                <c:ptCount val="2"/>
                <c:pt idx="0">
                  <c:v>0.936091</c:v>
                </c:pt>
                <c:pt idx="1">
                  <c:v>0</c:v>
                </c:pt>
              </c:numCache>
            </c:numRef>
          </c:val>
        </c:ser>
        <c:ser>
          <c:idx val="2"/>
          <c:order val="2"/>
          <c:tx>
            <c:v>Lead Status Unknown</c:v>
          </c:tx>
          <c:spPr>
            <a:solidFill xmlns:a="http://schemas.openxmlformats.org/drawingml/2006/main">
              <a:srgbClr val="5FA7D9"/>
            </a:solidFill>
          </c:spPr>
          <c:dLbls>
            <c:dLbl>
              <c:idx val="1"/>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21.59M unknown</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s>
          <c:cat>
            <c:strRef>
              <c:f>'Chart Data'!$E$2:$E$3</c:f>
              <c:strCache>
                <c:ptCount val="2"/>
                <c:pt idx="0">
                  <c:v>Known Replacement</c:v>
                </c:pt>
                <c:pt idx="1">
                  <c:v>Identification Need</c:v>
                </c:pt>
              </c:strCache>
            </c:strRef>
          </c:cat>
          <c:val>
            <c:numRef>
              <c:f>'Chart Data'!$F$2:$F$3</c:f>
              <c:numCache>
                <c:formatCode>0.00"M"</c:formatCode>
                <c:ptCount val="2"/>
                <c:pt idx="0">
                  <c:v>0</c:v>
                </c:pt>
                <c:pt idx="1">
                  <c:v>21.589524</c:v>
                </c:pt>
              </c:numCache>
            </c:numRef>
          </c:val>
        </c:ser>
        <c:dLbls>
          <c:txPr>
            <a:bodyPr xmlns:a="http://schemas.openxmlformats.org/drawingml/2006/main" anchorCtr="1"/>
            <a:lstStyle xmlns:a="http://schemas.openxmlformats.org/drawingml/2006/main"/>
            <a:p xmlns:a="http://schemas.openxmlformats.org/drawingml/2006/main">
              <a:pPr>
                <a:defRPr sz="1050">
                  <a:solidFill>
                    <a:srgbClr val="23333F"/>
                  </a:solidFill>
                  <a:latin typeface="Arial"/>
                  <a:ea typeface="Arial"/>
                  <a:cs typeface="Arial"/>
                </a:defRPr>
              </a:pPr>
            </a:p>
          </c:txPr>
          <c:showLegendKey val="0"/>
          <c:showVal val="0"/>
          <c:showCatName val="0"/>
          <c:showSerName val="0"/>
          <c:showPercent val="0"/>
          <c:showBubbleSize val="0"/>
          <c:showLeaderLines val="0"/>
        </c:dLbls>
        <c:gapWidth val="52"/>
        <c:overlap val="100"/>
        <c:axId val="48650112"/>
        <c:axId val="48672768"/>
      </c:barChart>
      <c:catAx>
        <c:axId val="48650112"/>
        <c:scaling>
          <c:orientation val="minMax"/>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b="1">
                <a:solidFill>
                  <a:srgbClr val="23333F"/>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Known Replacement</c:v>
          </c:tx>
          <c:spPr>
            <a:solidFill xmlns:a="http://schemas.openxmlformats.org/drawingml/2006/main">
              <a:srgbClr val="3F73C7"/>
            </a:solidFill>
          </c:spPr>
          <c:cat>
            <c:strRef>
              <c:f>'Chart Data'!$A$2:$A$6</c:f>
              <c:strCache>
                <c:ptCount val="5"/>
                <c:pt idx="0">
                  <c:v>Indiana</c:v>
                </c:pt>
                <c:pt idx="1">
                  <c:v>Michigan</c:v>
                </c:pt>
                <c:pt idx="2">
                  <c:v>New York</c:v>
                </c:pt>
                <c:pt idx="3">
                  <c:v>Ohio</c:v>
                </c:pt>
                <c:pt idx="4">
                  <c:v>Illinois</c:v>
                </c:pt>
              </c:strCache>
            </c:strRef>
          </c:cat>
          <c:val>
            <c:numRef>
              <c:f>'Chart Data'!$B$2:$B$6</c:f>
              <c:numCache>
                <c:formatCode>0,"k"</c:formatCode>
                <c:ptCount val="5"/>
                <c:pt idx="0">
                  <c:v>190947</c:v>
                </c:pt>
                <c:pt idx="1">
                  <c:v>255524</c:v>
                </c:pt>
                <c:pt idx="2">
                  <c:v>289055</c:v>
                </c:pt>
                <c:pt idx="3">
                  <c:v>321502</c:v>
                </c:pt>
                <c:pt idx="4">
                  <c:v>672210</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23333F"/>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Lead Status Unknown</c:v>
          </c:tx>
          <c:spPr>
            <a:solidFill xmlns:a="http://schemas.openxmlformats.org/drawingml/2006/main">
              <a:srgbClr val="5FA7D9"/>
            </a:solidFill>
          </c:spPr>
          <c:cat>
            <c:strRef>
              <c:f>'Chart Data'!$A$2:$A$6</c:f>
              <c:strCache>
                <c:ptCount val="5"/>
                <c:pt idx="0">
                  <c:v>Missouri</c:v>
                </c:pt>
                <c:pt idx="1">
                  <c:v>New York</c:v>
                </c:pt>
                <c:pt idx="2">
                  <c:v>Florida</c:v>
                </c:pt>
                <c:pt idx="3">
                  <c:v>Pennsylvania</c:v>
                </c:pt>
                <c:pt idx="4">
                  <c:v>Texas</c:v>
                </c:pt>
              </c:strCache>
            </c:strRef>
          </c:cat>
          <c:val>
            <c:numRef>
              <c:f>'Chart Data'!$B$2:$B$6</c:f>
              <c:numCache>
                <c:formatCode>0.0,,"M"</c:formatCode>
                <c:ptCount val="5"/>
                <c:pt idx="0">
                  <c:v>895013</c:v>
                </c:pt>
                <c:pt idx="1">
                  <c:v>951163</c:v>
                </c:pt>
                <c:pt idx="2">
                  <c:v>1665928</c:v>
                </c:pt>
                <c:pt idx="3">
                  <c:v>2055512</c:v>
                </c:pt>
                <c:pt idx="4">
                  <c:v>2178881</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23333F"/>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marker"/>
        <c:ser>
          <c:idx val="0"/>
          <c:order val="0"/>
          <c:tx>
            <c:v>Other states</c:v>
          </c:tx>
          <c:spPr>
            <a:solidFill xmlns:a="http://schemas.openxmlformats.org/drawingml/2006/main">
              <a:srgbClr val="BEC8CE"/>
            </a:solidFill>
            <a:ln xmlns:a="http://schemas.openxmlformats.org/drawingml/2006/main" w="0">
              <a:solidFill>
                <a:srgbClr val="BEC8CE"/>
              </a:solidFill>
            </a:ln>
          </c:spPr>
          <c:marker>
            <c:symbol val="circle"/>
            <c:size val="6"/>
            <c:spPr>
              <a:solidFill xmlns:a="http://schemas.openxmlformats.org/drawingml/2006/main">
                <a:srgbClr val="BEC8CE"/>
              </a:solidFill>
            </c:spPr>
          </c:marker>
          <c:xVal>
            <c:numRef>
              <c:f>'Chart Data'!$A$2:$A$47</c:f>
              <c:numCache>
                <c:formatCode>General</c:formatCode>
                <c:ptCount val="46"/>
                <c:pt idx="0">
                  <c:v>69230</c:v>
                </c:pt>
                <c:pt idx="1">
                  <c:v>16</c:v>
                </c:pt>
                <c:pt idx="2">
                  <c:v>2812</c:v>
                </c:pt>
                <c:pt idx="3">
                  <c:v>11569</c:v>
                </c:pt>
                <c:pt idx="4">
                  <c:v>12839</c:v>
                </c:pt>
                <c:pt idx="5">
                  <c:v>21412</c:v>
                </c:pt>
                <c:pt idx="6">
                  <c:v>13171</c:v>
                </c:pt>
                <c:pt idx="7">
                  <c:v>6292</c:v>
                </c:pt>
                <c:pt idx="8">
                  <c:v>17155</c:v>
                </c:pt>
                <c:pt idx="9">
                  <c:v>44559</c:v>
                </c:pt>
                <c:pt idx="10">
                  <c:v>50342</c:v>
                </c:pt>
                <c:pt idx="11">
                  <c:v>490</c:v>
                </c:pt>
                <c:pt idx="12">
                  <c:v>2769</c:v>
                </c:pt>
                <c:pt idx="13">
                  <c:v>190947</c:v>
                </c:pt>
                <c:pt idx="14">
                  <c:v>67950</c:v>
                </c:pt>
                <c:pt idx="15">
                  <c:v>26807</c:v>
                </c:pt>
                <c:pt idx="16">
                  <c:v>28036</c:v>
                </c:pt>
                <c:pt idx="17">
                  <c:v>20558</c:v>
                </c:pt>
                <c:pt idx="18">
                  <c:v>1599</c:v>
                </c:pt>
                <c:pt idx="19">
                  <c:v>3136</c:v>
                </c:pt>
                <c:pt idx="20">
                  <c:v>41737</c:v>
                </c:pt>
                <c:pt idx="21">
                  <c:v>255524</c:v>
                </c:pt>
                <c:pt idx="22">
                  <c:v>87183</c:v>
                </c:pt>
                <c:pt idx="23">
                  <c:v>23670</c:v>
                </c:pt>
                <c:pt idx="24">
                  <c:v>70968</c:v>
                </c:pt>
                <c:pt idx="25">
                  <c:v>3220</c:v>
                </c:pt>
                <c:pt idx="26">
                  <c:v>48712</c:v>
                </c:pt>
                <c:pt idx="27">
                  <c:v>1091</c:v>
                </c:pt>
                <c:pt idx="28">
                  <c:v>260</c:v>
                </c:pt>
                <c:pt idx="29">
                  <c:v>135360</c:v>
                </c:pt>
                <c:pt idx="30">
                  <c:v>331</c:v>
                </c:pt>
                <c:pt idx="31">
                  <c:v>12934</c:v>
                </c:pt>
                <c:pt idx="32">
                  <c:v>5658</c:v>
                </c:pt>
                <c:pt idx="33">
                  <c:v>14244</c:v>
                </c:pt>
                <c:pt idx="34">
                  <c:v>0</c:v>
                </c:pt>
                <c:pt idx="35">
                  <c:v>31489</c:v>
                </c:pt>
                <c:pt idx="36">
                  <c:v>19245</c:v>
                </c:pt>
                <c:pt idx="37">
                  <c:v>2697</c:v>
                </c:pt>
                <c:pt idx="38">
                  <c:v>64134</c:v>
                </c:pt>
                <c:pt idx="39">
                  <c:v>898</c:v>
                </c:pt>
                <c:pt idx="40">
                  <c:v>1910</c:v>
                </c:pt>
                <c:pt idx="41">
                  <c:v>13819</c:v>
                </c:pt>
                <c:pt idx="42">
                  <c:v>6922</c:v>
                </c:pt>
                <c:pt idx="43">
                  <c:v>8398</c:v>
                </c:pt>
                <c:pt idx="44">
                  <c:v>158815</c:v>
                </c:pt>
                <c:pt idx="45">
                  <c:v>3415</c:v>
                </c:pt>
              </c:numCache>
            </c:numRef>
          </c:xVal>
          <c:yVal>
            <c:numRef>
              <c:f>'Chart Data'!$B$2:$B$47</c:f>
              <c:numCache>
                <c:formatCode>0.0,,"M"</c:formatCode>
                <c:ptCount val="46"/>
                <c:pt idx="0">
                  <c:v>192502</c:v>
                </c:pt>
                <c:pt idx="1">
                  <c:v>25945</c:v>
                </c:pt>
                <c:pt idx="2">
                  <c:v>704381</c:v>
                </c:pt>
                <c:pt idx="3">
                  <c:v>477926</c:v>
                </c:pt>
                <c:pt idx="4">
                  <c:v>599523</c:v>
                </c:pt>
                <c:pt idx="5">
                  <c:v>141284</c:v>
                </c:pt>
                <c:pt idx="6">
                  <c:v>281092</c:v>
                </c:pt>
                <c:pt idx="7">
                  <c:v>113360</c:v>
                </c:pt>
                <c:pt idx="8">
                  <c:v>13427</c:v>
                </c:pt>
                <c:pt idx="9">
                  <c:v>1665928</c:v>
                </c:pt>
                <c:pt idx="10">
                  <c:v>630117</c:v>
                </c:pt>
                <c:pt idx="11">
                  <c:v>34235</c:v>
                </c:pt>
                <c:pt idx="12">
                  <c:v>96673</c:v>
                </c:pt>
                <c:pt idx="13">
                  <c:v>545507</c:v>
                </c:pt>
                <c:pt idx="14">
                  <c:v>180539</c:v>
                </c:pt>
                <c:pt idx="15">
                  <c:v>106076</c:v>
                </c:pt>
                <c:pt idx="16">
                  <c:v>424074</c:v>
                </c:pt>
                <c:pt idx="17">
                  <c:v>719101</c:v>
                </c:pt>
                <c:pt idx="18">
                  <c:v>41662</c:v>
                </c:pt>
                <c:pt idx="19">
                  <c:v>563397</c:v>
                </c:pt>
                <c:pt idx="20">
                  <c:v>349967</c:v>
                </c:pt>
                <c:pt idx="21">
                  <c:v>301508</c:v>
                </c:pt>
                <c:pt idx="22">
                  <c:v>209216</c:v>
                </c:pt>
                <c:pt idx="23">
                  <c:v>161821</c:v>
                </c:pt>
                <c:pt idx="24">
                  <c:v>895013</c:v>
                </c:pt>
                <c:pt idx="25">
                  <c:v>65847</c:v>
                </c:pt>
                <c:pt idx="26">
                  <c:v>88447</c:v>
                </c:pt>
                <c:pt idx="27">
                  <c:v>128987</c:v>
                </c:pt>
                <c:pt idx="28">
                  <c:v>3041</c:v>
                </c:pt>
                <c:pt idx="29">
                  <c:v>860857</c:v>
                </c:pt>
                <c:pt idx="30">
                  <c:v>327310</c:v>
                </c:pt>
                <c:pt idx="31">
                  <c:v>798785</c:v>
                </c:pt>
                <c:pt idx="32">
                  <c:v>97950</c:v>
                </c:pt>
                <c:pt idx="33">
                  <c:v>623329</c:v>
                </c:pt>
                <c:pt idx="34">
                  <c:v>27093</c:v>
                </c:pt>
                <c:pt idx="35">
                  <c:v>55695</c:v>
                </c:pt>
                <c:pt idx="36">
                  <c:v>348969</c:v>
                </c:pt>
                <c:pt idx="37">
                  <c:v>96462</c:v>
                </c:pt>
                <c:pt idx="38">
                  <c:v>621686</c:v>
                </c:pt>
                <c:pt idx="39">
                  <c:v>95149</c:v>
                </c:pt>
                <c:pt idx="40">
                  <c:v>36284</c:v>
                </c:pt>
                <c:pt idx="41">
                  <c:v>529417</c:v>
                </c:pt>
                <c:pt idx="42">
                  <c:v>220180</c:v>
                </c:pt>
                <c:pt idx="43">
                  <c:v>232026</c:v>
                </c:pt>
                <c:pt idx="44">
                  <c:v>182814</c:v>
                </c:pt>
                <c:pt idx="45">
                  <c:v>80872</c:v>
                </c:pt>
              </c:numCache>
            </c:numRef>
          </c:yVal>
        </c:ser>
        <c:ser>
          <c:idx val="1"/>
          <c:order val="1"/>
          <c:tx>
            <c:v>Illinois</c:v>
          </c:tx>
          <c:spPr>
            <a:solidFill xmlns:a="http://schemas.openxmlformats.org/drawingml/2006/main">
              <a:srgbClr val="3F73C7"/>
            </a:solidFill>
            <a:ln xmlns:a="http://schemas.openxmlformats.org/drawingml/2006/main" w="0">
              <a:solidFill>
                <a:srgbClr val="3F73C7"/>
              </a:solidFill>
            </a:ln>
          </c:spPr>
          <c:marker>
            <c:symbol val="circle"/>
            <c:size val="11"/>
            <c:spPr>
              <a:solidFill xmlns:a="http://schemas.openxmlformats.org/drawingml/2006/main">
                <a:srgbClr val="3F73C7"/>
              </a:solidFill>
            </c:spPr>
          </c:marker>
          <c:xVal>
            <c:numRef>
              <c:f>'Chart Data'!$C$2:$C$2</c:f>
              <c:numCache>
                <c:formatCode>General</c:formatCode>
                <c:ptCount val="1"/>
                <c:pt idx="0">
                  <c:v>672210</c:v>
                </c:pt>
              </c:numCache>
            </c:numRef>
          </c:xVal>
          <c:yVal>
            <c:numRef>
              <c:f>'Chart Data'!$D$2:$D$2</c:f>
              <c:numCache>
                <c:formatCode>0.0,,"M"</c:formatCode>
                <c:ptCount val="1"/>
                <c:pt idx="0">
                  <c:v>529706</c:v>
                </c:pt>
              </c:numCache>
            </c:numRef>
          </c:yVal>
        </c:ser>
        <c:ser>
          <c:idx val="2"/>
          <c:order val="2"/>
          <c:tx>
            <c:v>Identification examples</c:v>
          </c:tx>
          <c:spPr>
            <a:solidFill xmlns:a="http://schemas.openxmlformats.org/drawingml/2006/main">
              <a:srgbClr val="5FA7D9"/>
            </a:solidFill>
            <a:ln xmlns:a="http://schemas.openxmlformats.org/drawingml/2006/main" w="0">
              <a:solidFill>
                <a:srgbClr val="5FA7D9"/>
              </a:solidFill>
            </a:ln>
          </c:spPr>
          <c:marker>
            <c:symbol val="circle"/>
            <c:size val="11"/>
            <c:spPr>
              <a:solidFill xmlns:a="http://schemas.openxmlformats.org/drawingml/2006/main">
                <a:srgbClr val="5FA7D9"/>
              </a:solidFill>
            </c:spPr>
          </c:marker>
          <c:xVal>
            <c:numRef>
              <c:f>'Chart Data'!$E$2:$E$3</c:f>
              <c:numCache>
                <c:formatCode>General</c:formatCode>
                <c:ptCount val="2"/>
                <c:pt idx="0">
                  <c:v>114501</c:v>
                </c:pt>
                <c:pt idx="1">
                  <c:v>113717</c:v>
                </c:pt>
              </c:numCache>
            </c:numRef>
          </c:xVal>
          <c:yVal>
            <c:numRef>
              <c:f>'Chart Data'!$F$2:$F$3</c:f>
              <c:numCache>
                <c:formatCode>0.0,,"M"</c:formatCode>
                <c:ptCount val="2"/>
                <c:pt idx="0">
                  <c:v>2178881</c:v>
                </c:pt>
                <c:pt idx="1">
                  <c:v>2055512</c:v>
                </c:pt>
              </c:numCache>
            </c:numRef>
          </c:yVal>
        </c:ser>
        <c:ser>
          <c:idx val="3"/>
          <c:order val="3"/>
          <c:tx>
            <c:v>High on both</c:v>
          </c:tx>
          <c:spPr>
            <a:solidFill xmlns:a="http://schemas.openxmlformats.org/drawingml/2006/main">
              <a:srgbClr val="7356A6"/>
            </a:solidFill>
            <a:ln xmlns:a="http://schemas.openxmlformats.org/drawingml/2006/main" w="0">
              <a:solidFill>
                <a:srgbClr val="7356A6"/>
              </a:solidFill>
            </a:ln>
          </c:spPr>
          <c:marker>
            <c:symbol val="circle"/>
            <c:size val="11"/>
            <c:spPr>
              <a:solidFill xmlns:a="http://schemas.openxmlformats.org/drawingml/2006/main">
                <a:srgbClr val="7356A6"/>
              </a:solidFill>
            </c:spPr>
          </c:marker>
          <c:xVal>
            <c:numRef>
              <c:f>'Chart Data'!$G$2:$G$3</c:f>
              <c:numCache>
                <c:formatCode>General</c:formatCode>
                <c:ptCount val="2"/>
                <c:pt idx="0">
                  <c:v>321502</c:v>
                </c:pt>
                <c:pt idx="1">
                  <c:v>289055</c:v>
                </c:pt>
              </c:numCache>
            </c:numRef>
          </c:xVal>
          <c:yVal>
            <c:numRef>
              <c:f>'Chart Data'!$H$2:$H$3</c:f>
              <c:numCache>
                <c:formatCode>0.0,,"M"</c:formatCode>
                <c:ptCount val="2"/>
                <c:pt idx="0">
                  <c:v>878788</c:v>
                </c:pt>
                <c:pt idx="1">
                  <c:v>951163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300000"/>
          <c:min val="0"/>
        </c:scaling>
        <c:delete val="0"/>
        <c:axPos val="l"/>
        <c:majorGridlines>
          <c:spPr>
            <a:ln xmlns:a="http://schemas.openxmlformats.org/drawingml/2006/main" w="9525">
              <a:solidFill>
                <a:srgbClr val="E1E6E3"/>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3333F"/>
                    </a:solidFill>
                    <a:latin typeface="Arial"/>
                    <a:ea typeface="Arial"/>
                    <a:cs typeface="Arial"/>
                  </a:rPr>
                  <a:t>Lead Status Unknown</a:t>
                </a:r>
              </a:p>
            </c:rich>
          </c:tx>
          <c:overlay val="0"/>
          <c:txPr>
            <a:bodyPr xmlns:a="http://schemas.openxmlformats.org/drawingml/2006/main" anchorCtr="1"/>
            <a:lstStyle xmlns:a="http://schemas.openxmlformats.org/drawingml/2006/main"/>
            <a:p xmlns:a="http://schemas.openxmlformats.org/drawingml/2006/main">
              <a:pPr>
                <a:defRPr sz="1050">
                  <a:solidFill>
                    <a:srgbClr val="23333F"/>
                  </a:solidFill>
                  <a:latin typeface="Arial"/>
                  <a:ea typeface="Arial"/>
                  <a:cs typeface="Arial"/>
                </a:defRPr>
              </a:pPr>
            </a:p>
          </c:txPr>
        </c:title>
        <c:numFmt formatCode="0.0,,&quot;M&quot;"/>
        <c:majorTickMark val="none"/>
        <c:minorTickMark val="none"/>
        <c:spPr>
          <a:ln xmlns:a="http://schemas.openxmlformats.org/drawingml/2006/main" w="9525">
            <a:solidFill>
              <a:srgbClr val="D8DED9"/>
            </a:solidFill>
            <a:prstDash val="solid"/>
          </a:ln>
        </c:spPr>
        <c:txPr>
          <a:bodyPr xmlns:a="http://schemas.openxmlformats.org/drawingml/2006/main" anchorCtr="1"/>
          <a:lstStyle xmlns:a="http://schemas.openxmlformats.org/drawingml/2006/main"/>
          <a:p xmlns:a="http://schemas.openxmlformats.org/drawingml/2006/main">
            <a:pPr>
              <a:defRPr sz="900">
                <a:solidFill>
                  <a:srgbClr val="65727B"/>
                </a:solidFill>
                <a:latin typeface="Arial"/>
                <a:ea typeface="Arial"/>
                <a:cs typeface="Arial"/>
              </a:defRPr>
            </a:pPr>
          </a:p>
        </c:txPr>
        <c:crossAx val="48650112"/>
        <c:majorUnit val="500000"/>
      </c:valAx>
      <c:valAx>
        <c:axId val="48650112"/>
        <c:scaling>
          <c:orientation val="minMax"/>
          <c:max val="720000"/>
          <c:min val="0"/>
        </c:scaling>
        <c:delete val="0"/>
        <c:axPos val="b"/>
        <c:title>
          <c:tx>
            <c:rich>
              <a:bodyPr xmlns:a="http://schemas.openxmlformats.org/drawingml/2006/main"/>
              <a:lstStyle xmlns:a="http://schemas.openxmlformats.org/drawingml/2006/main"/>
              <a:p xmlns:a="http://schemas.openxmlformats.org/drawingml/2006/main">
                <a:r>
                  <a:rPr sz="1050">
                    <a:solidFill>
                      <a:srgbClr val="23333F"/>
                    </a:solidFill>
                    <a:latin typeface="Arial"/>
                    <a:ea typeface="Arial"/>
                    <a:cs typeface="Arial"/>
                  </a:rPr>
                  <a:t>Known Replacement Inventory</a:t>
                </a:r>
              </a:p>
            </c:rich>
          </c:tx>
          <c:overlay val="0"/>
          <c:txPr>
            <a:bodyPr xmlns:a="http://schemas.openxmlformats.org/drawingml/2006/main" anchorCtr="1"/>
            <a:lstStyle xmlns:a="http://schemas.openxmlformats.org/drawingml/2006/main"/>
            <a:p xmlns:a="http://schemas.openxmlformats.org/drawingml/2006/main">
              <a:pPr>
                <a:defRPr sz="1050">
                  <a:solidFill>
                    <a:srgbClr val="23333F"/>
                  </a:solidFill>
                  <a:latin typeface="Arial"/>
                  <a:ea typeface="Arial"/>
                  <a:cs typeface="Arial"/>
                </a:defRPr>
              </a:pPr>
            </a:p>
          </c:txPr>
        </c:title>
        <c:numFmt formatCode="0,&quot;k&quot;"/>
        <c:majorTickMark val="none"/>
        <c:minorTickMark val="none"/>
        <c:spPr>
          <a:ln xmlns:a="http://schemas.openxmlformats.org/drawingml/2006/main" w="9525">
            <a:solidFill>
              <a:srgbClr val="D8DED9"/>
            </a:solidFill>
            <a:prstDash val="solid"/>
          </a:ln>
        </c:spPr>
        <c:txPr>
          <a:bodyPr xmlns:a="http://schemas.openxmlformats.org/drawingml/2006/main" anchorCtr="1"/>
          <a:lstStyle xmlns:a="http://schemas.openxmlformats.org/drawingml/2006/main"/>
          <a:p xmlns:a="http://schemas.openxmlformats.org/drawingml/2006/main">
            <a:pPr>
              <a:defRPr sz="900">
                <a:solidFill>
                  <a:srgbClr val="65727B"/>
                </a:solidFill>
                <a:latin typeface="Arial"/>
                <a:ea typeface="Arial"/>
                <a:cs typeface="Arial"/>
              </a:defRPr>
            </a:pPr>
          </a:p>
        </c:txPr>
        <c:crossAx val="48672768"/>
        <c:majorUnit val="100000"/>
      </c:valAx>
      <c:spPr>
        <a:solidFill xmlns:a="http://schemas.openxmlformats.org/drawingml/2006/main">
          <a:srgbClr val="F7F4EE"/>
        </a:solidFill>
        <a:ln xmlns:a="http://schemas.openxmlformats.org/drawingml/2006/main" w="0">
          <a:noFill/>
        </a:ln>
      </c:spPr>
    </c:plotArea>
    <c:plotVisOnly val="1"/>
  </c:chart>
  <c:spPr>
    <a:solidFill xmlns:a="http://schemas.openxmlformats.org/drawingml/2006/main">
      <a:srgbClr val="F7F4EE"/>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States retained</c:v>
          </c:tx>
          <c:spPr>
            <a:solidFill xmlns:a="http://schemas.openxmlformats.org/drawingml/2006/main">
              <a:srgbClr val="71A84F"/>
            </a:solidFill>
          </c:spPr>
          <c:dPt>
            <c:idx val="0"/>
            <c:invertIfNegative val="0"/>
            <c:spPr>
              <a:solidFill xmlns:a="http://schemas.openxmlformats.org/drawingml/2006/main">
                <a:srgbClr val="5FA7D9"/>
              </a:solidFill>
              <a:ln xmlns:a="http://schemas.openxmlformats.org/drawingml/2006/main" w="0">
                <a:solidFill>
                  <a:srgbClr val="5FA7D9"/>
                </a:solidFill>
              </a:ln>
            </c:spPr>
          </c:dPt>
          <c:dPt>
            <c:idx val="1"/>
            <c:invertIfNegative val="0"/>
            <c:spPr>
              <a:solidFill xmlns:a="http://schemas.openxmlformats.org/drawingml/2006/main">
                <a:srgbClr val="3F73C7"/>
              </a:solidFill>
              <a:ln xmlns:a="http://schemas.openxmlformats.org/drawingml/2006/main" w="0">
                <a:solidFill>
                  <a:srgbClr val="3F73C7"/>
                </a:solidFill>
              </a:ln>
            </c:spPr>
          </c:dPt>
          <c:dLbls>
            <c:dLbl>
              <c:idx val="0"/>
              <c:tx>
                <c:rich>
                  <a:bodyPr xmlns:a="http://schemas.openxmlformats.org/drawingml/2006/main"/>
                  <a:lstStyle xmlns:a="http://schemas.openxmlformats.org/drawingml/2006/main"/>
                  <a:p xmlns:a="http://schemas.openxmlformats.org/drawingml/2006/main">
                    <a:r>
                      <a:rPr sz="1350" b="1">
                        <a:solidFill>
                          <a:srgbClr val="5FA7D9"/>
                        </a:solidFill>
                        <a:latin typeface="Arial"/>
                        <a:ea typeface="Arial"/>
                        <a:cs typeface="Arial"/>
                      </a:rPr>
                      <a:t>3 of 10</a:t>
                    </a:r>
                  </a:p>
                </c:rich>
              </c:tx>
              <c:txPr>
                <a:bodyPr xmlns:a="http://schemas.openxmlformats.org/drawingml/2006/main" anchorCtr="1"/>
                <a:lstStyle xmlns:a="http://schemas.openxmlformats.org/drawingml/2006/main"/>
                <a:p xmlns:a="http://schemas.openxmlformats.org/drawingml/2006/main">
                  <a:pPr>
                    <a:defRPr sz="1350" b="1">
                      <a:solidFill>
                        <a:srgbClr val="5FA7D9"/>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b="1">
                        <a:solidFill>
                          <a:srgbClr val="3F73C7"/>
                        </a:solidFill>
                        <a:latin typeface="Arial"/>
                        <a:ea typeface="Arial"/>
                        <a:cs typeface="Arial"/>
                      </a:rPr>
                      <a:t>6 of 10</a:t>
                    </a:r>
                  </a:p>
                </c:rich>
              </c:tx>
              <c:txPr>
                <a:bodyPr xmlns:a="http://schemas.openxmlformats.org/drawingml/2006/main" anchorCtr="1"/>
                <a:lstStyle xmlns:a="http://schemas.openxmlformats.org/drawingml/2006/main"/>
                <a:p xmlns:a="http://schemas.openxmlformats.org/drawingml/2006/main">
                  <a:pPr>
                    <a:defRPr sz="1350" b="1">
                      <a:solidFill>
                        <a:srgbClr val="3F73C7"/>
                      </a:solidFill>
                      <a:latin typeface="Arial"/>
                      <a:ea typeface="Arial"/>
                      <a:cs typeface="Arial"/>
                    </a:defRPr>
                  </a:pPr>
                </a:p>
              </c:txPr>
              <c:dLblPos val="outEnd"/>
              <c:showLegendKey val="0"/>
              <c:showVal val="0"/>
              <c:showCatName val="0"/>
              <c:showSerName val="0"/>
              <c:showPercent val="0"/>
              <c:showBubbleSize val="0"/>
            </c:dLbl>
          </c:dLbls>
          <c:cat>
            <c:strRef>
              <c:f>'Chart Data'!$A$2:$A$3</c:f>
              <c:strCache>
                <c:ptCount val="2"/>
                <c:pt idx="0">
                  <c:v>Identification Need</c:v>
                </c:pt>
                <c:pt idx="1">
                  <c:v>Known Replacement</c:v>
                </c:pt>
              </c:strCache>
            </c:strRef>
          </c:cat>
          <c:val>
            <c:numRef>
              <c:f>'Chart Data'!$B$2:$B$3</c:f>
              <c:numCache>
                <c:formatCode>General</c:formatCode>
                <c:ptCount val="2"/>
                <c:pt idx="0">
                  <c:v>3</c:v>
                </c:pt>
                <c:pt idx="1">
                  <c:v>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b="1">
                <a:solidFill>
                  <a:srgbClr val="23333F"/>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6508BD-A096-428E-9D5D-61F62AC9C47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FA7D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9D7EC1-CF9F-4EF5-A476-259958284DBD}"/>
              </a:ext>
            </a:extLst>
          </p:cNvPr>
          <p:cNvSpPr>
            <a:spLocks xmlns:a="http://schemas.openxmlformats.org/drawingml/2006/main" noGrp="1"/>
          </p:cNvSpPr>
          <p:nvPr/>
        </p:nvSpPr>
        <p:spPr>
          <a:xfrm xmlns:a="http://schemas.openxmlformats.org/drawingml/2006/main">
            <a:off x="704850" y="47625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buNone/>
              <a:defRPr sz="1050" b="1">
                <a:solidFill>
                  <a:srgbClr val="9FC0E7"/>
                </a:solidFill>
                <a:latin typeface="Arial"/>
                <a:ea typeface="Arial"/>
                <a:cs typeface="Arial"/>
              </a:defRPr>
            </a:pPr>
            <a:r>
              <a:rPr sz="1050" b="1">
                <a:solidFill>
                  <a:srgbClr val="9FC0E7"/>
                </a:solidFill>
                <a:latin typeface="Arial"/>
                <a:ea typeface="Arial"/>
                <a:cs typeface="Arial"/>
              </a:rPr>
              <a:t>LEAD SERVICE LINE INFRASTRUCTURE NEED</a:t>
            </a:r>
          </a:p>
        </p:txBody>
      </p:sp>
      <p:sp>
        <p:nvSpPr>
          <p:cNvPr id="3" name="">
            <a:extLst xmlns:a="http://schemas.openxmlformats.org/drawingml/2006/main">
              <a:ext uri="{FF2B5EF4-FFF2-40B4-BE49-F238E27FC236}">
                <a16:creationId xmlns:a16="http://schemas.microsoft.com/office/drawing/2014/main" id="{7619A660-D40D-4347-A4C3-8CEF04A197B3}"/>
              </a:ext>
            </a:extLst>
          </p:cNvPr>
          <p:cNvSpPr>
            <a:spLocks xmlns:a="http://schemas.openxmlformats.org/drawingml/2006/main" noGrp="1"/>
          </p:cNvSpPr>
          <p:nvPr/>
        </p:nvSpPr>
        <p:spPr>
          <a:xfrm xmlns:a="http://schemas.openxmlformats.org/drawingml/2006/main">
            <a:off x="704850" y="866775"/>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56"/>
          </a:bodyPr>
          <a:lstStyle xmlns:a="http://schemas.openxmlformats.org/drawingml/2006/main"/>
          <a:p xmlns:a="http://schemas.openxmlformats.org/drawingml/2006/main">
            <a:pPr>
              <a:buNone/>
              <a:defRPr sz="3900" b="1">
                <a:solidFill>
                  <a:srgbClr val="FFFFFF"/>
                </a:solidFill>
                <a:latin typeface="Arial"/>
                <a:ea typeface="Arial"/>
                <a:cs typeface="Arial"/>
              </a:defRPr>
            </a:pPr>
            <a:r>
              <a:rPr sz="3900" b="1">
                <a:solidFill>
                  <a:srgbClr val="FFFFFF"/>
                </a:solidFill>
                <a:latin typeface="Arial"/>
                <a:ea typeface="Arial"/>
                <a:cs typeface="Arial"/>
              </a:rPr>
              <a:t>Lead service line needs begin with two different jobs</a:t>
            </a:r>
          </a:p>
        </p:txBody>
      </p:sp>
      <p:sp>
        <p:nvSpPr>
          <p:cNvPr id="4" name="">
            <a:extLst xmlns:a="http://schemas.openxmlformats.org/drawingml/2006/main">
              <a:ext uri="{FF2B5EF4-FFF2-40B4-BE49-F238E27FC236}">
                <a16:creationId xmlns:a16="http://schemas.microsoft.com/office/drawing/2014/main" id="{B0D5B2B4-A9CD-41B1-BA8F-14C0786FE589}"/>
              </a:ext>
            </a:extLst>
          </p:cNvPr>
          <p:cNvSpPr>
            <a:spLocks xmlns:a="http://schemas.openxmlformats.org/drawingml/2006/main" noGrp="1"/>
          </p:cNvSpPr>
          <p:nvPr/>
        </p:nvSpPr>
        <p:spPr>
          <a:xfrm xmlns:a="http://schemas.openxmlformats.org/drawingml/2006/main">
            <a:off x="723900" y="2028825"/>
            <a:ext cx="847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0">
                <a:solidFill>
                  <a:srgbClr val="C6D6E2"/>
                </a:solidFill>
                <a:latin typeface="Arial"/>
                <a:ea typeface="Arial"/>
                <a:cs typeface="Arial"/>
              </a:defRPr>
            </a:pPr>
            <a:r>
              <a:rPr sz="1650" b="0">
                <a:solidFill>
                  <a:srgbClr val="C6D6E2"/>
                </a:solidFill>
                <a:latin typeface="Arial"/>
                <a:ea typeface="Arial"/>
                <a:cs typeface="Arial"/>
              </a:rPr>
              <a:t>Where are infrastructure needs greatest across U.S. states?</a:t>
            </a:r>
          </a:p>
        </p:txBody>
      </p:sp>
      <p:sp>
        <p:nvSpPr>
          <p:cNvPr id="5" name="">
            <a:extLst xmlns:a="http://schemas.openxmlformats.org/drawingml/2006/main">
              <a:ext uri="{FF2B5EF4-FFF2-40B4-BE49-F238E27FC236}">
                <a16:creationId xmlns:a16="http://schemas.microsoft.com/office/drawing/2014/main" id="{1259971D-2189-4DD2-B3D1-BAEB248E62D1}"/>
              </a:ext>
            </a:extLst>
          </p:cNvPr>
          <p:cNvSpPr>
            <a:spLocks xmlns:a="http://schemas.openxmlformats.org/drawingml/2006/main" noGrp="1"/>
          </p:cNvSpPr>
          <p:nvPr/>
        </p:nvSpPr>
        <p:spPr>
          <a:xfrm xmlns:a="http://schemas.openxmlformats.org/drawingml/2006/main">
            <a:off x="742950" y="28575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a:solidFill>
                  <a:srgbClr val="5FA7D9"/>
                </a:solidFill>
                <a:latin typeface="Arial"/>
                <a:ea typeface="Arial"/>
                <a:cs typeface="Arial"/>
              </a:defRPr>
            </a:pPr>
            <a:r>
              <a:rPr sz="3300" b="1">
                <a:solidFill>
                  <a:srgbClr val="5FA7D9"/>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1AD2321-0E83-4AA7-BBB8-DD4FAB6AE64C}"/>
              </a:ext>
            </a:extLst>
          </p:cNvPr>
          <p:cNvSpPr>
            <a:spLocks xmlns:a="http://schemas.openxmlformats.org/drawingml/2006/main" noGrp="1"/>
          </p:cNvSpPr>
          <p:nvPr/>
        </p:nvSpPr>
        <p:spPr>
          <a:xfrm xmlns:a="http://schemas.openxmlformats.org/drawingml/2006/main">
            <a:off x="1581150" y="29241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970"/>
          </a:bodyPr>
          <a:lstStyle xmlns:a="http://schemas.openxmlformats.org/drawingml/2006/main"/>
          <a:p xmlns:a="http://schemas.openxmlformats.org/drawingml/2006/main">
            <a:pPr>
              <a:buNone/>
              <a:defRPr sz="2475" b="1">
                <a:solidFill>
                  <a:srgbClr val="FFFFFF"/>
                </a:solidFill>
                <a:latin typeface="Arial"/>
                <a:ea typeface="Arial"/>
                <a:cs typeface="Arial"/>
              </a:defRPr>
            </a:pPr>
            <a:r>
              <a:rPr sz="2475" b="1">
                <a:solidFill>
                  <a:srgbClr val="FFFFFF"/>
                </a:solidFill>
                <a:latin typeface="Arial"/>
                <a:ea typeface="Arial"/>
                <a:cs typeface="Arial"/>
              </a:rPr>
              <a:t>IDENTIFY</a:t>
            </a:r>
          </a:p>
        </p:txBody>
      </p:sp>
      <p:sp>
        <p:nvSpPr>
          <p:cNvPr id="7" name="">
            <a:extLst xmlns:a="http://schemas.openxmlformats.org/drawingml/2006/main">
              <a:ext uri="{FF2B5EF4-FFF2-40B4-BE49-F238E27FC236}">
                <a16:creationId xmlns:a16="http://schemas.microsoft.com/office/drawing/2014/main" id="{855080FB-E608-4164-B05C-E5B758A2015A}"/>
              </a:ext>
            </a:extLst>
          </p:cNvPr>
          <p:cNvSpPr>
            <a:spLocks xmlns:a="http://schemas.openxmlformats.org/drawingml/2006/main" noGrp="1"/>
          </p:cNvSpPr>
          <p:nvPr/>
        </p:nvSpPr>
        <p:spPr>
          <a:xfrm xmlns:a="http://schemas.openxmlformats.org/drawingml/2006/main">
            <a:off x="762000" y="356235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0">
                <a:solidFill>
                  <a:srgbClr val="D7E2EA"/>
                </a:solidFill>
                <a:latin typeface="Arial"/>
                <a:ea typeface="Arial"/>
                <a:cs typeface="Arial"/>
              </a:defRPr>
            </a:pPr>
            <a:r>
              <a:rPr sz="1650" b="0">
                <a:solidFill>
                  <a:srgbClr val="D7E2EA"/>
                </a:solidFill>
                <a:latin typeface="Arial"/>
                <a:ea typeface="Arial"/>
                <a:cs typeface="Arial"/>
              </a:rPr>
              <a:t>Resolve Lead Status Unknown lines</a:t>
            </a:r>
          </a:p>
        </p:txBody>
      </p:sp>
      <p:sp>
        <p:nvSpPr>
          <p:cNvPr id="8" name="">
            <a:extLst xmlns:a="http://schemas.openxmlformats.org/drawingml/2006/main">
              <a:ext uri="{FF2B5EF4-FFF2-40B4-BE49-F238E27FC236}">
                <a16:creationId xmlns:a16="http://schemas.microsoft.com/office/drawing/2014/main" id="{3202D31D-B4BB-48E0-8E46-5598FF3608D5}"/>
              </a:ext>
            </a:extLst>
          </p:cNvPr>
          <p:cNvSpPr>
            <a:spLocks xmlns:a="http://schemas.openxmlformats.org/drawingml/2006/main" noGrp="1"/>
          </p:cNvSpPr>
          <p:nvPr/>
        </p:nvSpPr>
        <p:spPr>
          <a:xfrm xmlns:a="http://schemas.openxmlformats.org/drawingml/2006/main">
            <a:off x="762000" y="4048125"/>
            <a:ext cx="419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AFC2CF"/>
                </a:solidFill>
                <a:latin typeface="Arial"/>
                <a:ea typeface="Arial"/>
                <a:cs typeface="Arial"/>
              </a:defRPr>
            </a:pPr>
            <a:r>
              <a:rPr sz="1350" b="0">
                <a:solidFill>
                  <a:srgbClr val="AFC2CF"/>
                </a:solidFill>
                <a:latin typeface="Arial"/>
                <a:ea typeface="Arial"/>
                <a:cs typeface="Arial"/>
              </a:rPr>
              <a:t>These lines still require material classification.</a:t>
            </a:r>
          </a:p>
        </p:txBody>
      </p:sp>
      <p:sp>
        <p:nvSpPr>
          <p:cNvPr id="9" name="">
            <a:extLst xmlns:a="http://schemas.openxmlformats.org/drawingml/2006/main">
              <a:ext uri="{FF2B5EF4-FFF2-40B4-BE49-F238E27FC236}">
                <a16:creationId xmlns:a16="http://schemas.microsoft.com/office/drawing/2014/main" id="{FF466F73-2149-4275-AA2B-80D0CB66378F}"/>
              </a:ext>
            </a:extLst>
          </p:cNvPr>
          <p:cNvSpPr>
            <a:spLocks xmlns:a="http://schemas.openxmlformats.org/drawingml/2006/main" noGrp="1"/>
          </p:cNvSpPr>
          <p:nvPr/>
        </p:nvSpPr>
        <p:spPr>
          <a:xfrm xmlns:a="http://schemas.openxmlformats.org/drawingml/2006/main">
            <a:off x="5924550" y="2781300"/>
            <a:ext cx="19050" cy="2000250"/>
          </a:xfrm>
          <a:prstGeom xmlns:a="http://schemas.openxmlformats.org/drawingml/2006/main" prst="rect">
            <a:avLst/>
          </a:prstGeom>
          <a:solidFill xmlns:a="http://schemas.openxmlformats.org/drawingml/2006/main">
            <a:srgbClr val="45637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CDAEE7-05A6-4AEF-A721-246E436A05D3}"/>
              </a:ext>
            </a:extLst>
          </p:cNvPr>
          <p:cNvSpPr>
            <a:spLocks xmlns:a="http://schemas.openxmlformats.org/drawingml/2006/main" noGrp="1"/>
          </p:cNvSpPr>
          <p:nvPr/>
        </p:nvSpPr>
        <p:spPr>
          <a:xfrm xmlns:a="http://schemas.openxmlformats.org/drawingml/2006/main">
            <a:off x="6610350" y="28575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a:solidFill>
                  <a:srgbClr val="7FA4DE"/>
                </a:solidFill>
                <a:latin typeface="Arial"/>
                <a:ea typeface="Arial"/>
                <a:cs typeface="Arial"/>
              </a:defRPr>
            </a:pPr>
            <a:r>
              <a:rPr sz="3300" b="1">
                <a:solidFill>
                  <a:srgbClr val="7FA4DE"/>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6789436-7F60-457C-84CB-8E54824C1C04}"/>
              </a:ext>
            </a:extLst>
          </p:cNvPr>
          <p:cNvSpPr>
            <a:spLocks xmlns:a="http://schemas.openxmlformats.org/drawingml/2006/main" noGrp="1"/>
          </p:cNvSpPr>
          <p:nvPr/>
        </p:nvSpPr>
        <p:spPr>
          <a:xfrm xmlns:a="http://schemas.openxmlformats.org/drawingml/2006/main">
            <a:off x="7448550" y="29241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970"/>
          </a:bodyPr>
          <a:lstStyle xmlns:a="http://schemas.openxmlformats.org/drawingml/2006/main"/>
          <a:p xmlns:a="http://schemas.openxmlformats.org/drawingml/2006/main">
            <a:pPr>
              <a:buNone/>
              <a:defRPr sz="2475" b="1">
                <a:solidFill>
                  <a:srgbClr val="FFFFFF"/>
                </a:solidFill>
                <a:latin typeface="Arial"/>
                <a:ea typeface="Arial"/>
                <a:cs typeface="Arial"/>
              </a:defRPr>
            </a:pPr>
            <a:r>
              <a:rPr sz="2475" b="1">
                <a:solidFill>
                  <a:srgbClr val="FFFFFF"/>
                </a:solidFill>
                <a:latin typeface="Arial"/>
                <a:ea typeface="Arial"/>
                <a:cs typeface="Arial"/>
              </a:rPr>
              <a:t>REPLACE</a:t>
            </a:r>
          </a:p>
        </p:txBody>
      </p:sp>
      <p:sp>
        <p:nvSpPr>
          <p:cNvPr id="12" name="">
            <a:extLst xmlns:a="http://schemas.openxmlformats.org/drawingml/2006/main">
              <a:ext uri="{FF2B5EF4-FFF2-40B4-BE49-F238E27FC236}">
                <a16:creationId xmlns:a16="http://schemas.microsoft.com/office/drawing/2014/main" id="{99B0FDA6-09D2-46DD-BD9F-01962F4935C1}"/>
              </a:ext>
            </a:extLst>
          </p:cNvPr>
          <p:cNvSpPr>
            <a:spLocks xmlns:a="http://schemas.openxmlformats.org/drawingml/2006/main" noGrp="1"/>
          </p:cNvSpPr>
          <p:nvPr/>
        </p:nvSpPr>
        <p:spPr>
          <a:xfrm xmlns:a="http://schemas.openxmlformats.org/drawingml/2006/main">
            <a:off x="6629400" y="356235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0">
                <a:solidFill>
                  <a:srgbClr val="D7E2EA"/>
                </a:solidFill>
                <a:latin typeface="Arial"/>
                <a:ea typeface="Arial"/>
                <a:cs typeface="Arial"/>
              </a:defRPr>
            </a:pPr>
            <a:r>
              <a:rPr sz="1650" b="0">
                <a:solidFill>
                  <a:srgbClr val="D7E2EA"/>
                </a:solidFill>
                <a:latin typeface="Arial"/>
                <a:ea typeface="Arial"/>
                <a:cs typeface="Arial"/>
              </a:rPr>
              <a:t>Act on known Lead and GRR lines</a:t>
            </a:r>
          </a:p>
        </p:txBody>
      </p:sp>
      <p:sp>
        <p:nvSpPr>
          <p:cNvPr id="13" name="">
            <a:extLst xmlns:a="http://schemas.openxmlformats.org/drawingml/2006/main">
              <a:ext uri="{FF2B5EF4-FFF2-40B4-BE49-F238E27FC236}">
                <a16:creationId xmlns:a16="http://schemas.microsoft.com/office/drawing/2014/main" id="{C8EA67F9-95A4-4FCC-9DBA-FAC1A54319DE}"/>
              </a:ext>
            </a:extLst>
          </p:cNvPr>
          <p:cNvSpPr>
            <a:spLocks xmlns:a="http://schemas.openxmlformats.org/drawingml/2006/main" noGrp="1"/>
          </p:cNvSpPr>
          <p:nvPr/>
        </p:nvSpPr>
        <p:spPr>
          <a:xfrm xmlns:a="http://schemas.openxmlformats.org/drawingml/2006/main">
            <a:off x="6629400" y="4048125"/>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AFC2CF"/>
                </a:solidFill>
                <a:latin typeface="Arial"/>
                <a:ea typeface="Arial"/>
                <a:cs typeface="Arial"/>
              </a:defRPr>
            </a:pPr>
            <a:r>
              <a:rPr sz="1350" b="0">
                <a:solidFill>
                  <a:srgbClr val="AFC2CF"/>
                </a:solidFill>
                <a:latin typeface="Arial"/>
                <a:ea typeface="Arial"/>
                <a:cs typeface="Arial"/>
              </a:rPr>
              <a:t>These lines form the already-classified replacement inventory.</a:t>
            </a:r>
          </a:p>
        </p:txBody>
      </p:sp>
      <p:sp>
        <p:nvSpPr>
          <p:cNvPr id="14" name="">
            <a:extLst xmlns:a="http://schemas.openxmlformats.org/drawingml/2006/main">
              <a:ext uri="{FF2B5EF4-FFF2-40B4-BE49-F238E27FC236}">
                <a16:creationId xmlns:a16="http://schemas.microsoft.com/office/drawing/2014/main" id="{C7A91C80-1F8F-43C9-AA96-72840943251A}"/>
              </a:ext>
            </a:extLst>
          </p:cNvPr>
          <p:cNvSpPr>
            <a:spLocks xmlns:a="http://schemas.openxmlformats.org/drawingml/2006/main" noGrp="1"/>
          </p:cNvSpPr>
          <p:nvPr/>
        </p:nvSpPr>
        <p:spPr>
          <a:xfrm xmlns:a="http://schemas.openxmlformats.org/drawingml/2006/main">
            <a:off x="742950" y="526732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States differ substantially in which job dominates.</a:t>
            </a:r>
          </a:p>
        </p:txBody>
      </p:sp>
      <p:sp>
        <p:nvSpPr>
          <p:cNvPr id="15" name="">
            <a:extLst xmlns:a="http://schemas.openxmlformats.org/drawingml/2006/main">
              <a:ext uri="{FF2B5EF4-FFF2-40B4-BE49-F238E27FC236}">
                <a16:creationId xmlns:a16="http://schemas.microsoft.com/office/drawing/2014/main" id="{C7391B6E-8663-476C-BAE0-A82D370AB6A9}"/>
              </a:ext>
            </a:extLst>
          </p:cNvPr>
          <p:cNvSpPr>
            <a:spLocks xmlns:a="http://schemas.openxmlformats.org/drawingml/2006/main" noGrp="1"/>
          </p:cNvSpPr>
          <p:nvPr/>
        </p:nvSpPr>
        <p:spPr>
          <a:xfrm xmlns:a="http://schemas.openxmlformats.org/drawingml/2006/main">
            <a:off x="742950" y="62293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a:solidFill>
                  <a:srgbClr val="AFC2CF"/>
                </a:solidFill>
                <a:latin typeface="Arial"/>
                <a:ea typeface="Arial"/>
                <a:cs typeface="Arial"/>
              </a:defRPr>
            </a:pPr>
            <a:r>
              <a:rPr sz="1050" b="0">
                <a:solidFill>
                  <a:srgbClr val="AFC2CF"/>
                </a:solidFill>
                <a:latin typeface="Arial"/>
                <a:ea typeface="Arial"/>
                <a:cs typeface="Arial"/>
              </a:rPr>
              <a:t>Scope: 43,993 complete-report Community Water Systems across 50 states and DC</a:t>
            </a:r>
          </a:p>
        </p:txBody>
      </p:sp>
      <p:sp>
        <p:nvSpPr>
          <p:cNvPr id="16" name="">
            <a:extLst xmlns:a="http://schemas.openxmlformats.org/drawingml/2006/main">
              <a:ext uri="{FF2B5EF4-FFF2-40B4-BE49-F238E27FC236}">
                <a16:creationId xmlns:a16="http://schemas.microsoft.com/office/drawing/2014/main" id="{12EA8229-63C4-4BE7-AED2-F37B06824085}"/>
              </a:ext>
            </a:extLst>
          </p:cNvPr>
          <p:cNvSpPr>
            <a:spLocks xmlns:a="http://schemas.openxmlformats.org/drawingml/2006/main" noGrp="1"/>
          </p:cNvSpPr>
          <p:nvPr/>
        </p:nvSpPr>
        <p:spPr>
          <a:xfrm xmlns:a="http://schemas.openxmlformats.org/drawingml/2006/main">
            <a:off x="11144250" y="62293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buNone/>
              <a:defRPr sz="900" b="0">
                <a:solidFill>
                  <a:srgbClr val="AFC2CF"/>
                </a:solidFill>
                <a:latin typeface="Arial"/>
                <a:ea typeface="Arial"/>
                <a:cs typeface="Arial"/>
              </a:defRPr>
            </a:pPr>
            <a:r>
              <a:rPr sz="900" b="0">
                <a:solidFill>
                  <a:srgbClr val="AFC2CF"/>
                </a:solidFill>
                <a:latin typeface="Arial"/>
                <a:ea typeface="Arial"/>
                <a:cs typeface="Arial"/>
              </a:rPr>
              <a:t>1</a:t>
            </a:r>
          </a:p>
        </p:txBody>
      </p:sp>
    </p:spTree>
    <p:extLst>
      <p:ext uri="{BB962C8B-B14F-4D97-AF65-F5344CB8AC3E}">
        <p14:creationId xmlns:p14="http://schemas.microsoft.com/office/powerpoint/2010/main" val="84173714"/>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C1F73E9-E319-47FE-BCCC-95B3D3A9899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D6E750-E8E6-4385-A722-B0A57F35C130}"/>
              </a:ext>
            </a:extLst>
          </p:cNvPr>
          <p:cNvSpPr>
            <a:spLocks xmlns:a="http://schemas.openxmlformats.org/drawingml/2006/main" noGrp="1"/>
          </p:cNvSpPr>
          <p:nvPr/>
        </p:nvSpPr>
        <p:spPr>
          <a:xfrm xmlns:a="http://schemas.openxmlformats.org/drawingml/2006/main">
            <a:off x="647700" y="41910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000" b="1">
                <a:solidFill>
                  <a:srgbClr val="102A43"/>
                </a:solidFill>
                <a:latin typeface="Arial"/>
                <a:ea typeface="Arial"/>
                <a:cs typeface="Arial"/>
              </a:defRPr>
            </a:pPr>
            <a:r>
              <a:rPr sz="3000" b="1">
                <a:solidFill>
                  <a:srgbClr val="102A43"/>
                </a:solidFill>
                <a:latin typeface="Arial"/>
                <a:ea typeface="Arial"/>
                <a:cs typeface="Arial"/>
              </a:rPr>
              <a:t>Identification is the larger unresolved workload</a:t>
            </a:r>
          </a:p>
        </p:txBody>
      </p:sp>
      <p:sp>
        <p:nvSpPr>
          <p:cNvPr id="3" name="">
            <a:extLst xmlns:a="http://schemas.openxmlformats.org/drawingml/2006/main">
              <a:ext uri="{FF2B5EF4-FFF2-40B4-BE49-F238E27FC236}">
                <a16:creationId xmlns:a16="http://schemas.microsoft.com/office/drawing/2014/main" id="{C6E040EC-3F50-43D2-A874-541F4BAE9733}"/>
              </a:ext>
            </a:extLst>
          </p:cNvPr>
          <p:cNvSpPr>
            <a:spLocks xmlns:a="http://schemas.openxmlformats.org/drawingml/2006/main" noGrp="1"/>
          </p:cNvSpPr>
          <p:nvPr/>
        </p:nvSpPr>
        <p:spPr>
          <a:xfrm xmlns:a="http://schemas.openxmlformats.org/drawingml/2006/main">
            <a:off x="666750" y="11906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65727B"/>
                </a:solidFill>
                <a:latin typeface="Arial"/>
                <a:ea typeface="Arial"/>
                <a:cs typeface="Arial"/>
              </a:defRPr>
            </a:pPr>
            <a:r>
              <a:rPr sz="1350" b="0">
                <a:solidFill>
                  <a:srgbClr val="65727B"/>
                </a:solidFill>
                <a:latin typeface="Arial"/>
                <a:ea typeface="Arial"/>
                <a:cs typeface="Arial"/>
              </a:rPr>
              <a:t>National inventory within the analytical sample</a:t>
            </a:r>
          </a:p>
        </p:txBody>
      </p:sp>
      <p:graphicFrame>
        <p:nvGraphicFramePr>
          <p:cNvPr id="23" name="Chart"/>
          <p:cNvGraphicFramePr/>
          <p:nvPr/>
        </p:nvGraphicFramePr>
        <p:xfrm>
          <a:off xmlns:a="http://schemas.openxmlformats.org/drawingml/2006/main" x="571500" y="1752600"/>
          <a:ext xmlns:a="http://schemas.openxmlformats.org/drawingml/2006/main" cx="8286750" cy="3905250"/>
        </p:xfrm>
        <a:graphic xmlns:a="http://schemas.openxmlformats.org/drawingml/2006/main">
          <a:graphicData uri="http://schemas.openxmlformats.org/drawingml/2006/chart">
            <c:chart xmlns:r="http://schemas.openxmlformats.org/officeDocument/2006/relationships" xmlns:c="http://schemas.openxmlformats.org/drawingml/2006/chart" r:id="R192543970cfc4365"/>
          </a:graphicData>
        </a:graphic>
      </p:graphicFrame>
      <p:sp>
        <p:nvSpPr>
          <p:cNvPr id="5" name="">
            <a:extLst xmlns:a="http://schemas.openxmlformats.org/drawingml/2006/main">
              <a:ext uri="{FF2B5EF4-FFF2-40B4-BE49-F238E27FC236}">
                <a16:creationId xmlns:a16="http://schemas.microsoft.com/office/drawing/2014/main" id="{A1B5D204-3C5A-47D7-81B0-04F205324C05}"/>
              </a:ext>
            </a:extLst>
          </p:cNvPr>
          <p:cNvSpPr>
            <a:spLocks xmlns:a="http://schemas.openxmlformats.org/drawingml/2006/main" noGrp="1"/>
          </p:cNvSpPr>
          <p:nvPr/>
        </p:nvSpPr>
        <p:spPr>
          <a:xfrm xmlns:a="http://schemas.openxmlformats.org/drawingml/2006/main">
            <a:off x="933450" y="17907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5FA7D9"/>
                </a:solidFill>
                <a:latin typeface="Arial"/>
                <a:ea typeface="Arial"/>
                <a:cs typeface="Arial"/>
              </a:defRPr>
            </a:pPr>
            <a:r>
              <a:rPr sz="1275" b="1">
                <a:solidFill>
                  <a:srgbClr val="5FA7D9"/>
                </a:solidFill>
                <a:latin typeface="Arial"/>
                <a:ea typeface="Arial"/>
                <a:cs typeface="Arial"/>
              </a:rPr>
              <a:t>Identification Need</a:t>
            </a:r>
          </a:p>
        </p:txBody>
      </p:sp>
      <p:sp>
        <p:nvSpPr>
          <p:cNvPr id="6" name="">
            <a:extLst xmlns:a="http://schemas.openxmlformats.org/drawingml/2006/main">
              <a:ext uri="{FF2B5EF4-FFF2-40B4-BE49-F238E27FC236}">
                <a16:creationId xmlns:a16="http://schemas.microsoft.com/office/drawing/2014/main" id="{FE176A22-77A2-4753-AFBF-9848155DA5D3}"/>
              </a:ext>
            </a:extLst>
          </p:cNvPr>
          <p:cNvSpPr>
            <a:spLocks xmlns:a="http://schemas.openxmlformats.org/drawingml/2006/main" noGrp="1"/>
          </p:cNvSpPr>
          <p:nvPr/>
        </p:nvSpPr>
        <p:spPr>
          <a:xfrm xmlns:a="http://schemas.openxmlformats.org/drawingml/2006/main">
            <a:off x="933450" y="35623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3F73C7"/>
                </a:solidFill>
                <a:latin typeface="Arial"/>
                <a:ea typeface="Arial"/>
                <a:cs typeface="Arial"/>
              </a:defRPr>
            </a:pPr>
            <a:r>
              <a:rPr sz="1275" b="1">
                <a:solidFill>
                  <a:srgbClr val="3F73C7"/>
                </a:solidFill>
                <a:latin typeface="Arial"/>
                <a:ea typeface="Arial"/>
                <a:cs typeface="Arial"/>
              </a:rPr>
              <a:t>Known Replacement</a:t>
            </a:r>
          </a:p>
        </p:txBody>
      </p:sp>
      <p:sp>
        <p:nvSpPr>
          <p:cNvPr id="7" name="">
            <a:extLst xmlns:a="http://schemas.openxmlformats.org/drawingml/2006/main">
              <a:ext uri="{FF2B5EF4-FFF2-40B4-BE49-F238E27FC236}">
                <a16:creationId xmlns:a16="http://schemas.microsoft.com/office/drawing/2014/main" id="{5FD7281B-64D8-4CF3-B86F-A81651757BCE}"/>
              </a:ext>
            </a:extLst>
          </p:cNvPr>
          <p:cNvSpPr>
            <a:spLocks xmlns:a="http://schemas.openxmlformats.org/drawingml/2006/main" noGrp="1"/>
          </p:cNvSpPr>
          <p:nvPr/>
        </p:nvSpPr>
        <p:spPr>
          <a:xfrm xmlns:a="http://schemas.openxmlformats.org/drawingml/2006/main">
            <a:off x="2895600" y="39814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102A43"/>
                </a:solidFill>
                <a:latin typeface="Arial"/>
                <a:ea typeface="Arial"/>
                <a:cs typeface="Arial"/>
              </a:defRPr>
            </a:pPr>
            <a:r>
              <a:rPr sz="1350" b="1">
                <a:solidFill>
                  <a:srgbClr val="102A43"/>
                </a:solidFill>
                <a:latin typeface="Arial"/>
                <a:ea typeface="Arial"/>
                <a:cs typeface="Arial"/>
              </a:rPr>
              <a:t>3.12M total</a:t>
            </a:r>
          </a:p>
        </p:txBody>
      </p:sp>
      <p:sp>
        <p:nvSpPr>
          <p:cNvPr id="8" name="">
            <a:extLst xmlns:a="http://schemas.openxmlformats.org/drawingml/2006/main">
              <a:ext uri="{FF2B5EF4-FFF2-40B4-BE49-F238E27FC236}">
                <a16:creationId xmlns:a16="http://schemas.microsoft.com/office/drawing/2014/main" id="{FE7503B4-0669-4FE4-99CA-22EF301A7018}"/>
              </a:ext>
            </a:extLst>
          </p:cNvPr>
          <p:cNvSpPr>
            <a:spLocks xmlns:a="http://schemas.openxmlformats.org/drawingml/2006/main" noGrp="1"/>
          </p:cNvSpPr>
          <p:nvPr/>
        </p:nvSpPr>
        <p:spPr>
          <a:xfrm xmlns:a="http://schemas.openxmlformats.org/drawingml/2006/main">
            <a:off x="2895600" y="42862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a:solidFill>
                  <a:srgbClr val="65727B"/>
                </a:solidFill>
                <a:latin typeface="Arial"/>
                <a:ea typeface="Arial"/>
                <a:cs typeface="Arial"/>
              </a:defRPr>
            </a:pPr>
            <a:r>
              <a:rPr sz="1125" b="0">
                <a:solidFill>
                  <a:srgbClr val="65727B"/>
                </a:solidFill>
                <a:latin typeface="Arial"/>
                <a:ea typeface="Arial"/>
                <a:cs typeface="Arial"/>
              </a:rPr>
              <a:t>2.18M Lead + 0.94M GRR</a:t>
            </a:r>
          </a:p>
        </p:txBody>
      </p:sp>
      <p:sp>
        <p:nvSpPr>
          <p:cNvPr id="9" name="">
            <a:extLst xmlns:a="http://schemas.openxmlformats.org/drawingml/2006/main">
              <a:ext uri="{FF2B5EF4-FFF2-40B4-BE49-F238E27FC236}">
                <a16:creationId xmlns:a16="http://schemas.microsoft.com/office/drawing/2014/main" id="{9DDDC956-C341-437A-A4D5-4BAF2BED31AC}"/>
              </a:ext>
            </a:extLst>
          </p:cNvPr>
          <p:cNvSpPr>
            <a:spLocks xmlns:a="http://schemas.openxmlformats.org/drawingml/2006/main" noGrp="1"/>
          </p:cNvSpPr>
          <p:nvPr/>
        </p:nvSpPr>
        <p:spPr>
          <a:xfrm xmlns:a="http://schemas.openxmlformats.org/drawingml/2006/main">
            <a:off x="9296400" y="1866900"/>
            <a:ext cx="219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12"/>
          </a:bodyPr>
          <a:lstStyle xmlns:a="http://schemas.openxmlformats.org/drawingml/2006/main"/>
          <a:p xmlns:a="http://schemas.openxmlformats.org/drawingml/2006/main">
            <a:pPr>
              <a:buNone/>
              <a:defRPr sz="4650" b="1">
                <a:solidFill>
                  <a:srgbClr val="5FA7D9"/>
                </a:solidFill>
                <a:latin typeface="Arial"/>
                <a:ea typeface="Arial"/>
                <a:cs typeface="Arial"/>
              </a:defRPr>
            </a:pPr>
            <a:r>
              <a:rPr sz="4650" b="1">
                <a:solidFill>
                  <a:srgbClr val="5FA7D9"/>
                </a:solidFill>
                <a:latin typeface="Arial"/>
                <a:ea typeface="Arial"/>
                <a:cs typeface="Arial"/>
              </a:rPr>
              <a:t>6.9×</a:t>
            </a:r>
          </a:p>
        </p:txBody>
      </p:sp>
      <p:sp>
        <p:nvSpPr>
          <p:cNvPr id="10" name="">
            <a:extLst xmlns:a="http://schemas.openxmlformats.org/drawingml/2006/main">
              <a:ext uri="{FF2B5EF4-FFF2-40B4-BE49-F238E27FC236}">
                <a16:creationId xmlns:a16="http://schemas.microsoft.com/office/drawing/2014/main" id="{4AD00BC6-9940-4C13-9267-EF7BFC8AE069}"/>
              </a:ext>
            </a:extLst>
          </p:cNvPr>
          <p:cNvSpPr>
            <a:spLocks xmlns:a="http://schemas.openxmlformats.org/drawingml/2006/main" noGrp="1"/>
          </p:cNvSpPr>
          <p:nvPr/>
        </p:nvSpPr>
        <p:spPr>
          <a:xfrm xmlns:a="http://schemas.openxmlformats.org/drawingml/2006/main">
            <a:off x="9334500" y="2619375"/>
            <a:ext cx="2143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1">
                <a:solidFill>
                  <a:srgbClr val="102A43"/>
                </a:solidFill>
                <a:latin typeface="Arial"/>
                <a:ea typeface="Arial"/>
                <a:cs typeface="Arial"/>
              </a:defRPr>
            </a:pPr>
            <a:r>
              <a:rPr sz="1575" b="1">
                <a:solidFill>
                  <a:srgbClr val="102A43"/>
                </a:solidFill>
                <a:latin typeface="Arial"/>
                <a:ea typeface="Arial"/>
                <a:cs typeface="Arial"/>
              </a:rPr>
              <a:t>more lines remain unknown than are already classified for replacement</a:t>
            </a:r>
          </a:p>
        </p:txBody>
      </p:sp>
      <p:sp>
        <p:nvSpPr>
          <p:cNvPr id="11" name="">
            <a:extLst xmlns:a="http://schemas.openxmlformats.org/drawingml/2006/main">
              <a:ext uri="{FF2B5EF4-FFF2-40B4-BE49-F238E27FC236}">
                <a16:creationId xmlns:a16="http://schemas.microsoft.com/office/drawing/2014/main" id="{06999CEF-9EE5-4AA9-98FF-89B947539F9F}"/>
              </a:ext>
            </a:extLst>
          </p:cNvPr>
          <p:cNvSpPr>
            <a:spLocks xmlns:a="http://schemas.openxmlformats.org/drawingml/2006/main" noGrp="1"/>
          </p:cNvSpPr>
          <p:nvPr/>
        </p:nvSpPr>
        <p:spPr>
          <a:xfrm xmlns:a="http://schemas.openxmlformats.org/drawingml/2006/main">
            <a:off x="9334500" y="40671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3F73C7"/>
                </a:solidFill>
                <a:latin typeface="Arial"/>
                <a:ea typeface="Arial"/>
                <a:cs typeface="Arial"/>
              </a:defRPr>
            </a:pPr>
            <a:r>
              <a:rPr sz="1275" b="1">
                <a:solidFill>
                  <a:srgbClr val="3F73C7"/>
                </a:solidFill>
                <a:latin typeface="Arial"/>
                <a:ea typeface="Arial"/>
                <a:cs typeface="Arial"/>
              </a:rPr>
              <a:t>Known Replacement</a:t>
            </a:r>
          </a:p>
        </p:txBody>
      </p:sp>
      <p:sp>
        <p:nvSpPr>
          <p:cNvPr id="12" name="">
            <a:extLst xmlns:a="http://schemas.openxmlformats.org/drawingml/2006/main">
              <a:ext uri="{FF2B5EF4-FFF2-40B4-BE49-F238E27FC236}">
                <a16:creationId xmlns:a16="http://schemas.microsoft.com/office/drawing/2014/main" id="{B0E429DC-561C-4E52-9E8C-2F23AD21ADB5}"/>
              </a:ext>
            </a:extLst>
          </p:cNvPr>
          <p:cNvSpPr>
            <a:spLocks xmlns:a="http://schemas.openxmlformats.org/drawingml/2006/main" noGrp="1"/>
          </p:cNvSpPr>
          <p:nvPr/>
        </p:nvSpPr>
        <p:spPr>
          <a:xfrm xmlns:a="http://schemas.openxmlformats.org/drawingml/2006/main">
            <a:off x="9334500" y="43719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buNone/>
              <a:defRPr sz="1875" b="1">
                <a:solidFill>
                  <a:srgbClr val="102A43"/>
                </a:solidFill>
                <a:latin typeface="Arial"/>
                <a:ea typeface="Arial"/>
                <a:cs typeface="Arial"/>
              </a:defRPr>
            </a:pPr>
            <a:r>
              <a:rPr sz="1875" b="1">
                <a:solidFill>
                  <a:srgbClr val="102A43"/>
                </a:solidFill>
                <a:latin typeface="Arial"/>
                <a:ea typeface="Arial"/>
                <a:cs typeface="Arial"/>
              </a:rPr>
              <a:t>3.12M total</a:t>
            </a:r>
          </a:p>
        </p:txBody>
      </p:sp>
      <p:sp>
        <p:nvSpPr>
          <p:cNvPr id="13" name="">
            <a:extLst xmlns:a="http://schemas.openxmlformats.org/drawingml/2006/main">
              <a:ext uri="{FF2B5EF4-FFF2-40B4-BE49-F238E27FC236}">
                <a16:creationId xmlns:a16="http://schemas.microsoft.com/office/drawing/2014/main" id="{DC29E971-6E88-4BE6-8BE9-56444FA8F752}"/>
              </a:ext>
            </a:extLst>
          </p:cNvPr>
          <p:cNvSpPr>
            <a:spLocks xmlns:a="http://schemas.openxmlformats.org/drawingml/2006/main" noGrp="1"/>
          </p:cNvSpPr>
          <p:nvPr/>
        </p:nvSpPr>
        <p:spPr>
          <a:xfrm xmlns:a="http://schemas.openxmlformats.org/drawingml/2006/main">
            <a:off x="9334500" y="47244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5727B"/>
                </a:solidFill>
                <a:latin typeface="Arial"/>
                <a:ea typeface="Arial"/>
                <a:cs typeface="Arial"/>
              </a:defRPr>
            </a:pPr>
            <a:r>
              <a:rPr sz="1200" b="0">
                <a:solidFill>
                  <a:srgbClr val="65727B"/>
                </a:solidFill>
                <a:latin typeface="Arial"/>
                <a:ea typeface="Arial"/>
                <a:cs typeface="Arial"/>
              </a:rPr>
              <a:t>Lead + GRR</a:t>
            </a:r>
          </a:p>
        </p:txBody>
      </p:sp>
      <p:sp>
        <p:nvSpPr>
          <p:cNvPr id="14" name="">
            <a:extLst xmlns:a="http://schemas.openxmlformats.org/drawingml/2006/main">
              <a:ext uri="{FF2B5EF4-FFF2-40B4-BE49-F238E27FC236}">
                <a16:creationId xmlns:a16="http://schemas.microsoft.com/office/drawing/2014/main" id="{E0AA0C4E-2822-4FD4-B320-42434E1B022B}"/>
              </a:ext>
            </a:extLst>
          </p:cNvPr>
          <p:cNvSpPr>
            <a:spLocks xmlns:a="http://schemas.openxmlformats.org/drawingml/2006/main" noGrp="1"/>
          </p:cNvSpPr>
          <p:nvPr/>
        </p:nvSpPr>
        <p:spPr>
          <a:xfrm xmlns:a="http://schemas.openxmlformats.org/drawingml/2006/main">
            <a:off x="9334500" y="5314950"/>
            <a:ext cx="2143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1">
                <a:solidFill>
                  <a:srgbClr val="5FA7D9"/>
                </a:solidFill>
                <a:latin typeface="Arial"/>
                <a:ea typeface="Arial"/>
                <a:cs typeface="Arial"/>
              </a:defRPr>
            </a:pPr>
            <a:r>
              <a:rPr sz="1275" b="1">
                <a:solidFill>
                  <a:srgbClr val="5FA7D9"/>
                </a:solidFill>
                <a:latin typeface="Arial"/>
                <a:ea typeface="Arial"/>
                <a:cs typeface="Arial"/>
              </a:rPr>
              <a:t>Unknown lines require identification. They are not confirmed lead lines.</a:t>
            </a:r>
          </a:p>
        </p:txBody>
      </p:sp>
      <p:sp>
        <p:nvSpPr>
          <p:cNvPr id="15" name="">
            <a:extLst xmlns:a="http://schemas.openxmlformats.org/drawingml/2006/main">
              <a:ext uri="{FF2B5EF4-FFF2-40B4-BE49-F238E27FC236}">
                <a16:creationId xmlns:a16="http://schemas.microsoft.com/office/drawing/2014/main" id="{67F492DB-520B-4B4E-82C9-D39DDB60FB65}"/>
              </a:ext>
            </a:extLst>
          </p:cNvPr>
          <p:cNvSpPr>
            <a:spLocks xmlns:a="http://schemas.openxmlformats.org/drawingml/2006/main" noGrp="1"/>
          </p:cNvSpPr>
          <p:nvPr/>
        </p:nvSpPr>
        <p:spPr>
          <a:xfrm xmlns:a="http://schemas.openxmlformats.org/drawingml/2006/main">
            <a:off x="647700" y="6486525"/>
            <a:ext cx="10896600" cy="9525"/>
          </a:xfrm>
          <a:prstGeom xmlns:a="http://schemas.openxmlformats.org/drawingml/2006/main" prst="rect">
            <a:avLst/>
          </a:prstGeom>
          <a:solidFill xmlns:a="http://schemas.openxmlformats.org/drawingml/2006/main">
            <a:srgbClr val="D8DED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CD0804-0A33-4A14-B100-DBE40CA0117D}"/>
              </a:ext>
            </a:extLst>
          </p:cNvPr>
          <p:cNvSpPr>
            <a:spLocks xmlns:a="http://schemas.openxmlformats.org/drawingml/2006/main" noGrp="1"/>
          </p:cNvSpPr>
          <p:nvPr/>
        </p:nvSpPr>
        <p:spPr>
          <a:xfrm xmlns:a="http://schemas.openxmlformats.org/drawingml/2006/main">
            <a:off x="647700" y="6553200"/>
            <a:ext cx="1009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65727B"/>
                </a:solidFill>
                <a:latin typeface="Arial"/>
                <a:ea typeface="Arial"/>
                <a:cs typeface="Arial"/>
              </a:defRPr>
            </a:pPr>
            <a:r>
              <a:rPr sz="750" b="0">
                <a:solidFill>
                  <a:srgbClr val="65727B"/>
                </a:solidFill>
                <a:latin typeface="Arial"/>
                <a:ea typeface="Arial"/>
                <a:cs typeface="Arial"/>
              </a:rPr>
              <a:t>Source: U.S. EPA 2026 Q2 Service Line Inventory. Counts reflect the analytical sample.</a:t>
            </a:r>
          </a:p>
        </p:txBody>
      </p:sp>
      <p:sp>
        <p:nvSpPr>
          <p:cNvPr id="17" name="">
            <a:extLst xmlns:a="http://schemas.openxmlformats.org/drawingml/2006/main">
              <a:ext uri="{FF2B5EF4-FFF2-40B4-BE49-F238E27FC236}">
                <a16:creationId xmlns:a16="http://schemas.microsoft.com/office/drawing/2014/main" id="{F873B482-0D31-4A69-9624-6A7B24177F5D}"/>
              </a:ext>
            </a:extLst>
          </p:cNvPr>
          <p:cNvSpPr>
            <a:spLocks xmlns:a="http://schemas.openxmlformats.org/drawingml/2006/main" noGrp="1"/>
          </p:cNvSpPr>
          <p:nvPr/>
        </p:nvSpPr>
        <p:spPr>
          <a:xfrm xmlns:a="http://schemas.openxmlformats.org/drawingml/2006/main">
            <a:off x="11144250" y="65532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lgn="r">
              <a:buNone/>
              <a:defRPr sz="750" b="0">
                <a:solidFill>
                  <a:srgbClr val="65727B"/>
                </a:solidFill>
                <a:latin typeface="Arial"/>
                <a:ea typeface="Arial"/>
                <a:cs typeface="Arial"/>
              </a:defRPr>
            </a:pPr>
            <a:r>
              <a:rPr sz="750" b="0">
                <a:solidFill>
                  <a:srgbClr val="65727B"/>
                </a:solidFill>
                <a:latin typeface="Arial"/>
                <a:ea typeface="Arial"/>
                <a:cs typeface="Arial"/>
              </a:rPr>
              <a:t>2</a:t>
            </a:r>
          </a:p>
        </p:txBody>
      </p:sp>
    </p:spTree>
    <p:extLst>
      <p:ext uri="{BB962C8B-B14F-4D97-AF65-F5344CB8AC3E}">
        <p14:creationId xmlns:p14="http://schemas.microsoft.com/office/powerpoint/2010/main" val="199436085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1333BCE-44A0-4B92-8981-3E27B0BDF84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90D248-5DAE-43CE-A7A5-FC2A31AC202A}"/>
              </a:ext>
            </a:extLst>
          </p:cNvPr>
          <p:cNvSpPr>
            <a:spLocks xmlns:a="http://schemas.openxmlformats.org/drawingml/2006/main" noGrp="1"/>
          </p:cNvSpPr>
          <p:nvPr/>
        </p:nvSpPr>
        <p:spPr>
          <a:xfrm xmlns:a="http://schemas.openxmlformats.org/drawingml/2006/main">
            <a:off x="647700" y="41910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000" b="1">
                <a:solidFill>
                  <a:srgbClr val="102A43"/>
                </a:solidFill>
                <a:latin typeface="Arial"/>
                <a:ea typeface="Arial"/>
                <a:cs typeface="Arial"/>
              </a:defRPr>
            </a:pPr>
            <a:r>
              <a:rPr sz="3000" b="1">
                <a:solidFill>
                  <a:srgbClr val="102A43"/>
                </a:solidFill>
                <a:latin typeface="Arial"/>
                <a:ea typeface="Arial"/>
                <a:cs typeface="Arial"/>
              </a:rPr>
              <a:t>The largest state workloads involve different kinds of work</a:t>
            </a:r>
          </a:p>
        </p:txBody>
      </p:sp>
      <p:sp>
        <p:nvSpPr>
          <p:cNvPr id="3" name="">
            <a:extLst xmlns:a="http://schemas.openxmlformats.org/drawingml/2006/main">
              <a:ext uri="{FF2B5EF4-FFF2-40B4-BE49-F238E27FC236}">
                <a16:creationId xmlns:a16="http://schemas.microsoft.com/office/drawing/2014/main" id="{5A418134-5038-49F4-A8CC-12B8EB903A7E}"/>
              </a:ext>
            </a:extLst>
          </p:cNvPr>
          <p:cNvSpPr>
            <a:spLocks xmlns:a="http://schemas.openxmlformats.org/drawingml/2006/main" noGrp="1"/>
          </p:cNvSpPr>
          <p:nvPr/>
        </p:nvSpPr>
        <p:spPr>
          <a:xfrm xmlns:a="http://schemas.openxmlformats.org/drawingml/2006/main">
            <a:off x="666750" y="1381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3F73C7"/>
                </a:solidFill>
                <a:latin typeface="Arial"/>
                <a:ea typeface="Arial"/>
                <a:cs typeface="Arial"/>
              </a:defRPr>
            </a:pPr>
            <a:r>
              <a:rPr sz="1575" b="1">
                <a:solidFill>
                  <a:srgbClr val="3F73C7"/>
                </a:solidFill>
                <a:latin typeface="Arial"/>
                <a:ea typeface="Arial"/>
                <a:cs typeface="Arial"/>
              </a:rPr>
              <a:t>Already classified for replacement</a:t>
            </a:r>
          </a:p>
        </p:txBody>
      </p:sp>
      <p:sp>
        <p:nvSpPr>
          <p:cNvPr id="4" name="">
            <a:extLst xmlns:a="http://schemas.openxmlformats.org/drawingml/2006/main">
              <a:ext uri="{FF2B5EF4-FFF2-40B4-BE49-F238E27FC236}">
                <a16:creationId xmlns:a16="http://schemas.microsoft.com/office/drawing/2014/main" id="{CA0B966F-2AF0-48A5-BD4B-DB432E123F3A}"/>
              </a:ext>
            </a:extLst>
          </p:cNvPr>
          <p:cNvSpPr>
            <a:spLocks xmlns:a="http://schemas.openxmlformats.org/drawingml/2006/main" noGrp="1"/>
          </p:cNvSpPr>
          <p:nvPr/>
        </p:nvSpPr>
        <p:spPr>
          <a:xfrm xmlns:a="http://schemas.openxmlformats.org/drawingml/2006/main">
            <a:off x="6477000" y="1381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5FA7D9"/>
                </a:solidFill>
                <a:latin typeface="Arial"/>
                <a:ea typeface="Arial"/>
                <a:cs typeface="Arial"/>
              </a:defRPr>
            </a:pPr>
            <a:r>
              <a:rPr sz="1575" b="1">
                <a:solidFill>
                  <a:srgbClr val="5FA7D9"/>
                </a:solidFill>
                <a:latin typeface="Arial"/>
                <a:ea typeface="Arial"/>
                <a:cs typeface="Arial"/>
              </a:rPr>
              <a:t>Still requiring identification</a:t>
            </a:r>
          </a:p>
        </p:txBody>
      </p:sp>
      <p:graphicFrame>
        <p:nvGraphicFramePr>
          <p:cNvPr id="20" name="Chart"/>
          <p:cNvGraphicFramePr/>
          <p:nvPr/>
        </p:nvGraphicFramePr>
        <p:xfrm>
          <a:off xmlns:a="http://schemas.openxmlformats.org/drawingml/2006/main" x="523875" y="1762125"/>
          <a:ext xmlns:a="http://schemas.openxmlformats.org/drawingml/2006/main" cx="5334000" cy="3476625"/>
        </p:xfrm>
        <a:graphic xmlns:a="http://schemas.openxmlformats.org/drawingml/2006/main">
          <a:graphicData uri="http://schemas.openxmlformats.org/drawingml/2006/chart">
            <c:chart xmlns:r="http://schemas.openxmlformats.org/officeDocument/2006/relationships" xmlns:c="http://schemas.openxmlformats.org/drawingml/2006/chart" r:id="R3009b7a26a824ffb"/>
          </a:graphicData>
        </a:graphic>
      </p:graphicFrame>
      <p:graphicFrame>
        <p:nvGraphicFramePr>
          <p:cNvPr id="21" name="Chart"/>
          <p:cNvGraphicFramePr/>
          <p:nvPr/>
        </p:nvGraphicFramePr>
        <p:xfrm>
          <a:off xmlns:a="http://schemas.openxmlformats.org/drawingml/2006/main" x="6334125" y="1762125"/>
          <a:ext xmlns:a="http://schemas.openxmlformats.org/drawingml/2006/main" cx="5334000" cy="3476625"/>
        </p:xfrm>
        <a:graphic xmlns:a="http://schemas.openxmlformats.org/drawingml/2006/main">
          <a:graphicData uri="http://schemas.openxmlformats.org/drawingml/2006/chart">
            <c:chart xmlns:r="http://schemas.openxmlformats.org/officeDocument/2006/relationships" xmlns:c="http://schemas.openxmlformats.org/drawingml/2006/chart" r:id="R173646cc39f64853"/>
          </a:graphicData>
        </a:graphic>
      </p:graphicFrame>
      <p:sp>
        <p:nvSpPr>
          <p:cNvPr id="7" name="">
            <a:extLst xmlns:a="http://schemas.openxmlformats.org/drawingml/2006/main">
              <a:ext uri="{FF2B5EF4-FFF2-40B4-BE49-F238E27FC236}">
                <a16:creationId xmlns:a16="http://schemas.microsoft.com/office/drawing/2014/main" id="{94DB2B55-55DB-4E79-B8EE-986639CCA478}"/>
              </a:ext>
            </a:extLst>
          </p:cNvPr>
          <p:cNvSpPr>
            <a:spLocks xmlns:a="http://schemas.openxmlformats.org/drawingml/2006/main" noGrp="1"/>
          </p:cNvSpPr>
          <p:nvPr/>
        </p:nvSpPr>
        <p:spPr>
          <a:xfrm xmlns:a="http://schemas.openxmlformats.org/drawingml/2006/main">
            <a:off x="904875" y="541020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buNone/>
              <a:defRPr sz="1350" b="1">
                <a:solidFill>
                  <a:srgbClr val="3F73C7"/>
                </a:solidFill>
                <a:latin typeface="Arial"/>
                <a:ea typeface="Arial"/>
                <a:cs typeface="Arial"/>
              </a:defRPr>
            </a:pPr>
            <a:r>
              <a:rPr sz="1350" b="1">
                <a:solidFill>
                  <a:srgbClr val="3F73C7"/>
                </a:solidFill>
                <a:latin typeface="Arial"/>
                <a:ea typeface="Arial"/>
                <a:cs typeface="Arial"/>
              </a:rPr>
              <a:t>Illinois leads replacement inventory</a:t>
            </a:r>
          </a:p>
        </p:txBody>
      </p:sp>
      <p:sp>
        <p:nvSpPr>
          <p:cNvPr id="8" name="">
            <a:extLst xmlns:a="http://schemas.openxmlformats.org/drawingml/2006/main">
              <a:ext uri="{FF2B5EF4-FFF2-40B4-BE49-F238E27FC236}">
                <a16:creationId xmlns:a16="http://schemas.microsoft.com/office/drawing/2014/main" id="{48E0F019-A2CD-4113-855A-7FB3689C2E90}"/>
              </a:ext>
            </a:extLst>
          </p:cNvPr>
          <p:cNvSpPr>
            <a:spLocks xmlns:a="http://schemas.openxmlformats.org/drawingml/2006/main" noGrp="1"/>
          </p:cNvSpPr>
          <p:nvPr/>
        </p:nvSpPr>
        <p:spPr>
          <a:xfrm xmlns:a="http://schemas.openxmlformats.org/drawingml/2006/main">
            <a:off x="6667500" y="54102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350" b="1">
                <a:solidFill>
                  <a:srgbClr val="5FA7D9"/>
                </a:solidFill>
                <a:latin typeface="Arial"/>
                <a:ea typeface="Arial"/>
                <a:cs typeface="Arial"/>
              </a:defRPr>
            </a:pPr>
            <a:r>
              <a:rPr sz="1350" b="1">
                <a:solidFill>
                  <a:srgbClr val="5FA7D9"/>
                </a:solidFill>
                <a:latin typeface="Arial"/>
                <a:ea typeface="Arial"/>
                <a:cs typeface="Arial"/>
              </a:rPr>
              <a:t>Texas and Pennsylvania lead unresolved identification</a:t>
            </a:r>
          </a:p>
        </p:txBody>
      </p:sp>
      <p:sp>
        <p:nvSpPr>
          <p:cNvPr id="9" name="">
            <a:extLst xmlns:a="http://schemas.openxmlformats.org/drawingml/2006/main">
              <a:ext uri="{FF2B5EF4-FFF2-40B4-BE49-F238E27FC236}">
                <a16:creationId xmlns:a16="http://schemas.microsoft.com/office/drawing/2014/main" id="{ABB0D693-5531-438B-AF2C-E71A1C3EA4BA}"/>
              </a:ext>
            </a:extLst>
          </p:cNvPr>
          <p:cNvSpPr>
            <a:spLocks xmlns:a="http://schemas.openxmlformats.org/drawingml/2006/main" noGrp="1"/>
          </p:cNvSpPr>
          <p:nvPr/>
        </p:nvSpPr>
        <p:spPr>
          <a:xfrm xmlns:a="http://schemas.openxmlformats.org/drawingml/2006/main">
            <a:off x="2571750" y="5972175"/>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buNone/>
              <a:defRPr sz="1650" b="1">
                <a:solidFill>
                  <a:srgbClr val="102A43"/>
                </a:solidFill>
                <a:latin typeface="Arial"/>
                <a:ea typeface="Arial"/>
                <a:cs typeface="Arial"/>
              </a:defRPr>
            </a:pPr>
            <a:r>
              <a:rPr sz="1650" b="1">
                <a:solidFill>
                  <a:srgbClr val="102A43"/>
                </a:solidFill>
                <a:latin typeface="Arial"/>
                <a:ea typeface="Arial"/>
                <a:cs typeface="Arial"/>
              </a:rPr>
              <a:t>New York is the only state in both top-five lists</a:t>
            </a:r>
          </a:p>
        </p:txBody>
      </p:sp>
      <p:sp>
        <p:nvSpPr>
          <p:cNvPr id="10" name="">
            <a:extLst xmlns:a="http://schemas.openxmlformats.org/drawingml/2006/main">
              <a:ext uri="{FF2B5EF4-FFF2-40B4-BE49-F238E27FC236}">
                <a16:creationId xmlns:a16="http://schemas.microsoft.com/office/drawing/2014/main" id="{4300CD86-1CE5-4013-948F-C342F302A650}"/>
              </a:ext>
            </a:extLst>
          </p:cNvPr>
          <p:cNvSpPr>
            <a:spLocks xmlns:a="http://schemas.openxmlformats.org/drawingml/2006/main" noGrp="1"/>
          </p:cNvSpPr>
          <p:nvPr/>
        </p:nvSpPr>
        <p:spPr>
          <a:xfrm xmlns:a="http://schemas.openxmlformats.org/drawingml/2006/main">
            <a:off x="647700" y="6486525"/>
            <a:ext cx="10896600" cy="9525"/>
          </a:xfrm>
          <a:prstGeom xmlns:a="http://schemas.openxmlformats.org/drawingml/2006/main" prst="rect">
            <a:avLst/>
          </a:prstGeom>
          <a:solidFill xmlns:a="http://schemas.openxmlformats.org/drawingml/2006/main">
            <a:srgbClr val="D8DED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239462A-E25E-4DEA-A35D-971980CA3976}"/>
              </a:ext>
            </a:extLst>
          </p:cNvPr>
          <p:cNvSpPr>
            <a:spLocks xmlns:a="http://schemas.openxmlformats.org/drawingml/2006/main" noGrp="1"/>
          </p:cNvSpPr>
          <p:nvPr/>
        </p:nvSpPr>
        <p:spPr>
          <a:xfrm xmlns:a="http://schemas.openxmlformats.org/drawingml/2006/main">
            <a:off x="647700" y="6553200"/>
            <a:ext cx="1009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65727B"/>
                </a:solidFill>
                <a:latin typeface="Arial"/>
                <a:ea typeface="Arial"/>
                <a:cs typeface="Arial"/>
              </a:defRPr>
            </a:pPr>
            <a:r>
              <a:rPr sz="750" b="0">
                <a:solidFill>
                  <a:srgbClr val="65727B"/>
                </a:solidFill>
                <a:latin typeface="Arial"/>
                <a:ea typeface="Arial"/>
                <a:cs typeface="Arial"/>
              </a:rPr>
              <a:t>Source: U.S. EPA 2026 Q2 Service Line Inventory</a:t>
            </a:r>
          </a:p>
        </p:txBody>
      </p:sp>
      <p:sp>
        <p:nvSpPr>
          <p:cNvPr id="12" name="">
            <a:extLst xmlns:a="http://schemas.openxmlformats.org/drawingml/2006/main">
              <a:ext uri="{FF2B5EF4-FFF2-40B4-BE49-F238E27FC236}">
                <a16:creationId xmlns:a16="http://schemas.microsoft.com/office/drawing/2014/main" id="{3DB366C5-385B-44EC-9330-8E340577AA00}"/>
              </a:ext>
            </a:extLst>
          </p:cNvPr>
          <p:cNvSpPr>
            <a:spLocks xmlns:a="http://schemas.openxmlformats.org/drawingml/2006/main" noGrp="1"/>
          </p:cNvSpPr>
          <p:nvPr/>
        </p:nvSpPr>
        <p:spPr>
          <a:xfrm xmlns:a="http://schemas.openxmlformats.org/drawingml/2006/main">
            <a:off x="11144250" y="65532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lgn="r">
              <a:buNone/>
              <a:defRPr sz="750" b="0">
                <a:solidFill>
                  <a:srgbClr val="65727B"/>
                </a:solidFill>
                <a:latin typeface="Arial"/>
                <a:ea typeface="Arial"/>
                <a:cs typeface="Arial"/>
              </a:defRPr>
            </a:pPr>
            <a:r>
              <a:rPr sz="750" b="0">
                <a:solidFill>
                  <a:srgbClr val="65727B"/>
                </a:solidFill>
                <a:latin typeface="Arial"/>
                <a:ea typeface="Arial"/>
                <a:cs typeface="Arial"/>
              </a:rPr>
              <a:t>3</a:t>
            </a:r>
          </a:p>
        </p:txBody>
      </p:sp>
    </p:spTree>
    <p:extLst>
      <p:ext uri="{BB962C8B-B14F-4D97-AF65-F5344CB8AC3E}">
        <p14:creationId xmlns:p14="http://schemas.microsoft.com/office/powerpoint/2010/main" val="119057444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6D893A-1E73-40FF-9BA8-E62BF7CFAF3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DEFC62-AF05-46ED-A4E3-E5D68B8B72A1}"/>
              </a:ext>
            </a:extLst>
          </p:cNvPr>
          <p:cNvSpPr>
            <a:spLocks xmlns:a="http://schemas.openxmlformats.org/drawingml/2006/main" noGrp="1"/>
          </p:cNvSpPr>
          <p:nvPr/>
        </p:nvSpPr>
        <p:spPr>
          <a:xfrm xmlns:a="http://schemas.openxmlformats.org/drawingml/2006/main">
            <a:off x="647700" y="41910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86"/>
          </a:bodyPr>
          <a:lstStyle xmlns:a="http://schemas.openxmlformats.org/drawingml/2006/main"/>
          <a:p xmlns:a="http://schemas.openxmlformats.org/drawingml/2006/main">
            <a:pPr>
              <a:buNone/>
              <a:defRPr sz="3000" b="1">
                <a:solidFill>
                  <a:srgbClr val="102A43"/>
                </a:solidFill>
                <a:latin typeface="Arial"/>
                <a:ea typeface="Arial"/>
                <a:cs typeface="Arial"/>
              </a:defRPr>
            </a:pPr>
            <a:r>
              <a:rPr sz="3000" b="1">
                <a:solidFill>
                  <a:srgbClr val="102A43"/>
                </a:solidFill>
                <a:latin typeface="Arial"/>
                <a:ea typeface="Arial"/>
                <a:cs typeface="Arial"/>
              </a:rPr>
              <a:t>A single ranking would hide where each state’s workload sits</a:t>
            </a:r>
          </a:p>
        </p:txBody>
      </p:sp>
      <p:graphicFrame>
        <p:nvGraphicFramePr>
          <p:cNvPr id="23" name="Chart"/>
          <p:cNvGraphicFramePr/>
          <p:nvPr/>
        </p:nvGraphicFramePr>
        <p:xfrm>
          <a:off xmlns:a="http://schemas.openxmlformats.org/drawingml/2006/main" x="523875" y="1428750"/>
          <a:ext xmlns:a="http://schemas.openxmlformats.org/drawingml/2006/main" cx="7810500" cy="4524375"/>
        </p:xfrm>
        <a:graphic xmlns:a="http://schemas.openxmlformats.org/drawingml/2006/main">
          <a:graphicData uri="http://schemas.openxmlformats.org/drawingml/2006/chart">
            <c:chart xmlns:r="http://schemas.openxmlformats.org/officeDocument/2006/relationships" xmlns:c="http://schemas.openxmlformats.org/drawingml/2006/chart" r:id="Rd150e0649a74463f"/>
          </a:graphicData>
        </a:graphic>
      </p:graphicFrame>
      <p:sp>
        <p:nvSpPr>
          <p:cNvPr id="4" name="">
            <a:extLst xmlns:a="http://schemas.openxmlformats.org/drawingml/2006/main">
              <a:ext uri="{FF2B5EF4-FFF2-40B4-BE49-F238E27FC236}">
                <a16:creationId xmlns:a16="http://schemas.microsoft.com/office/drawing/2014/main" id="{B855CF9D-A06F-4E1F-935B-125E73ADD721}"/>
              </a:ext>
            </a:extLst>
          </p:cNvPr>
          <p:cNvSpPr>
            <a:spLocks xmlns:a="http://schemas.openxmlformats.org/drawingml/2006/main" noGrp="1"/>
          </p:cNvSpPr>
          <p:nvPr/>
        </p:nvSpPr>
        <p:spPr>
          <a:xfrm xmlns:a="http://schemas.openxmlformats.org/drawingml/2006/main">
            <a:off x="2514600" y="16764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5FA7D9"/>
                </a:solidFill>
                <a:latin typeface="Arial"/>
                <a:ea typeface="Arial"/>
                <a:cs typeface="Arial"/>
              </a:defRPr>
            </a:pPr>
            <a:r>
              <a:rPr sz="1050" b="1">
                <a:solidFill>
                  <a:srgbClr val="5FA7D9"/>
                </a:solidFill>
                <a:latin typeface="Arial"/>
                <a:ea typeface="Arial"/>
                <a:cs typeface="Arial"/>
              </a:rPr>
              <a:t>Texas</a:t>
            </a:r>
          </a:p>
        </p:txBody>
      </p:sp>
      <p:sp>
        <p:nvSpPr>
          <p:cNvPr id="5" name="">
            <a:extLst xmlns:a="http://schemas.openxmlformats.org/drawingml/2006/main">
              <a:ext uri="{FF2B5EF4-FFF2-40B4-BE49-F238E27FC236}">
                <a16:creationId xmlns:a16="http://schemas.microsoft.com/office/drawing/2014/main" id="{8398A817-47E4-40A2-9506-BD52D1AEF3DC}"/>
              </a:ext>
            </a:extLst>
          </p:cNvPr>
          <p:cNvSpPr>
            <a:spLocks xmlns:a="http://schemas.openxmlformats.org/drawingml/2006/main" noGrp="1"/>
          </p:cNvSpPr>
          <p:nvPr/>
        </p:nvSpPr>
        <p:spPr>
          <a:xfrm xmlns:a="http://schemas.openxmlformats.org/drawingml/2006/main">
            <a:off x="2514600" y="20383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5FA7D9"/>
                </a:solidFill>
                <a:latin typeface="Arial"/>
                <a:ea typeface="Arial"/>
                <a:cs typeface="Arial"/>
              </a:defRPr>
            </a:pPr>
            <a:r>
              <a:rPr sz="1050" b="1">
                <a:solidFill>
                  <a:srgbClr val="5FA7D9"/>
                </a:solidFill>
                <a:latin typeface="Arial"/>
                <a:ea typeface="Arial"/>
                <a:cs typeface="Arial"/>
              </a:rPr>
              <a:t>Pennsylvania</a:t>
            </a:r>
          </a:p>
        </p:txBody>
      </p:sp>
      <p:sp>
        <p:nvSpPr>
          <p:cNvPr id="6" name="">
            <a:extLst xmlns:a="http://schemas.openxmlformats.org/drawingml/2006/main">
              <a:ext uri="{FF2B5EF4-FFF2-40B4-BE49-F238E27FC236}">
                <a16:creationId xmlns:a16="http://schemas.microsoft.com/office/drawing/2014/main" id="{AEE122B4-5F5A-4279-97CB-2A9219DADDC0}"/>
              </a:ext>
            </a:extLst>
          </p:cNvPr>
          <p:cNvSpPr>
            <a:spLocks xmlns:a="http://schemas.openxmlformats.org/drawingml/2006/main" noGrp="1"/>
          </p:cNvSpPr>
          <p:nvPr/>
        </p:nvSpPr>
        <p:spPr>
          <a:xfrm xmlns:a="http://schemas.openxmlformats.org/drawingml/2006/main">
            <a:off x="3848100" y="3390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7356A6"/>
                </a:solidFill>
                <a:latin typeface="Arial"/>
                <a:ea typeface="Arial"/>
                <a:cs typeface="Arial"/>
              </a:defRPr>
            </a:pPr>
            <a:r>
              <a:rPr sz="1050" b="1">
                <a:solidFill>
                  <a:srgbClr val="7356A6"/>
                </a:solidFill>
                <a:latin typeface="Arial"/>
                <a:ea typeface="Arial"/>
                <a:cs typeface="Arial"/>
              </a:rPr>
              <a:t>New York</a:t>
            </a:r>
          </a:p>
        </p:txBody>
      </p:sp>
      <p:sp>
        <p:nvSpPr>
          <p:cNvPr id="7" name="">
            <a:extLst xmlns:a="http://schemas.openxmlformats.org/drawingml/2006/main">
              <a:ext uri="{FF2B5EF4-FFF2-40B4-BE49-F238E27FC236}">
                <a16:creationId xmlns:a16="http://schemas.microsoft.com/office/drawing/2014/main" id="{536FA3DD-81F1-42CC-9A48-7B140F095703}"/>
              </a:ext>
            </a:extLst>
          </p:cNvPr>
          <p:cNvSpPr>
            <a:spLocks xmlns:a="http://schemas.openxmlformats.org/drawingml/2006/main" noGrp="1"/>
          </p:cNvSpPr>
          <p:nvPr/>
        </p:nvSpPr>
        <p:spPr>
          <a:xfrm xmlns:a="http://schemas.openxmlformats.org/drawingml/2006/main">
            <a:off x="4629150" y="372427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7356A6"/>
                </a:solidFill>
                <a:latin typeface="Arial"/>
                <a:ea typeface="Arial"/>
                <a:cs typeface="Arial"/>
              </a:defRPr>
            </a:pPr>
            <a:r>
              <a:rPr sz="1050" b="1">
                <a:solidFill>
                  <a:srgbClr val="7356A6"/>
                </a:solidFill>
                <a:latin typeface="Arial"/>
                <a:ea typeface="Arial"/>
                <a:cs typeface="Arial"/>
              </a:rPr>
              <a:t>Ohio</a:t>
            </a:r>
          </a:p>
        </p:txBody>
      </p:sp>
      <p:sp>
        <p:nvSpPr>
          <p:cNvPr id="8" name="">
            <a:extLst xmlns:a="http://schemas.openxmlformats.org/drawingml/2006/main">
              <a:ext uri="{FF2B5EF4-FFF2-40B4-BE49-F238E27FC236}">
                <a16:creationId xmlns:a16="http://schemas.microsoft.com/office/drawing/2014/main" id="{128E81EC-4EAA-49FC-9C4B-439B1BA1A150}"/>
              </a:ext>
            </a:extLst>
          </p:cNvPr>
          <p:cNvSpPr>
            <a:spLocks xmlns:a="http://schemas.openxmlformats.org/drawingml/2006/main" noGrp="1"/>
          </p:cNvSpPr>
          <p:nvPr/>
        </p:nvSpPr>
        <p:spPr>
          <a:xfrm xmlns:a="http://schemas.openxmlformats.org/drawingml/2006/main">
            <a:off x="7067550" y="4114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3F73C7"/>
                </a:solidFill>
                <a:latin typeface="Arial"/>
                <a:ea typeface="Arial"/>
                <a:cs typeface="Arial"/>
              </a:defRPr>
            </a:pPr>
            <a:r>
              <a:rPr sz="1050" b="1">
                <a:solidFill>
                  <a:srgbClr val="3F73C7"/>
                </a:solidFill>
                <a:latin typeface="Arial"/>
                <a:ea typeface="Arial"/>
                <a:cs typeface="Arial"/>
              </a:rPr>
              <a:t>Illinois</a:t>
            </a:r>
          </a:p>
        </p:txBody>
      </p:sp>
      <p:sp>
        <p:nvSpPr>
          <p:cNvPr id="9" name="">
            <a:extLst xmlns:a="http://schemas.openxmlformats.org/drawingml/2006/main">
              <a:ext uri="{FF2B5EF4-FFF2-40B4-BE49-F238E27FC236}">
                <a16:creationId xmlns:a16="http://schemas.microsoft.com/office/drawing/2014/main" id="{8E8E25B8-5BE8-4943-88D0-DEAFA8813B3D}"/>
              </a:ext>
            </a:extLst>
          </p:cNvPr>
          <p:cNvSpPr>
            <a:spLocks xmlns:a="http://schemas.openxmlformats.org/drawingml/2006/main" noGrp="1"/>
          </p:cNvSpPr>
          <p:nvPr/>
        </p:nvSpPr>
        <p:spPr>
          <a:xfrm xmlns:a="http://schemas.openxmlformats.org/drawingml/2006/main">
            <a:off x="8763000" y="1619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buNone/>
              <a:defRPr sz="1500" b="1">
                <a:solidFill>
                  <a:srgbClr val="3F73C7"/>
                </a:solidFill>
                <a:latin typeface="Arial"/>
                <a:ea typeface="Arial"/>
                <a:cs typeface="Arial"/>
              </a:defRPr>
            </a:pPr>
            <a:r>
              <a:rPr sz="1500" b="1">
                <a:solidFill>
                  <a:srgbClr val="3F73C7"/>
                </a:solidFill>
                <a:latin typeface="Arial"/>
                <a:ea typeface="Arial"/>
                <a:cs typeface="Arial"/>
              </a:rPr>
              <a:t>Illinois</a:t>
            </a:r>
          </a:p>
        </p:txBody>
      </p:sp>
      <p:sp>
        <p:nvSpPr>
          <p:cNvPr id="10" name="">
            <a:extLst xmlns:a="http://schemas.openxmlformats.org/drawingml/2006/main">
              <a:ext uri="{FF2B5EF4-FFF2-40B4-BE49-F238E27FC236}">
                <a16:creationId xmlns:a16="http://schemas.microsoft.com/office/drawing/2014/main" id="{0382CC43-6B2C-4A1C-B427-CF27B576B406}"/>
              </a:ext>
            </a:extLst>
          </p:cNvPr>
          <p:cNvSpPr>
            <a:spLocks xmlns:a="http://schemas.openxmlformats.org/drawingml/2006/main" noGrp="1"/>
          </p:cNvSpPr>
          <p:nvPr/>
        </p:nvSpPr>
        <p:spPr>
          <a:xfrm xmlns:a="http://schemas.openxmlformats.org/drawingml/2006/main">
            <a:off x="8763000" y="1943100"/>
            <a:ext cx="2619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3333F"/>
                </a:solidFill>
                <a:latin typeface="Arial"/>
                <a:ea typeface="Arial"/>
                <a:cs typeface="Arial"/>
              </a:defRPr>
            </a:pPr>
            <a:r>
              <a:rPr sz="1350" b="0">
                <a:solidFill>
                  <a:srgbClr val="23333F"/>
                </a:solidFill>
                <a:latin typeface="Arial"/>
                <a:ea typeface="Arial"/>
                <a:cs typeface="Arial"/>
              </a:rPr>
              <a:t>The largest known replacement inventory</a:t>
            </a:r>
          </a:p>
        </p:txBody>
      </p:sp>
      <p:sp>
        <p:nvSpPr>
          <p:cNvPr id="11" name="">
            <a:extLst xmlns:a="http://schemas.openxmlformats.org/drawingml/2006/main">
              <a:ext uri="{FF2B5EF4-FFF2-40B4-BE49-F238E27FC236}">
                <a16:creationId xmlns:a16="http://schemas.microsoft.com/office/drawing/2014/main" id="{68690633-6210-456C-96EE-0661D951B2D0}"/>
              </a:ext>
            </a:extLst>
          </p:cNvPr>
          <p:cNvSpPr>
            <a:spLocks xmlns:a="http://schemas.openxmlformats.org/drawingml/2006/main" noGrp="1"/>
          </p:cNvSpPr>
          <p:nvPr/>
        </p:nvSpPr>
        <p:spPr>
          <a:xfrm xmlns:a="http://schemas.openxmlformats.org/drawingml/2006/main">
            <a:off x="8763000" y="28003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buNone/>
              <a:defRPr sz="1500" b="1">
                <a:solidFill>
                  <a:srgbClr val="5FA7D9"/>
                </a:solidFill>
                <a:latin typeface="Arial"/>
                <a:ea typeface="Arial"/>
                <a:cs typeface="Arial"/>
              </a:defRPr>
            </a:pPr>
            <a:r>
              <a:rPr sz="1500" b="1">
                <a:solidFill>
                  <a:srgbClr val="5FA7D9"/>
                </a:solidFill>
                <a:latin typeface="Arial"/>
                <a:ea typeface="Arial"/>
                <a:cs typeface="Arial"/>
              </a:rPr>
              <a:t>Texas and Pennsylvania</a:t>
            </a:r>
          </a:p>
        </p:txBody>
      </p:sp>
      <p:sp>
        <p:nvSpPr>
          <p:cNvPr id="12" name="">
            <a:extLst xmlns:a="http://schemas.openxmlformats.org/drawingml/2006/main">
              <a:ext uri="{FF2B5EF4-FFF2-40B4-BE49-F238E27FC236}">
                <a16:creationId xmlns:a16="http://schemas.microsoft.com/office/drawing/2014/main" id="{433DA104-2176-4645-B313-8927CE5ECF42}"/>
              </a:ext>
            </a:extLst>
          </p:cNvPr>
          <p:cNvSpPr>
            <a:spLocks xmlns:a="http://schemas.openxmlformats.org/drawingml/2006/main" noGrp="1"/>
          </p:cNvSpPr>
          <p:nvPr/>
        </p:nvSpPr>
        <p:spPr>
          <a:xfrm xmlns:a="http://schemas.openxmlformats.org/drawingml/2006/main">
            <a:off x="8763000" y="3124200"/>
            <a:ext cx="2619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3333F"/>
                </a:solidFill>
                <a:latin typeface="Arial"/>
                <a:ea typeface="Arial"/>
                <a:cs typeface="Arial"/>
              </a:defRPr>
            </a:pPr>
            <a:r>
              <a:rPr sz="1350" b="0">
                <a:solidFill>
                  <a:srgbClr val="23333F"/>
                </a:solidFill>
                <a:latin typeface="Arial"/>
                <a:ea typeface="Arial"/>
                <a:cs typeface="Arial"/>
              </a:rPr>
              <a:t>The largest unresolved identification inventories</a:t>
            </a:r>
          </a:p>
        </p:txBody>
      </p:sp>
      <p:sp>
        <p:nvSpPr>
          <p:cNvPr id="13" name="">
            <a:extLst xmlns:a="http://schemas.openxmlformats.org/drawingml/2006/main">
              <a:ext uri="{FF2B5EF4-FFF2-40B4-BE49-F238E27FC236}">
                <a16:creationId xmlns:a16="http://schemas.microsoft.com/office/drawing/2014/main" id="{6FE411EA-D5E3-4ADA-B1EC-DD7E1530BBEA}"/>
              </a:ext>
            </a:extLst>
          </p:cNvPr>
          <p:cNvSpPr>
            <a:spLocks xmlns:a="http://schemas.openxmlformats.org/drawingml/2006/main" noGrp="1"/>
          </p:cNvSpPr>
          <p:nvPr/>
        </p:nvSpPr>
        <p:spPr>
          <a:xfrm xmlns:a="http://schemas.openxmlformats.org/drawingml/2006/main">
            <a:off x="8763000" y="4095750"/>
            <a:ext cx="2619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buNone/>
              <a:defRPr sz="1500" b="1">
                <a:solidFill>
                  <a:srgbClr val="7356A6"/>
                </a:solidFill>
                <a:latin typeface="Arial"/>
                <a:ea typeface="Arial"/>
                <a:cs typeface="Arial"/>
              </a:defRPr>
            </a:pPr>
            <a:r>
              <a:rPr sz="1500" b="1">
                <a:solidFill>
                  <a:srgbClr val="7356A6"/>
                </a:solidFill>
                <a:latin typeface="Arial"/>
                <a:ea typeface="Arial"/>
                <a:cs typeface="Arial"/>
              </a:rPr>
              <a:t>Ohio and New York</a:t>
            </a:r>
          </a:p>
        </p:txBody>
      </p:sp>
      <p:sp>
        <p:nvSpPr>
          <p:cNvPr id="14" name="">
            <a:extLst xmlns:a="http://schemas.openxmlformats.org/drawingml/2006/main">
              <a:ext uri="{FF2B5EF4-FFF2-40B4-BE49-F238E27FC236}">
                <a16:creationId xmlns:a16="http://schemas.microsoft.com/office/drawing/2014/main" id="{694AA961-7712-4C4E-91FA-67B9AEEF5557}"/>
              </a:ext>
            </a:extLst>
          </p:cNvPr>
          <p:cNvSpPr>
            <a:spLocks xmlns:a="http://schemas.openxmlformats.org/drawingml/2006/main" noGrp="1"/>
          </p:cNvSpPr>
          <p:nvPr/>
        </p:nvSpPr>
        <p:spPr>
          <a:xfrm xmlns:a="http://schemas.openxmlformats.org/drawingml/2006/main">
            <a:off x="8763000" y="44196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3333F"/>
                </a:solidFill>
                <a:latin typeface="Arial"/>
                <a:ea typeface="Arial"/>
                <a:cs typeface="Arial"/>
              </a:defRPr>
            </a:pPr>
            <a:r>
              <a:rPr sz="1350" b="0">
                <a:solidFill>
                  <a:srgbClr val="23333F"/>
                </a:solidFill>
                <a:latin typeface="Arial"/>
                <a:ea typeface="Arial"/>
                <a:cs typeface="Arial"/>
              </a:rPr>
              <a:t>Substantial work remains on both dimensions</a:t>
            </a:r>
          </a:p>
        </p:txBody>
      </p:sp>
      <p:sp>
        <p:nvSpPr>
          <p:cNvPr id="15" name="">
            <a:extLst xmlns:a="http://schemas.openxmlformats.org/drawingml/2006/main">
              <a:ext uri="{FF2B5EF4-FFF2-40B4-BE49-F238E27FC236}">
                <a16:creationId xmlns:a16="http://schemas.microsoft.com/office/drawing/2014/main" id="{307309B4-E9F7-4D3A-A7E9-D27CDB62643D}"/>
              </a:ext>
            </a:extLst>
          </p:cNvPr>
          <p:cNvSpPr>
            <a:spLocks xmlns:a="http://schemas.openxmlformats.org/drawingml/2006/main" noGrp="1"/>
          </p:cNvSpPr>
          <p:nvPr/>
        </p:nvSpPr>
        <p:spPr>
          <a:xfrm xmlns:a="http://schemas.openxmlformats.org/drawingml/2006/main">
            <a:off x="8763000" y="538162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1">
                <a:solidFill>
                  <a:srgbClr val="65727B"/>
                </a:solidFill>
                <a:latin typeface="Arial"/>
                <a:ea typeface="Arial"/>
                <a:cs typeface="Arial"/>
              </a:defRPr>
            </a:pPr>
            <a:r>
              <a:rPr sz="1200" b="1">
                <a:solidFill>
                  <a:srgbClr val="65727B"/>
                </a:solidFill>
                <a:latin typeface="Arial"/>
                <a:ea typeface="Arial"/>
                <a:cs typeface="Arial"/>
              </a:rPr>
              <a:t>This pattern describes inventory. It does not measure progress, maturity, or cause.</a:t>
            </a:r>
          </a:p>
        </p:txBody>
      </p:sp>
      <p:sp>
        <p:nvSpPr>
          <p:cNvPr id="16" name="">
            <a:extLst xmlns:a="http://schemas.openxmlformats.org/drawingml/2006/main">
              <a:ext uri="{FF2B5EF4-FFF2-40B4-BE49-F238E27FC236}">
                <a16:creationId xmlns:a16="http://schemas.microsoft.com/office/drawing/2014/main" id="{B3ECDC83-3F6C-4578-B893-1D9D8AC5DAC5}"/>
              </a:ext>
            </a:extLst>
          </p:cNvPr>
          <p:cNvSpPr>
            <a:spLocks xmlns:a="http://schemas.openxmlformats.org/drawingml/2006/main" noGrp="1"/>
          </p:cNvSpPr>
          <p:nvPr/>
        </p:nvSpPr>
        <p:spPr>
          <a:xfrm xmlns:a="http://schemas.openxmlformats.org/drawingml/2006/main">
            <a:off x="647700" y="6486525"/>
            <a:ext cx="10896600" cy="9525"/>
          </a:xfrm>
          <a:prstGeom xmlns:a="http://schemas.openxmlformats.org/drawingml/2006/main" prst="rect">
            <a:avLst/>
          </a:prstGeom>
          <a:solidFill xmlns:a="http://schemas.openxmlformats.org/drawingml/2006/main">
            <a:srgbClr val="D8DE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3F21288-62EE-40B9-9168-6AA94A18A7E0}"/>
              </a:ext>
            </a:extLst>
          </p:cNvPr>
          <p:cNvSpPr>
            <a:spLocks xmlns:a="http://schemas.openxmlformats.org/drawingml/2006/main" noGrp="1"/>
          </p:cNvSpPr>
          <p:nvPr/>
        </p:nvSpPr>
        <p:spPr>
          <a:xfrm xmlns:a="http://schemas.openxmlformats.org/drawingml/2006/main">
            <a:off x="647700" y="6553200"/>
            <a:ext cx="1009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65727B"/>
                </a:solidFill>
                <a:latin typeface="Arial"/>
                <a:ea typeface="Arial"/>
                <a:cs typeface="Arial"/>
              </a:defRPr>
            </a:pPr>
            <a:r>
              <a:rPr sz="750" b="0">
                <a:solidFill>
                  <a:srgbClr val="65727B"/>
                </a:solidFill>
                <a:latin typeface="Arial"/>
                <a:ea typeface="Arial"/>
                <a:cs typeface="Arial"/>
              </a:rPr>
              <a:t>Source: U.S. EPA 2026 Q2 Service Line Inventory. Each point represents one state or DC.</a:t>
            </a:r>
          </a:p>
        </p:txBody>
      </p:sp>
      <p:sp>
        <p:nvSpPr>
          <p:cNvPr id="18" name="">
            <a:extLst xmlns:a="http://schemas.openxmlformats.org/drawingml/2006/main">
              <a:ext uri="{FF2B5EF4-FFF2-40B4-BE49-F238E27FC236}">
                <a16:creationId xmlns:a16="http://schemas.microsoft.com/office/drawing/2014/main" id="{0BFEFAAB-D78C-4F3E-961E-DBF180E86A8A}"/>
              </a:ext>
            </a:extLst>
          </p:cNvPr>
          <p:cNvSpPr>
            <a:spLocks xmlns:a="http://schemas.openxmlformats.org/drawingml/2006/main" noGrp="1"/>
          </p:cNvSpPr>
          <p:nvPr/>
        </p:nvSpPr>
        <p:spPr>
          <a:xfrm xmlns:a="http://schemas.openxmlformats.org/drawingml/2006/main">
            <a:off x="11144250" y="65532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lgn="r">
              <a:buNone/>
              <a:defRPr sz="750" b="0">
                <a:solidFill>
                  <a:srgbClr val="65727B"/>
                </a:solidFill>
                <a:latin typeface="Arial"/>
                <a:ea typeface="Arial"/>
                <a:cs typeface="Arial"/>
              </a:defRPr>
            </a:pPr>
            <a:r>
              <a:rPr sz="750" b="0">
                <a:solidFill>
                  <a:srgbClr val="65727B"/>
                </a:solidFill>
                <a:latin typeface="Arial"/>
                <a:ea typeface="Arial"/>
                <a:cs typeface="Arial"/>
              </a:rPr>
              <a:t>4</a:t>
            </a:r>
          </a:p>
        </p:txBody>
      </p:sp>
    </p:spTree>
    <p:extLst>
      <p:ext uri="{BB962C8B-B14F-4D97-AF65-F5344CB8AC3E}">
        <p14:creationId xmlns:p14="http://schemas.microsoft.com/office/powerpoint/2010/main" val="126298111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CA6B7F7-B252-4E87-91CB-EF05D5BCF62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D90897-8C1C-429A-A8CD-BF28AA52D697}"/>
              </a:ext>
            </a:extLst>
          </p:cNvPr>
          <p:cNvSpPr>
            <a:spLocks xmlns:a="http://schemas.openxmlformats.org/drawingml/2006/main" noGrp="1"/>
          </p:cNvSpPr>
          <p:nvPr/>
        </p:nvSpPr>
        <p:spPr>
          <a:xfrm xmlns:a="http://schemas.openxmlformats.org/drawingml/2006/main">
            <a:off x="647700" y="41910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500"/>
          </a:bodyPr>
          <a:lstStyle xmlns:a="http://schemas.openxmlformats.org/drawingml/2006/main"/>
          <a:p xmlns:a="http://schemas.openxmlformats.org/drawingml/2006/main">
            <a:pPr>
              <a:buNone/>
              <a:defRPr sz="3000" b="1">
                <a:solidFill>
                  <a:srgbClr val="102A43"/>
                </a:solidFill>
                <a:latin typeface="Arial"/>
                <a:ea typeface="Arial"/>
                <a:cs typeface="Arial"/>
              </a:defRPr>
            </a:pPr>
            <a:r>
              <a:rPr sz="3000" b="1">
                <a:solidFill>
                  <a:srgbClr val="102A43"/>
                </a:solidFill>
                <a:latin typeface="Arial"/>
                <a:ea typeface="Arial"/>
                <a:cs typeface="Arial"/>
              </a:rPr>
              <a:t>Population context changes the rankings, while local evidence determines action</a:t>
            </a:r>
          </a:p>
        </p:txBody>
      </p:sp>
      <p:sp>
        <p:nvSpPr>
          <p:cNvPr id="3" name="">
            <a:extLst xmlns:a="http://schemas.openxmlformats.org/drawingml/2006/main">
              <a:ext uri="{FF2B5EF4-FFF2-40B4-BE49-F238E27FC236}">
                <a16:creationId xmlns:a16="http://schemas.microsoft.com/office/drawing/2014/main" id="{9C06A66A-63CC-4011-BC82-661CFA0F0264}"/>
              </a:ext>
            </a:extLst>
          </p:cNvPr>
          <p:cNvSpPr>
            <a:spLocks xmlns:a="http://schemas.openxmlformats.org/drawingml/2006/main" noGrp="1"/>
          </p:cNvSpPr>
          <p:nvPr/>
        </p:nvSpPr>
        <p:spPr>
          <a:xfrm xmlns:a="http://schemas.openxmlformats.org/drawingml/2006/main">
            <a:off x="666750" y="12573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buNone/>
              <a:defRPr sz="1350" b="0">
                <a:solidFill>
                  <a:srgbClr val="65727B"/>
                </a:solidFill>
                <a:latin typeface="Arial"/>
                <a:ea typeface="Arial"/>
                <a:cs typeface="Arial"/>
              </a:defRPr>
            </a:pPr>
            <a:r>
              <a:rPr sz="1350" b="0">
                <a:solidFill>
                  <a:srgbClr val="65727B"/>
                </a:solidFill>
                <a:latin typeface="Arial"/>
                <a:ea typeface="Arial"/>
                <a:cs typeface="Arial"/>
              </a:rPr>
              <a:t>Raw top-ten states that remain after population adjustment</a:t>
            </a:r>
          </a:p>
        </p:txBody>
      </p:sp>
      <p:graphicFrame>
        <p:nvGraphicFramePr>
          <p:cNvPr id="26" name="Chart"/>
          <p:cNvGraphicFramePr/>
          <p:nvPr/>
        </p:nvGraphicFramePr>
        <p:xfrm>
          <a:off xmlns:a="http://schemas.openxmlformats.org/drawingml/2006/main" x="571500" y="1762125"/>
          <a:ext xmlns:a="http://schemas.openxmlformats.org/drawingml/2006/main" cx="5143500" cy="2571750"/>
        </p:xfrm>
        <a:graphic xmlns:a="http://schemas.openxmlformats.org/drawingml/2006/main">
          <a:graphicData uri="http://schemas.openxmlformats.org/drawingml/2006/chart">
            <c:chart xmlns:r="http://schemas.openxmlformats.org/officeDocument/2006/relationships" xmlns:c="http://schemas.openxmlformats.org/drawingml/2006/chart" r:id="R939b8607695c43e3"/>
          </a:graphicData>
        </a:graphic>
      </p:graphicFrame>
      <p:sp>
        <p:nvSpPr>
          <p:cNvPr id="5" name="">
            <a:extLst xmlns:a="http://schemas.openxmlformats.org/drawingml/2006/main">
              <a:ext uri="{FF2B5EF4-FFF2-40B4-BE49-F238E27FC236}">
                <a16:creationId xmlns:a16="http://schemas.microsoft.com/office/drawing/2014/main" id="{988C8555-9D7E-47F2-BC0B-5F9F5DA8C2B5}"/>
              </a:ext>
            </a:extLst>
          </p:cNvPr>
          <p:cNvSpPr>
            <a:spLocks xmlns:a="http://schemas.openxmlformats.org/drawingml/2006/main" noGrp="1"/>
          </p:cNvSpPr>
          <p:nvPr/>
        </p:nvSpPr>
        <p:spPr>
          <a:xfrm xmlns:a="http://schemas.openxmlformats.org/drawingml/2006/main">
            <a:off x="6477000" y="1476375"/>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buNone/>
              <a:defRPr sz="1500" b="1">
                <a:solidFill>
                  <a:srgbClr val="102A43"/>
                </a:solidFill>
                <a:latin typeface="Arial"/>
                <a:ea typeface="Arial"/>
                <a:cs typeface="Arial"/>
              </a:defRPr>
            </a:pPr>
            <a:r>
              <a:rPr sz="1500" b="1">
                <a:solidFill>
                  <a:srgbClr val="102A43"/>
                </a:solidFill>
                <a:latin typeface="Arial"/>
                <a:ea typeface="Arial"/>
                <a:cs typeface="Arial"/>
              </a:rPr>
              <a:t>Absolute workload</a:t>
            </a:r>
          </a:p>
        </p:txBody>
      </p:sp>
      <p:sp>
        <p:nvSpPr>
          <p:cNvPr id="6" name="">
            <a:extLst xmlns:a="http://schemas.openxmlformats.org/drawingml/2006/main">
              <a:ext uri="{FF2B5EF4-FFF2-40B4-BE49-F238E27FC236}">
                <a16:creationId xmlns:a16="http://schemas.microsoft.com/office/drawing/2014/main" id="{65EB9097-681D-4A44-B986-BF03153B6077}"/>
              </a:ext>
            </a:extLst>
          </p:cNvPr>
          <p:cNvSpPr>
            <a:spLocks xmlns:a="http://schemas.openxmlformats.org/drawingml/2006/main" noGrp="1"/>
          </p:cNvSpPr>
          <p:nvPr/>
        </p:nvSpPr>
        <p:spPr>
          <a:xfrm xmlns:a="http://schemas.openxmlformats.org/drawingml/2006/main">
            <a:off x="6477000" y="1828800"/>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3333F"/>
                </a:solidFill>
                <a:latin typeface="Arial"/>
                <a:ea typeface="Arial"/>
                <a:cs typeface="Arial"/>
              </a:defRPr>
            </a:pPr>
            <a:r>
              <a:rPr sz="1350" b="0">
                <a:solidFill>
                  <a:srgbClr val="23333F"/>
                </a:solidFill>
                <a:latin typeface="Arial"/>
                <a:ea typeface="Arial"/>
                <a:cs typeface="Arial"/>
              </a:rPr>
              <a:t>Raw totals show where the largest overall inventories are concentrated.</a:t>
            </a:r>
          </a:p>
        </p:txBody>
      </p:sp>
      <p:sp>
        <p:nvSpPr>
          <p:cNvPr id="7" name="">
            <a:extLst xmlns:a="http://schemas.openxmlformats.org/drawingml/2006/main">
              <a:ext uri="{FF2B5EF4-FFF2-40B4-BE49-F238E27FC236}">
                <a16:creationId xmlns:a16="http://schemas.microsoft.com/office/drawing/2014/main" id="{8117E670-59A9-4916-B7EA-561E51257E4B}"/>
              </a:ext>
            </a:extLst>
          </p:cNvPr>
          <p:cNvSpPr>
            <a:spLocks xmlns:a="http://schemas.openxmlformats.org/drawingml/2006/main" noGrp="1"/>
          </p:cNvSpPr>
          <p:nvPr/>
        </p:nvSpPr>
        <p:spPr>
          <a:xfrm xmlns:a="http://schemas.openxmlformats.org/drawingml/2006/main">
            <a:off x="6477000" y="270510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buNone/>
              <a:defRPr sz="1500" b="1">
                <a:solidFill>
                  <a:srgbClr val="71A84F"/>
                </a:solidFill>
                <a:latin typeface="Arial"/>
                <a:ea typeface="Arial"/>
                <a:cs typeface="Arial"/>
              </a:defRPr>
            </a:pPr>
            <a:r>
              <a:rPr sz="1500" b="1">
                <a:solidFill>
                  <a:srgbClr val="71A84F"/>
                </a:solidFill>
                <a:latin typeface="Arial"/>
                <a:ea typeface="Arial"/>
                <a:cs typeface="Arial"/>
              </a:rPr>
              <a:t>Relative scale</a:t>
            </a:r>
          </a:p>
        </p:txBody>
      </p:sp>
      <p:sp>
        <p:nvSpPr>
          <p:cNvPr id="8" name="">
            <a:extLst xmlns:a="http://schemas.openxmlformats.org/drawingml/2006/main">
              <a:ext uri="{FF2B5EF4-FFF2-40B4-BE49-F238E27FC236}">
                <a16:creationId xmlns:a16="http://schemas.microsoft.com/office/drawing/2014/main" id="{D0EF43A6-42AF-44AE-A2E5-B0918D2FB85C}"/>
              </a:ext>
            </a:extLst>
          </p:cNvPr>
          <p:cNvSpPr>
            <a:spLocks xmlns:a="http://schemas.openxmlformats.org/drawingml/2006/main" noGrp="1"/>
          </p:cNvSpPr>
          <p:nvPr/>
        </p:nvSpPr>
        <p:spPr>
          <a:xfrm xmlns:a="http://schemas.openxmlformats.org/drawingml/2006/main">
            <a:off x="6477000" y="305752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3333F"/>
                </a:solidFill>
                <a:latin typeface="Arial"/>
                <a:ea typeface="Arial"/>
                <a:cs typeface="Arial"/>
              </a:defRPr>
            </a:pPr>
            <a:r>
              <a:rPr sz="1350" b="0">
                <a:solidFill>
                  <a:srgbClr val="23333F"/>
                </a:solidFill>
                <a:latin typeface="Arial"/>
                <a:ea typeface="Arial"/>
                <a:cs typeface="Arial"/>
              </a:rPr>
              <a:t>Per-capita values show where inventories are large relative to state population.</a:t>
            </a:r>
          </a:p>
        </p:txBody>
      </p:sp>
      <p:sp>
        <p:nvSpPr>
          <p:cNvPr id="9" name="">
            <a:extLst xmlns:a="http://schemas.openxmlformats.org/drawingml/2006/main">
              <a:ext uri="{FF2B5EF4-FFF2-40B4-BE49-F238E27FC236}">
                <a16:creationId xmlns:a16="http://schemas.microsoft.com/office/drawing/2014/main" id="{7FD8FB74-9A42-438C-B2D9-1087E38E804E}"/>
              </a:ext>
            </a:extLst>
          </p:cNvPr>
          <p:cNvSpPr>
            <a:spLocks xmlns:a="http://schemas.openxmlformats.org/drawingml/2006/main" noGrp="1"/>
          </p:cNvSpPr>
          <p:nvPr/>
        </p:nvSpPr>
        <p:spPr>
          <a:xfrm xmlns:a="http://schemas.openxmlformats.org/drawingml/2006/main">
            <a:off x="704850" y="46291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3F73C7"/>
                </a:solidFill>
                <a:latin typeface="Arial"/>
                <a:ea typeface="Arial"/>
                <a:cs typeface="Arial"/>
              </a:defRPr>
            </a:pPr>
            <a:r>
              <a:rPr sz="1425" b="1">
                <a:solidFill>
                  <a:srgbClr val="3F73C7"/>
                </a:solidFill>
                <a:latin typeface="Arial"/>
                <a:ea typeface="Arial"/>
                <a:cs typeface="Arial"/>
              </a:rPr>
              <a:t>Illinois</a:t>
            </a:r>
          </a:p>
        </p:txBody>
      </p:sp>
      <p:sp>
        <p:nvSpPr>
          <p:cNvPr id="10" name="">
            <a:extLst xmlns:a="http://schemas.openxmlformats.org/drawingml/2006/main">
              <a:ext uri="{FF2B5EF4-FFF2-40B4-BE49-F238E27FC236}">
                <a16:creationId xmlns:a16="http://schemas.microsoft.com/office/drawing/2014/main" id="{08F8260A-66E6-4856-924E-F1C3ACF13B3F}"/>
              </a:ext>
            </a:extLst>
          </p:cNvPr>
          <p:cNvSpPr>
            <a:spLocks xmlns:a="http://schemas.openxmlformats.org/drawingml/2006/main" noGrp="1"/>
          </p:cNvSpPr>
          <p:nvPr/>
        </p:nvSpPr>
        <p:spPr>
          <a:xfrm xmlns:a="http://schemas.openxmlformats.org/drawingml/2006/main">
            <a:off x="704850" y="49434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buNone/>
              <a:defRPr sz="1275" b="0">
                <a:solidFill>
                  <a:srgbClr val="23333F"/>
                </a:solidFill>
                <a:latin typeface="Arial"/>
                <a:ea typeface="Arial"/>
                <a:cs typeface="Arial"/>
              </a:defRPr>
            </a:pPr>
            <a:r>
              <a:rPr sz="1275" b="0">
                <a:solidFill>
                  <a:srgbClr val="23333F"/>
                </a:solidFill>
                <a:latin typeface="Arial"/>
                <a:ea typeface="Arial"/>
                <a:cs typeface="Arial"/>
              </a:rPr>
              <a:t>#1 Known Replacement per 10,000 residents</a:t>
            </a:r>
          </a:p>
        </p:txBody>
      </p:sp>
      <p:sp>
        <p:nvSpPr>
          <p:cNvPr id="11" name="">
            <a:extLst xmlns:a="http://schemas.openxmlformats.org/drawingml/2006/main">
              <a:ext uri="{FF2B5EF4-FFF2-40B4-BE49-F238E27FC236}">
                <a16:creationId xmlns:a16="http://schemas.microsoft.com/office/drawing/2014/main" id="{7362555F-97D0-4EC5-82C7-0B80FF9AF138}"/>
              </a:ext>
            </a:extLst>
          </p:cNvPr>
          <p:cNvSpPr>
            <a:spLocks xmlns:a="http://schemas.openxmlformats.org/drawingml/2006/main" noGrp="1"/>
          </p:cNvSpPr>
          <p:nvPr/>
        </p:nvSpPr>
        <p:spPr>
          <a:xfrm xmlns:a="http://schemas.openxmlformats.org/drawingml/2006/main">
            <a:off x="4286250" y="46291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5FA7D9"/>
                </a:solidFill>
                <a:latin typeface="Arial"/>
                <a:ea typeface="Arial"/>
                <a:cs typeface="Arial"/>
              </a:defRPr>
            </a:pPr>
            <a:r>
              <a:rPr sz="1425" b="1">
                <a:solidFill>
                  <a:srgbClr val="5FA7D9"/>
                </a:solidFill>
                <a:latin typeface="Arial"/>
                <a:ea typeface="Arial"/>
                <a:cs typeface="Arial"/>
              </a:rPr>
              <a:t>Pennsylvania</a:t>
            </a:r>
          </a:p>
        </p:txBody>
      </p:sp>
      <p:sp>
        <p:nvSpPr>
          <p:cNvPr id="12" name="">
            <a:extLst xmlns:a="http://schemas.openxmlformats.org/drawingml/2006/main">
              <a:ext uri="{FF2B5EF4-FFF2-40B4-BE49-F238E27FC236}">
                <a16:creationId xmlns:a16="http://schemas.microsoft.com/office/drawing/2014/main" id="{A952645E-C1BC-46CD-8B15-7B2A31DFD22C}"/>
              </a:ext>
            </a:extLst>
          </p:cNvPr>
          <p:cNvSpPr>
            <a:spLocks xmlns:a="http://schemas.openxmlformats.org/drawingml/2006/main" noGrp="1"/>
          </p:cNvSpPr>
          <p:nvPr/>
        </p:nvSpPr>
        <p:spPr>
          <a:xfrm xmlns:a="http://schemas.openxmlformats.org/drawingml/2006/main">
            <a:off x="4286250" y="4943475"/>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3333F"/>
                </a:solidFill>
                <a:latin typeface="Arial"/>
                <a:ea typeface="Arial"/>
                <a:cs typeface="Arial"/>
              </a:defRPr>
            </a:pPr>
            <a:r>
              <a:rPr sz="1275" b="0">
                <a:solidFill>
                  <a:srgbClr val="23333F"/>
                </a:solidFill>
                <a:latin typeface="Arial"/>
                <a:ea typeface="Arial"/>
                <a:cs typeface="Arial"/>
              </a:rPr>
              <a:t>#1 Unknown per 10,000 residents</a:t>
            </a:r>
          </a:p>
        </p:txBody>
      </p:sp>
      <p:sp>
        <p:nvSpPr>
          <p:cNvPr id="13" name="">
            <a:extLst xmlns:a="http://schemas.openxmlformats.org/drawingml/2006/main">
              <a:ext uri="{FF2B5EF4-FFF2-40B4-BE49-F238E27FC236}">
                <a16:creationId xmlns:a16="http://schemas.microsoft.com/office/drawing/2014/main" id="{D21715CE-5F0B-43FE-AADD-337EF3D9D252}"/>
              </a:ext>
            </a:extLst>
          </p:cNvPr>
          <p:cNvSpPr>
            <a:spLocks xmlns:a="http://schemas.openxmlformats.org/drawingml/2006/main" noGrp="1"/>
          </p:cNvSpPr>
          <p:nvPr/>
        </p:nvSpPr>
        <p:spPr>
          <a:xfrm xmlns:a="http://schemas.openxmlformats.org/drawingml/2006/main">
            <a:off x="7524750" y="46291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71A84F"/>
                </a:solidFill>
                <a:latin typeface="Arial"/>
                <a:ea typeface="Arial"/>
                <a:cs typeface="Arial"/>
              </a:defRPr>
            </a:pPr>
            <a:r>
              <a:rPr sz="1425" b="1">
                <a:solidFill>
                  <a:srgbClr val="71A84F"/>
                </a:solidFill>
                <a:latin typeface="Arial"/>
                <a:ea typeface="Arial"/>
                <a:cs typeface="Arial"/>
              </a:rPr>
              <a:t>Smaller states</a:t>
            </a:r>
          </a:p>
        </p:txBody>
      </p:sp>
      <p:sp>
        <p:nvSpPr>
          <p:cNvPr id="14" name="">
            <a:extLst xmlns:a="http://schemas.openxmlformats.org/drawingml/2006/main">
              <a:ext uri="{FF2B5EF4-FFF2-40B4-BE49-F238E27FC236}">
                <a16:creationId xmlns:a16="http://schemas.microsoft.com/office/drawing/2014/main" id="{7EDC757B-5BCD-4050-876A-0F7113D218D2}"/>
              </a:ext>
            </a:extLst>
          </p:cNvPr>
          <p:cNvSpPr>
            <a:spLocks xmlns:a="http://schemas.openxmlformats.org/drawingml/2006/main" noGrp="1"/>
          </p:cNvSpPr>
          <p:nvPr/>
        </p:nvSpPr>
        <p:spPr>
          <a:xfrm xmlns:a="http://schemas.openxmlformats.org/drawingml/2006/main">
            <a:off x="7524750" y="4943475"/>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3333F"/>
                </a:solidFill>
                <a:latin typeface="Arial"/>
                <a:ea typeface="Arial"/>
                <a:cs typeface="Arial"/>
              </a:defRPr>
            </a:pPr>
            <a:r>
              <a:rPr sz="1275" b="0">
                <a:solidFill>
                  <a:srgbClr val="23333F"/>
                </a:solidFill>
                <a:latin typeface="Arial"/>
                <a:ea typeface="Arial"/>
                <a:cs typeface="Arial"/>
              </a:rPr>
              <a:t>Rhode Island, Louisiana, and New Mexico become more visible</a:t>
            </a:r>
          </a:p>
        </p:txBody>
      </p:sp>
      <p:sp>
        <p:nvSpPr>
          <p:cNvPr id="15" name="">
            <a:extLst xmlns:a="http://schemas.openxmlformats.org/drawingml/2006/main">
              <a:ext uri="{FF2B5EF4-FFF2-40B4-BE49-F238E27FC236}">
                <a16:creationId xmlns:a16="http://schemas.microsoft.com/office/drawing/2014/main" id="{7900ECBC-4360-4CC2-A7D2-D47644128AD9}"/>
              </a:ext>
            </a:extLst>
          </p:cNvPr>
          <p:cNvSpPr>
            <a:spLocks xmlns:a="http://schemas.openxmlformats.org/drawingml/2006/main" noGrp="1"/>
          </p:cNvSpPr>
          <p:nvPr/>
        </p:nvSpPr>
        <p:spPr>
          <a:xfrm xmlns:a="http://schemas.openxmlformats.org/drawingml/2006/main">
            <a:off x="666750" y="5695950"/>
            <a:ext cx="10858500" cy="190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3E1E017-7695-4250-998B-FAFC6B436004}"/>
              </a:ext>
            </a:extLst>
          </p:cNvPr>
          <p:cNvSpPr>
            <a:spLocks xmlns:a="http://schemas.openxmlformats.org/drawingml/2006/main" noGrp="1"/>
          </p:cNvSpPr>
          <p:nvPr/>
        </p:nvSpPr>
        <p:spPr>
          <a:xfrm xmlns:a="http://schemas.openxmlformats.org/drawingml/2006/main">
            <a:off x="685800" y="583882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buNone/>
              <a:defRPr sz="1200" b="1">
                <a:solidFill>
                  <a:srgbClr val="102A43"/>
                </a:solidFill>
                <a:latin typeface="Arial"/>
                <a:ea typeface="Arial"/>
                <a:cs typeface="Arial"/>
              </a:defRPr>
            </a:pPr>
            <a:r>
              <a:rPr sz="1200" b="1">
                <a:solidFill>
                  <a:srgbClr val="102A43"/>
                </a:solidFill>
                <a:latin typeface="Arial"/>
                <a:ea typeface="Arial"/>
                <a:cs typeface="Arial"/>
              </a:rPr>
              <a:t>Recommended next question</a:t>
            </a:r>
          </a:p>
        </p:txBody>
      </p:sp>
      <p:sp>
        <p:nvSpPr>
          <p:cNvPr id="17" name="">
            <a:extLst xmlns:a="http://schemas.openxmlformats.org/drawingml/2006/main">
              <a:ext uri="{FF2B5EF4-FFF2-40B4-BE49-F238E27FC236}">
                <a16:creationId xmlns:a16="http://schemas.microsoft.com/office/drawing/2014/main" id="{4A00250E-45F6-46F6-B2C8-11DC29D3808B}"/>
              </a:ext>
            </a:extLst>
          </p:cNvPr>
          <p:cNvSpPr>
            <a:spLocks xmlns:a="http://schemas.openxmlformats.org/drawingml/2006/main" noGrp="1"/>
          </p:cNvSpPr>
          <p:nvPr/>
        </p:nvSpPr>
        <p:spPr>
          <a:xfrm xmlns:a="http://schemas.openxmlformats.org/drawingml/2006/main">
            <a:off x="3143250" y="5800725"/>
            <a:ext cx="828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350" b="1">
                <a:solidFill>
                  <a:srgbClr val="102A43"/>
                </a:solidFill>
                <a:latin typeface="Arial"/>
                <a:ea typeface="Arial"/>
                <a:cs typeface="Arial"/>
              </a:defRPr>
            </a:pPr>
            <a:r>
              <a:rPr sz="1350" b="1">
                <a:solidFill>
                  <a:srgbClr val="102A43"/>
                </a:solidFill>
                <a:latin typeface="Arial"/>
                <a:ea typeface="Arial"/>
                <a:cs typeface="Arial"/>
              </a:rPr>
              <a:t>How do state and utility needs align with available funding and local capacity to complete service-line replacement?</a:t>
            </a:r>
          </a:p>
        </p:txBody>
      </p:sp>
      <p:sp>
        <p:nvSpPr>
          <p:cNvPr id="18" name="">
            <a:extLst xmlns:a="http://schemas.openxmlformats.org/drawingml/2006/main">
              <a:ext uri="{FF2B5EF4-FFF2-40B4-BE49-F238E27FC236}">
                <a16:creationId xmlns:a16="http://schemas.microsoft.com/office/drawing/2014/main" id="{BADD6014-D42F-45FA-A311-A940F7812B42}"/>
              </a:ext>
            </a:extLst>
          </p:cNvPr>
          <p:cNvSpPr>
            <a:spLocks xmlns:a="http://schemas.openxmlformats.org/drawingml/2006/main" noGrp="1"/>
          </p:cNvSpPr>
          <p:nvPr/>
        </p:nvSpPr>
        <p:spPr>
          <a:xfrm xmlns:a="http://schemas.openxmlformats.org/drawingml/2006/main">
            <a:off x="647700" y="6486525"/>
            <a:ext cx="10896600" cy="9525"/>
          </a:xfrm>
          <a:prstGeom xmlns:a="http://schemas.openxmlformats.org/drawingml/2006/main" prst="rect">
            <a:avLst/>
          </a:prstGeom>
          <a:solidFill xmlns:a="http://schemas.openxmlformats.org/drawingml/2006/main">
            <a:srgbClr val="D8DED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C18F269-48D4-455F-AEFC-403EEDCDBCA3}"/>
              </a:ext>
            </a:extLst>
          </p:cNvPr>
          <p:cNvSpPr>
            <a:spLocks xmlns:a="http://schemas.openxmlformats.org/drawingml/2006/main" noGrp="1"/>
          </p:cNvSpPr>
          <p:nvPr/>
        </p:nvSpPr>
        <p:spPr>
          <a:xfrm xmlns:a="http://schemas.openxmlformats.org/drawingml/2006/main">
            <a:off x="647700" y="6553200"/>
            <a:ext cx="1009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buNone/>
              <a:defRPr sz="750" b="0">
                <a:solidFill>
                  <a:srgbClr val="65727B"/>
                </a:solidFill>
                <a:latin typeface="Arial"/>
                <a:ea typeface="Arial"/>
                <a:cs typeface="Arial"/>
              </a:defRPr>
            </a:pPr>
            <a:r>
              <a:rPr sz="750" b="0">
                <a:solidFill>
                  <a:srgbClr val="65727B"/>
                </a:solidFill>
                <a:latin typeface="Arial"/>
                <a:ea typeface="Arial"/>
                <a:cs typeface="Arial"/>
              </a:rPr>
              <a:t>Limitations: Unknown does not mean lead; inventories do not measure exposure or water quality; incomplete-report systems are excluded. Population uses 2025 Census estimates for 2026 Q2 inventory context.</a:t>
            </a:r>
          </a:p>
        </p:txBody>
      </p:sp>
      <p:sp>
        <p:nvSpPr>
          <p:cNvPr id="20" name="">
            <a:extLst xmlns:a="http://schemas.openxmlformats.org/drawingml/2006/main">
              <a:ext uri="{FF2B5EF4-FFF2-40B4-BE49-F238E27FC236}">
                <a16:creationId xmlns:a16="http://schemas.microsoft.com/office/drawing/2014/main" id="{12A07ADC-EC52-435C-8B38-9D18BBD727DF}"/>
              </a:ext>
            </a:extLst>
          </p:cNvPr>
          <p:cNvSpPr>
            <a:spLocks xmlns:a="http://schemas.openxmlformats.org/drawingml/2006/main" noGrp="1"/>
          </p:cNvSpPr>
          <p:nvPr/>
        </p:nvSpPr>
        <p:spPr>
          <a:xfrm xmlns:a="http://schemas.openxmlformats.org/drawingml/2006/main">
            <a:off x="11144250" y="65532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lgn="r">
              <a:buNone/>
              <a:defRPr sz="750" b="0">
                <a:solidFill>
                  <a:srgbClr val="65727B"/>
                </a:solidFill>
                <a:latin typeface="Arial"/>
                <a:ea typeface="Arial"/>
                <a:cs typeface="Arial"/>
              </a:defRPr>
            </a:pPr>
            <a:r>
              <a:rPr sz="750" b="0">
                <a:solidFill>
                  <a:srgbClr val="65727B"/>
                </a:solidFill>
                <a:latin typeface="Arial"/>
                <a:ea typeface="Arial"/>
                <a:cs typeface="Arial"/>
              </a:rPr>
              <a:t>5</a:t>
            </a:r>
          </a:p>
        </p:txBody>
      </p:sp>
    </p:spTree>
    <p:extLst>
      <p:ext uri="{BB962C8B-B14F-4D97-AF65-F5344CB8AC3E}">
        <p14:creationId xmlns:p14="http://schemas.microsoft.com/office/powerpoint/2010/main" val="12191645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2026-09-18T02:55:48.9090000Z</dcterms:created>
  <dcterms:modified xsi:type="dcterms:W3CDTF">2026-09-18T02:55:48.9090000Z</dcterms:modified>
</coreProperties>
</file>