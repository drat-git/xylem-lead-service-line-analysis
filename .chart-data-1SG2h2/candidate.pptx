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7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1f5a3023584471" /><Relationship Type="http://schemas.openxmlformats.org/officeDocument/2006/relationships/extended-properties" Target="/docProps/app.xml" Id="R5e95de2303f241aa" /><Relationship Type="http://schemas.openxmlformats.org/officeDocument/2006/relationships/officeDocument" Target="/ppt/presentation.xml" Id="R3e64c066c23a4d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652b1cd86d47d5"/>
  </p:sldMasterIdLst>
  <p:notesMasterIdLst>
    <p:notesMasterId xmlns:r="http://schemas.openxmlformats.org/officeDocument/2006/relationships" r:id="Raba111df8e194499"/>
  </p:notesMasterIdLst>
  <p:sldIdLst>
    <p:sldId xmlns:r="http://schemas.openxmlformats.org/officeDocument/2006/relationships" id="256" r:id="R27778258854c4493"/>
    <p:sldId xmlns:r="http://schemas.openxmlformats.org/officeDocument/2006/relationships" id="257" r:id="Ra1e0b34fa8704f3d"/>
    <p:sldId xmlns:r="http://schemas.openxmlformats.org/officeDocument/2006/relationships" id="258" r:id="Rf346265d607f439d"/>
    <p:sldId xmlns:r="http://schemas.openxmlformats.org/officeDocument/2006/relationships" id="259" r:id="R7c0145e0892046f8"/>
    <p:sldId xmlns:r="http://schemas.openxmlformats.org/officeDocument/2006/relationships" id="260" r:id="R549f5f6f5c20415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c66dd8e428418a" /><Relationship Type="http://schemas.openxmlformats.org/officeDocument/2006/relationships/slideMaster" Target="/ppt/slideMasters/slideMaster1.xml" Id="R23652b1cd86d47d5" /><Relationship Type="http://schemas.openxmlformats.org/officeDocument/2006/relationships/notesMaster" Target="/ppt/notesMasters/notesMaster1.xml" Id="Raba111df8e194499" /><Relationship Type="http://schemas.openxmlformats.org/officeDocument/2006/relationships/presProps" Target="/ppt/presProps.xml" Id="R44e8e96a63064617" /><Relationship Type="http://schemas.openxmlformats.org/officeDocument/2006/relationships/tableStyles" Target="/ppt/tableStyles.xml" Id="R7a96b04d0fd048ac" /><Relationship Type="http://schemas.openxmlformats.org/officeDocument/2006/relationships/slide" Target="/ppt/slides/slide1.xml" Id="R27778258854c4493" /><Relationship Type="http://schemas.openxmlformats.org/officeDocument/2006/relationships/slide" Target="/ppt/slides/slide2.xml" Id="Ra1e0b34fa8704f3d" /><Relationship Type="http://schemas.openxmlformats.org/officeDocument/2006/relationships/slide" Target="/ppt/slides/slide3.xml" Id="Rf346265d607f439d" /><Relationship Type="http://schemas.openxmlformats.org/officeDocument/2006/relationships/slide" Target="/ppt/slides/slide4.xml" Id="R7c0145e0892046f8" /><Relationship Type="http://schemas.openxmlformats.org/officeDocument/2006/relationships/slide" Target="/ppt/slides/slide5.xml" Id="R549f5f6f5c2041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e2f0526a7b41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3bd7a2dbdf475e" /><Relationship Type="http://schemas.openxmlformats.org/officeDocument/2006/relationships/notesMaster" Target="/ppt/notesMasters/notesMaster1.xml" Id="R75374346b43245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922d1245cea4ede" /><Relationship Type="http://schemas.openxmlformats.org/officeDocument/2006/relationships/notesMaster" Target="/ppt/notesMasters/notesMaster1.xml" Id="Ra0487072984146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671a6d26bc465d" /><Relationship Type="http://schemas.openxmlformats.org/officeDocument/2006/relationships/notesMaster" Target="/ppt/notesMasters/notesMaster1.xml" Id="Rff75ba24c4e547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37252c742b4d94" /><Relationship Type="http://schemas.openxmlformats.org/officeDocument/2006/relationships/notesMaster" Target="/ppt/notesMasters/notesMaster1.xml" Id="R6f471a327aee46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58c7d5ea984488d" /><Relationship Type="http://schemas.openxmlformats.org/officeDocument/2006/relationships/notesMaster" Target="/ppt/notesMasters/notesMaster1.xml" Id="R51fe4be9dcb046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U.S. EPA 2026 Q2 Service Line Inventory. Analytical source: completed Lead_Service_Line_Analysis.ipynb and outputs/state_service_line_summary.csv. Known Replacement Inventory = Lead + GRR. Identification Need = Lead Status Unknown, not confirmed lead. Complete-report Community Water Systems only. No composite ranking. Population comparisons use 2025 Census state resident population for the 2026 Q2 inventory.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U.S. EPA 2026 Q2 Service Line Inventory. Analytical source: completed Lead_Service_Line_Analysis.ipynb and outputs/state_service_line_summary.csv. Known Replacement Inventory = Lead + GRR. Identification Need = Lead Status Unknown, not confirmed lead. Complete-report Community Water Systems only. No composite ranking. Population comparisons use 2025 Census state resident population for the 2026 Q2 inventory.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U.S. EPA 2026 Q2 Service Line Inventory. Analytical source: completed Lead_Service_Line_Analysis.ipynb and outputs/state_service_line_summary.csv. Known Replacement Inventory = Lead + GRR. Identification Need = Lead Status Unknown, not confirmed lead. Complete-report Community Water Systems only. No composite ranking. Population comparisons use 2025 Census state resident population for the 2026 Q2 inventory.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U.S. EPA 2026 Q2 Service Line Inventory. Analytical source: completed Lead_Service_Line_Analysis.ipynb and outputs/state_service_line_summary.csv. Known Replacement Inventory = Lead + GRR. Identification Need = Lead Status Unknown, not confirmed lead. Complete-report Community Water Systems only. No composite ranking. Population comparisons use 2025 Census state resident population for the 2026 Q2 inventory.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U.S. EPA 2026 Q2 Service Line Inventory. Analytical source: completed Lead_Service_Line_Analysis.ipynb and outputs/state_service_line_summary.csv. Known Replacement Inventory = Lead + GRR. Identification Need = Lead Status Unknown, not confirmed lead. Complete-report Community Water Systems only. No composite ranking. Population comparisons use 2025 Census state resident population for the 2026 Q2 inventory.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c3dd9728a44f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a55d55f7944d91" /><Relationship Type="http://schemas.openxmlformats.org/officeDocument/2006/relationships/slideLayout" Target="/ppt/slideLayouts/slideLayout1.xml" Id="R9042e6ab4b3b47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42e6ab4b3b47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0a8da538f44890" /><Relationship Type="http://schemas.openxmlformats.org/officeDocument/2006/relationships/notesSlide" Target="/ppt/notesSlides/notesSlide1.xml" Id="R16c8d18a198a46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3fe31ce3184319" /><Relationship Type="http://schemas.openxmlformats.org/officeDocument/2006/relationships/chart" Target="/ppt/slides/charts/chart1.xml" Id="R5a3dd8ea82424b94" /><Relationship Type="http://schemas.openxmlformats.org/officeDocument/2006/relationships/notesSlide" Target="/ppt/notesSlides/notesSlide2.xml" Id="R5485deb7098340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dc82acdb7a4c11" /><Relationship Type="http://schemas.openxmlformats.org/officeDocument/2006/relationships/chart" Target="/ppt/slides/charts/chart2.xml" Id="R6556501e6fea4a88" /><Relationship Type="http://schemas.openxmlformats.org/officeDocument/2006/relationships/chart" Target="/ppt/slides/charts/chart3.xml" Id="Rf99fa42f97de439a" /><Relationship Type="http://schemas.openxmlformats.org/officeDocument/2006/relationships/chart" Target="/ppt/slides/charts/chart4.xml" Id="R226b01a164cf45d6" /><Relationship Type="http://schemas.openxmlformats.org/officeDocument/2006/relationships/chart" Target="/ppt/slides/charts/chart5.xml" Id="R31ceb1050b8940bb" /><Relationship Type="http://schemas.openxmlformats.org/officeDocument/2006/relationships/chart" Target="/ppt/slides/charts/chart6.xml" Id="R4aaaa51ab7a64763" /><Relationship Type="http://schemas.openxmlformats.org/officeDocument/2006/relationships/notesSlide" Target="/ppt/notesSlides/notesSlide3.xml" Id="R4339ddd5145d44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66eeada51b43b7" /><Relationship Type="http://schemas.openxmlformats.org/officeDocument/2006/relationships/chart" Target="/ppt/slides/charts/chart7.xml" Id="Rae2f2d12671c49bf" /><Relationship Type="http://schemas.openxmlformats.org/officeDocument/2006/relationships/notesSlide" Target="/ppt/notesSlides/notesSlide4.xml" Id="Rd468d21ee758491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51217438e64033" /><Relationship Type="http://schemas.openxmlformats.org/officeDocument/2006/relationships/notesSlide" Target="/ppt/notesSlides/notesSlide5.xml" Id="R8288005e49af4f9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Service lines</c:v>
          </c:tx>
          <c:spPr>
            <a:solidFill xmlns:a="http://schemas.openxmlformats.org/drawingml/2006/main">
              <a:srgbClr val="F07C2B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3F73C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07C2B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Known replacement</c:v>
                </c:pt>
                <c:pt idx="1">
                  <c:v>Unknown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3115308</c:v>
                </c:pt>
                <c:pt idx="1">
                  <c:v>21589524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4EE"/>
        </a:solid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Known Replacement Inventory</c:v>
          </c:tx>
          <c:spPr>
            <a:solidFill xmlns:a="http://schemas.openxmlformats.org/drawingml/2006/main">
              <a:srgbClr val="3F73C7"/>
            </a:solidFill>
          </c:spPr>
          <c:cat>
            <c:strRef>
              <c:f>'Chart Data'!$A$2:$A$2</c:f>
              <c:strCache>
                <c:ptCount val="1"/>
                <c:pt idx="0">
                  <c:v>Illinois</c:v>
                </c:pt>
              </c:strCache>
            </c:strRef>
          </c:cat>
          <c:val>
            <c:numRef>
              <c:f>'Chart Data'!$B$2:$B$2</c:f>
              <c:numCache>
                <c:formatCode>General</c:formatCode>
                <c:ptCount val="1"/>
                <c:pt idx="0">
                  <c:v>672210</c:v>
                </c:pt>
              </c:numCache>
            </c:numRef>
          </c:val>
        </c:ser>
        <c:ser>
          <c:idx val="1"/>
          <c:order val="1"/>
          <c:tx>
            <c:v>Lead Status Unknown</c:v>
          </c:tx>
          <c:spPr>
            <a:solidFill xmlns:a="http://schemas.openxmlformats.org/drawingml/2006/main">
              <a:srgbClr val="F07C2B"/>
            </a:solidFill>
          </c:spPr>
          <c:cat>
            <c:strRef>
              <c:f>'Chart Data'!$C$2:$C$2</c:f>
              <c:strCache>
                <c:ptCount val="1"/>
                <c:pt idx="0">
                  <c:v>Illinois</c:v>
                </c:pt>
              </c:strCache>
            </c:strRef>
          </c:cat>
          <c:val>
            <c:numRef>
              <c:f>'Chart Data'!$D$2:$D$2</c:f>
              <c:numCache>
                <c:formatCode>General</c:formatCode>
                <c:ptCount val="1"/>
                <c:pt idx="0">
                  <c:v>529706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2400000"/>
          <c:min val="0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4EE"/>
        </a:solid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Known Replacement Inventory</c:v>
          </c:tx>
          <c:spPr>
            <a:solidFill xmlns:a="http://schemas.openxmlformats.org/drawingml/2006/main">
              <a:srgbClr val="3F73C7"/>
            </a:solidFill>
          </c:spPr>
          <c:cat>
            <c:strRef>
              <c:f>'Chart Data'!$A$2:$A$2</c:f>
              <c:strCache>
                <c:ptCount val="1"/>
                <c:pt idx="0">
                  <c:v>Texas</c:v>
                </c:pt>
              </c:strCache>
            </c:strRef>
          </c:cat>
          <c:val>
            <c:numRef>
              <c:f>'Chart Data'!$B$2:$B$2</c:f>
              <c:numCache>
                <c:formatCode>General</c:formatCode>
                <c:ptCount val="1"/>
                <c:pt idx="0">
                  <c:v>114501</c:v>
                </c:pt>
              </c:numCache>
            </c:numRef>
          </c:val>
        </c:ser>
        <c:ser>
          <c:idx val="1"/>
          <c:order val="1"/>
          <c:tx>
            <c:v>Lead Status Unknown</c:v>
          </c:tx>
          <c:spPr>
            <a:solidFill xmlns:a="http://schemas.openxmlformats.org/drawingml/2006/main">
              <a:srgbClr val="F07C2B"/>
            </a:solidFill>
          </c:spPr>
          <c:cat>
            <c:strRef>
              <c:f>'Chart Data'!$C$2:$C$2</c:f>
              <c:strCache>
                <c:ptCount val="1"/>
                <c:pt idx="0">
                  <c:v>Texas</c:v>
                </c:pt>
              </c:strCache>
            </c:strRef>
          </c:cat>
          <c:val>
            <c:numRef>
              <c:f>'Chart Data'!$D$2:$D$2</c:f>
              <c:numCache>
                <c:formatCode>General</c:formatCode>
                <c:ptCount val="1"/>
                <c:pt idx="0">
                  <c:v>2178881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2400000"/>
          <c:min val="0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4EE"/>
        </a:solid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Known Replacement Inventory</c:v>
          </c:tx>
          <c:spPr>
            <a:solidFill xmlns:a="http://schemas.openxmlformats.org/drawingml/2006/main">
              <a:srgbClr val="3F73C7"/>
            </a:solidFill>
          </c:spPr>
          <c:cat>
            <c:strRef>
              <c:f>'Chart Data'!$A$2:$A$2</c:f>
              <c:strCache>
                <c:ptCount val="1"/>
                <c:pt idx="0">
                  <c:v>Pennsylvania</c:v>
                </c:pt>
              </c:strCache>
            </c:strRef>
          </c:cat>
          <c:val>
            <c:numRef>
              <c:f>'Chart Data'!$B$2:$B$2</c:f>
              <c:numCache>
                <c:formatCode>General</c:formatCode>
                <c:ptCount val="1"/>
                <c:pt idx="0">
                  <c:v>113717</c:v>
                </c:pt>
              </c:numCache>
            </c:numRef>
          </c:val>
        </c:ser>
        <c:ser>
          <c:idx val="1"/>
          <c:order val="1"/>
          <c:tx>
            <c:v>Lead Status Unknown</c:v>
          </c:tx>
          <c:spPr>
            <a:solidFill xmlns:a="http://schemas.openxmlformats.org/drawingml/2006/main">
              <a:srgbClr val="F07C2B"/>
            </a:solidFill>
          </c:spPr>
          <c:cat>
            <c:strRef>
              <c:f>'Chart Data'!$C$2:$C$2</c:f>
              <c:strCache>
                <c:ptCount val="1"/>
                <c:pt idx="0">
                  <c:v>Pennsylvania</c:v>
                </c:pt>
              </c:strCache>
            </c:strRef>
          </c:cat>
          <c:val>
            <c:numRef>
              <c:f>'Chart Data'!$D$2:$D$2</c:f>
              <c:numCache>
                <c:formatCode>General</c:formatCode>
                <c:ptCount val="1"/>
                <c:pt idx="0">
                  <c:v>2055512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2400000"/>
          <c:min val="0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4EE"/>
        </a:solid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Known Replacement Inventory</c:v>
          </c:tx>
          <c:spPr>
            <a:solidFill xmlns:a="http://schemas.openxmlformats.org/drawingml/2006/main">
              <a:srgbClr val="3F73C7"/>
            </a:solidFill>
          </c:spPr>
          <c:cat>
            <c:strRef>
              <c:f>'Chart Data'!$A$2:$A$2</c:f>
              <c:strCache>
                <c:ptCount val="1"/>
                <c:pt idx="0">
                  <c:v>Ohio</c:v>
                </c:pt>
              </c:strCache>
            </c:strRef>
          </c:cat>
          <c:val>
            <c:numRef>
              <c:f>'Chart Data'!$B$2:$B$2</c:f>
              <c:numCache>
                <c:formatCode>General</c:formatCode>
                <c:ptCount val="1"/>
                <c:pt idx="0">
                  <c:v>321502</c:v>
                </c:pt>
              </c:numCache>
            </c:numRef>
          </c:val>
        </c:ser>
        <c:ser>
          <c:idx val="1"/>
          <c:order val="1"/>
          <c:tx>
            <c:v>Lead Status Unknown</c:v>
          </c:tx>
          <c:spPr>
            <a:solidFill xmlns:a="http://schemas.openxmlformats.org/drawingml/2006/main">
              <a:srgbClr val="F07C2B"/>
            </a:solidFill>
          </c:spPr>
          <c:cat>
            <c:strRef>
              <c:f>'Chart Data'!$C$2:$C$2</c:f>
              <c:strCache>
                <c:ptCount val="1"/>
                <c:pt idx="0">
                  <c:v>Ohio</c:v>
                </c:pt>
              </c:strCache>
            </c:strRef>
          </c:cat>
          <c:val>
            <c:numRef>
              <c:f>'Chart Data'!$D$2:$D$2</c:f>
              <c:numCache>
                <c:formatCode>General</c:formatCode>
                <c:ptCount val="1"/>
                <c:pt idx="0">
                  <c:v>878788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2400000"/>
          <c:min val="0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4EE"/>
        </a:solid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Known Replacement Inventory</c:v>
          </c:tx>
          <c:spPr>
            <a:solidFill xmlns:a="http://schemas.openxmlformats.org/drawingml/2006/main">
              <a:srgbClr val="3F73C7"/>
            </a:solidFill>
          </c:spPr>
          <c:cat>
            <c:strRef>
              <c:f>'Chart Data'!$A$2:$A$2</c:f>
              <c:strCache>
                <c:ptCount val="1"/>
                <c:pt idx="0">
                  <c:v>New York</c:v>
                </c:pt>
              </c:strCache>
            </c:strRef>
          </c:cat>
          <c:val>
            <c:numRef>
              <c:f>'Chart Data'!$B$2:$B$2</c:f>
              <c:numCache>
                <c:formatCode>General</c:formatCode>
                <c:ptCount val="1"/>
                <c:pt idx="0">
                  <c:v>289055</c:v>
                </c:pt>
              </c:numCache>
            </c:numRef>
          </c:val>
        </c:ser>
        <c:ser>
          <c:idx val="1"/>
          <c:order val="1"/>
          <c:tx>
            <c:v>Lead Status Unknown</c:v>
          </c:tx>
          <c:spPr>
            <a:solidFill xmlns:a="http://schemas.openxmlformats.org/drawingml/2006/main">
              <a:srgbClr val="F07C2B"/>
            </a:solidFill>
          </c:spPr>
          <c:cat>
            <c:strRef>
              <c:f>'Chart Data'!$C$2:$C$2</c:f>
              <c:strCache>
                <c:ptCount val="1"/>
                <c:pt idx="0">
                  <c:v>New York</c:v>
                </c:pt>
              </c:strCache>
            </c:strRef>
          </c:cat>
          <c:val>
            <c:numRef>
              <c:f>'Chart Data'!$D$2:$D$2</c:f>
              <c:numCache>
                <c:formatCode>General</c:formatCode>
                <c:ptCount val="1"/>
                <c:pt idx="0">
                  <c:v>951163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2400000"/>
          <c:min val="0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4EE"/>
        </a:solid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marker"/>
        <c:ser>
          <c:idx val="0"/>
          <c:order val="0"/>
          <c:tx>
            <c:v>Other states</c:v>
          </c:tx>
          <c:spPr>
            <a:solidFill xmlns:a="http://schemas.openxmlformats.org/drawingml/2006/main">
              <a:srgbClr val="BEC8CE"/>
            </a:solidFill>
            <a:ln xmlns:a="http://schemas.openxmlformats.org/drawingml/2006/main" w="0">
              <a:solidFill>
                <a:srgbClr val="BEC8CE"/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rgbClr val="BEC8CE"/>
              </a:solidFill>
            </c:spPr>
          </c:marker>
          <c:xVal>
            <c:numRef>
              <c:f>'Chart Data'!$A$2:$A$47</c:f>
              <c:numCache>
                <c:formatCode>General</c:formatCode>
                <c:ptCount val="46"/>
                <c:pt idx="0">
                  <c:v>69230</c:v>
                </c:pt>
                <c:pt idx="1">
                  <c:v>16</c:v>
                </c:pt>
                <c:pt idx="2">
                  <c:v>2812</c:v>
                </c:pt>
                <c:pt idx="3">
                  <c:v>11569</c:v>
                </c:pt>
                <c:pt idx="4">
                  <c:v>12839</c:v>
                </c:pt>
                <c:pt idx="5">
                  <c:v>21412</c:v>
                </c:pt>
                <c:pt idx="6">
                  <c:v>13171</c:v>
                </c:pt>
                <c:pt idx="7">
                  <c:v>6292</c:v>
                </c:pt>
                <c:pt idx="8">
                  <c:v>17155</c:v>
                </c:pt>
                <c:pt idx="9">
                  <c:v>44559</c:v>
                </c:pt>
                <c:pt idx="10">
                  <c:v>50342</c:v>
                </c:pt>
                <c:pt idx="11">
                  <c:v>490</c:v>
                </c:pt>
                <c:pt idx="12">
                  <c:v>2769</c:v>
                </c:pt>
                <c:pt idx="13">
                  <c:v>190947</c:v>
                </c:pt>
                <c:pt idx="14">
                  <c:v>67950</c:v>
                </c:pt>
                <c:pt idx="15">
                  <c:v>26807</c:v>
                </c:pt>
                <c:pt idx="16">
                  <c:v>28036</c:v>
                </c:pt>
                <c:pt idx="17">
                  <c:v>20558</c:v>
                </c:pt>
                <c:pt idx="18">
                  <c:v>1599</c:v>
                </c:pt>
                <c:pt idx="19">
                  <c:v>3136</c:v>
                </c:pt>
                <c:pt idx="20">
                  <c:v>41737</c:v>
                </c:pt>
                <c:pt idx="21">
                  <c:v>255524</c:v>
                </c:pt>
                <c:pt idx="22">
                  <c:v>87183</c:v>
                </c:pt>
                <c:pt idx="23">
                  <c:v>23670</c:v>
                </c:pt>
                <c:pt idx="24">
                  <c:v>70968</c:v>
                </c:pt>
                <c:pt idx="25">
                  <c:v>3220</c:v>
                </c:pt>
                <c:pt idx="26">
                  <c:v>48712</c:v>
                </c:pt>
                <c:pt idx="27">
                  <c:v>1091</c:v>
                </c:pt>
                <c:pt idx="28">
                  <c:v>260</c:v>
                </c:pt>
                <c:pt idx="29">
                  <c:v>135360</c:v>
                </c:pt>
                <c:pt idx="30">
                  <c:v>331</c:v>
                </c:pt>
                <c:pt idx="31">
                  <c:v>12934</c:v>
                </c:pt>
                <c:pt idx="32">
                  <c:v>5658</c:v>
                </c:pt>
                <c:pt idx="33">
                  <c:v>14244</c:v>
                </c:pt>
                <c:pt idx="34">
                  <c:v>0</c:v>
                </c:pt>
                <c:pt idx="35">
                  <c:v>31489</c:v>
                </c:pt>
                <c:pt idx="36">
                  <c:v>19245</c:v>
                </c:pt>
                <c:pt idx="37">
                  <c:v>2697</c:v>
                </c:pt>
                <c:pt idx="38">
                  <c:v>64134</c:v>
                </c:pt>
                <c:pt idx="39">
                  <c:v>898</c:v>
                </c:pt>
                <c:pt idx="40">
                  <c:v>1910</c:v>
                </c:pt>
                <c:pt idx="41">
                  <c:v>13819</c:v>
                </c:pt>
                <c:pt idx="42">
                  <c:v>6922</c:v>
                </c:pt>
                <c:pt idx="43">
                  <c:v>8398</c:v>
                </c:pt>
                <c:pt idx="44">
                  <c:v>158815</c:v>
                </c:pt>
                <c:pt idx="45">
                  <c:v>3415</c:v>
                </c:pt>
              </c:numCache>
            </c:numRef>
          </c:xVal>
          <c:yVal>
            <c:numRef>
              <c:f>'Chart Data'!$B$2:$B$47</c:f>
              <c:numCache>
                <c:formatCode>0.0,,"M"</c:formatCode>
                <c:ptCount val="46"/>
                <c:pt idx="0">
                  <c:v>192502</c:v>
                </c:pt>
                <c:pt idx="1">
                  <c:v>25945</c:v>
                </c:pt>
                <c:pt idx="2">
                  <c:v>704381</c:v>
                </c:pt>
                <c:pt idx="3">
                  <c:v>477926</c:v>
                </c:pt>
                <c:pt idx="4">
                  <c:v>599523</c:v>
                </c:pt>
                <c:pt idx="5">
                  <c:v>141284</c:v>
                </c:pt>
                <c:pt idx="6">
                  <c:v>281092</c:v>
                </c:pt>
                <c:pt idx="7">
                  <c:v>113360</c:v>
                </c:pt>
                <c:pt idx="8">
                  <c:v>13427</c:v>
                </c:pt>
                <c:pt idx="9">
                  <c:v>1665928</c:v>
                </c:pt>
                <c:pt idx="10">
                  <c:v>630117</c:v>
                </c:pt>
                <c:pt idx="11">
                  <c:v>34235</c:v>
                </c:pt>
                <c:pt idx="12">
                  <c:v>96673</c:v>
                </c:pt>
                <c:pt idx="13">
                  <c:v>545507</c:v>
                </c:pt>
                <c:pt idx="14">
                  <c:v>180539</c:v>
                </c:pt>
                <c:pt idx="15">
                  <c:v>106076</c:v>
                </c:pt>
                <c:pt idx="16">
                  <c:v>424074</c:v>
                </c:pt>
                <c:pt idx="17">
                  <c:v>719101</c:v>
                </c:pt>
                <c:pt idx="18">
                  <c:v>41662</c:v>
                </c:pt>
                <c:pt idx="19">
                  <c:v>563397</c:v>
                </c:pt>
                <c:pt idx="20">
                  <c:v>349967</c:v>
                </c:pt>
                <c:pt idx="21">
                  <c:v>301508</c:v>
                </c:pt>
                <c:pt idx="22">
                  <c:v>209216</c:v>
                </c:pt>
                <c:pt idx="23">
                  <c:v>161821</c:v>
                </c:pt>
                <c:pt idx="24">
                  <c:v>895013</c:v>
                </c:pt>
                <c:pt idx="25">
                  <c:v>65847</c:v>
                </c:pt>
                <c:pt idx="26">
                  <c:v>88447</c:v>
                </c:pt>
                <c:pt idx="27">
                  <c:v>128987</c:v>
                </c:pt>
                <c:pt idx="28">
                  <c:v>3041</c:v>
                </c:pt>
                <c:pt idx="29">
                  <c:v>860857</c:v>
                </c:pt>
                <c:pt idx="30">
                  <c:v>327310</c:v>
                </c:pt>
                <c:pt idx="31">
                  <c:v>798785</c:v>
                </c:pt>
                <c:pt idx="32">
                  <c:v>97950</c:v>
                </c:pt>
                <c:pt idx="33">
                  <c:v>623329</c:v>
                </c:pt>
                <c:pt idx="34">
                  <c:v>27093</c:v>
                </c:pt>
                <c:pt idx="35">
                  <c:v>55695</c:v>
                </c:pt>
                <c:pt idx="36">
                  <c:v>348969</c:v>
                </c:pt>
                <c:pt idx="37">
                  <c:v>96462</c:v>
                </c:pt>
                <c:pt idx="38">
                  <c:v>621686</c:v>
                </c:pt>
                <c:pt idx="39">
                  <c:v>95149</c:v>
                </c:pt>
                <c:pt idx="40">
                  <c:v>36284</c:v>
                </c:pt>
                <c:pt idx="41">
                  <c:v>529417</c:v>
                </c:pt>
                <c:pt idx="42">
                  <c:v>220180</c:v>
                </c:pt>
                <c:pt idx="43">
                  <c:v>232026</c:v>
                </c:pt>
                <c:pt idx="44">
                  <c:v>182814</c:v>
                </c:pt>
                <c:pt idx="45">
                  <c:v>80872</c:v>
                </c:pt>
              </c:numCache>
            </c:numRef>
          </c:yVal>
        </c:ser>
        <c:ser>
          <c:idx val="1"/>
          <c:order val="1"/>
          <c:tx>
            <c:v>Illinois</c:v>
          </c:tx>
          <c:spPr>
            <a:solidFill xmlns:a="http://schemas.openxmlformats.org/drawingml/2006/main">
              <a:srgbClr val="3F73C7"/>
            </a:solidFill>
            <a:ln xmlns:a="http://schemas.openxmlformats.org/drawingml/2006/main" w="0">
              <a:solidFill>
                <a:srgbClr val="3F73C7"/>
              </a:solidFill>
            </a:ln>
          </c:spPr>
          <c:marker>
            <c:symbol val="circle"/>
            <c:size val="11"/>
            <c:spPr>
              <a:solidFill xmlns:a="http://schemas.openxmlformats.org/drawingml/2006/main">
                <a:srgbClr val="3F73C7"/>
              </a:solidFill>
            </c:spPr>
          </c:marker>
          <c:xVal>
            <c:numRef>
              <c:f>'Chart Data'!$C$2:$C$2</c:f>
              <c:numCache>
                <c:formatCode>General</c:formatCode>
                <c:ptCount val="1"/>
                <c:pt idx="0">
                  <c:v>672210</c:v>
                </c:pt>
              </c:numCache>
            </c:numRef>
          </c:xVal>
          <c:yVal>
            <c:numRef>
              <c:f>'Chart Data'!$D$2:$D$2</c:f>
              <c:numCache>
                <c:formatCode>0.0,,"M"</c:formatCode>
                <c:ptCount val="1"/>
                <c:pt idx="0">
                  <c:v>529706</c:v>
                </c:pt>
              </c:numCache>
            </c:numRef>
          </c:yVal>
        </c:ser>
        <c:ser>
          <c:idx val="2"/>
          <c:order val="2"/>
          <c:tx>
            <c:v>Identification examples</c:v>
          </c:tx>
          <c:spPr>
            <a:solidFill xmlns:a="http://schemas.openxmlformats.org/drawingml/2006/main">
              <a:srgbClr val="F07C2B"/>
            </a:solidFill>
            <a:ln xmlns:a="http://schemas.openxmlformats.org/drawingml/2006/main" w="0">
              <a:solidFill>
                <a:srgbClr val="F07C2B"/>
              </a:solidFill>
            </a:ln>
          </c:spPr>
          <c:marker>
            <c:symbol val="circle"/>
            <c:size val="11"/>
            <c:spPr>
              <a:solidFill xmlns:a="http://schemas.openxmlformats.org/drawingml/2006/main">
                <a:srgbClr val="F07C2B"/>
              </a:solidFill>
            </c:spPr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114501</c:v>
                </c:pt>
                <c:pt idx="1">
                  <c:v>113717</c:v>
                </c:pt>
              </c:numCache>
            </c:numRef>
          </c:xVal>
          <c:yVal>
            <c:numRef>
              <c:f>'Chart Data'!$F$2:$F$3</c:f>
              <c:numCache>
                <c:formatCode>0.0,,"M"</c:formatCode>
                <c:ptCount val="2"/>
                <c:pt idx="0">
                  <c:v>2178881</c:v>
                </c:pt>
                <c:pt idx="1">
                  <c:v>2055512</c:v>
                </c:pt>
              </c:numCache>
            </c:numRef>
          </c:yVal>
        </c:ser>
        <c:ser>
          <c:idx val="3"/>
          <c:order val="3"/>
          <c:tx>
            <c:v>High on both</c:v>
          </c:tx>
          <c:spPr>
            <a:solidFill xmlns:a="http://schemas.openxmlformats.org/drawingml/2006/main">
              <a:srgbClr val="102A43"/>
            </a:solidFill>
            <a:ln xmlns:a="http://schemas.openxmlformats.org/drawingml/2006/main" w="0">
              <a:solidFill>
                <a:srgbClr val="102A43"/>
              </a:solidFill>
            </a:ln>
          </c:spPr>
          <c:marker>
            <c:symbol val="circle"/>
            <c:size val="11"/>
            <c:spPr>
              <a:solidFill xmlns:a="http://schemas.openxmlformats.org/drawingml/2006/main">
                <a:srgbClr val="7356A6"/>
              </a:solidFill>
            </c:spPr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321502</c:v>
                </c:pt>
                <c:pt idx="1">
                  <c:v>289055</c:v>
                </c:pt>
              </c:numCache>
            </c:numRef>
          </c:xVal>
          <c:yVal>
            <c:numRef>
              <c:f>'Chart Data'!$H$2:$H$3</c:f>
              <c:numCache>
                <c:formatCode>0.0,,"M"</c:formatCode>
                <c:ptCount val="2"/>
                <c:pt idx="0">
                  <c:v>878788</c:v>
                </c:pt>
                <c:pt idx="1">
                  <c:v>951163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300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1E6E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102A43"/>
                    </a:solidFill>
                    <a:latin typeface="Arial"/>
                    <a:ea typeface="Arial"/>
                    <a:cs typeface="Arial"/>
                  </a:rPr>
                  <a:t>Lead Status Unknown Service Lines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02A4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,,&quot;M&quot;"/>
        <c:majorTickMark val="none"/>
        <c:minorTickMark val="none"/>
        <c:spPr>
          <a:ln xmlns:a="http://schemas.openxmlformats.org/drawingml/2006/main" w="9525">
            <a:solidFill>
              <a:srgbClr val="D8DE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500000"/>
      </c:valAx>
      <c:valAx>
        <c:axId val="48650112"/>
        <c:scaling>
          <c:orientation val="minMax"/>
          <c:max val="7200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23333F"/>
                    </a:solidFill>
                    <a:latin typeface="Arial"/>
                    <a:ea typeface="Arial"/>
                    <a:cs typeface="Arial"/>
                  </a:rPr>
                  <a:t>Known Replacement Inventory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23333F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,&quot;k&quot;"/>
        <c:majorTickMark val="none"/>
        <c:minorTickMark val="none"/>
        <c:spPr>
          <a:ln xmlns:a="http://schemas.openxmlformats.org/drawingml/2006/main" w="9525">
            <a:solidFill>
              <a:srgbClr val="D8DE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00000"/>
      </c:valAx>
      <c:spPr>
        <a:solidFill xmlns:a="http://schemas.openxmlformats.org/drawingml/2006/main">
          <a:srgbClr val="F7F4EE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433A7F-958A-44E0-A299-BC62DF60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1081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Lead service line need is not one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B8838A-C7C7-49D9-B1B3-6BF79747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3890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C7C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1F07BA-3C17-46CA-BDEE-07B470F2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65246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91231C-58B6-4402-89DC-58092D9C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States face different mixes of identification and replacement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223B22-8213-4217-88FF-EA13F13C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Where are infrastructure needs greatest across U.S. states?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8561EE-0530-41FB-8469-2AE0E4A8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956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07C2B"/>
                </a:solidFill>
                <a:latin typeface="Arial"/>
                <a:ea typeface="Arial"/>
                <a:cs typeface="Arial"/>
              </a:rPr>
              <a:t>01  IDENTIFY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1F16B7-00CB-4932-B6A8-1E9C862F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33775"/>
            <a:ext cx="481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Resolve Lead Status Unknown lines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1620CF-31A8-4ADE-ABC7-A7A7E2A9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76700"/>
            <a:ext cx="4762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07C2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07C2B"/>
                </a:solidFill>
                <a:latin typeface="Arial"/>
                <a:ea typeface="Arial"/>
                <a:cs typeface="Arial"/>
              </a:rPr>
              <a:t>Identification Need</a:t>
            </a:r>
          </a:p>
          <a:p xmlns:a="http://schemas.openxmlformats.org/drawingml/2006/main">
            <a:pPr>
              <a:defRPr sz="1725" b="0">
                <a:solidFill>
                  <a:srgbClr val="F07C2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07C2B"/>
                </a:solidFill>
                <a:latin typeface="Arial"/>
                <a:ea typeface="Arial"/>
                <a:cs typeface="Arial"/>
              </a:rPr>
              <a:t>= Lead Status Unknown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DC0DAC-87D1-4481-88E0-D8569CBF7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956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F73C7"/>
                </a:solidFill>
                <a:latin typeface="Arial"/>
                <a:ea typeface="Arial"/>
                <a:cs typeface="Arial"/>
              </a:rPr>
              <a:t>02  REPLACE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1DF521-8BA5-49A2-8184-A122BDF2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33775"/>
            <a:ext cx="481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Act on known Lead and GRR lines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E63FC4-6D92-4588-87BF-DDEABDA4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76700"/>
            <a:ext cx="4810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F73C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F73C7"/>
                </a:solidFill>
                <a:latin typeface="Arial"/>
                <a:ea typeface="Arial"/>
                <a:cs typeface="Arial"/>
              </a:rPr>
              <a:t>Known Replacement Inventory</a:t>
            </a:r>
          </a:p>
          <a:p xmlns:a="http://schemas.openxmlformats.org/drawingml/2006/main">
            <a:pPr>
              <a:defRPr sz="1725" b="0">
                <a:solidFill>
                  <a:srgbClr val="3F73C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F73C7"/>
                </a:solidFill>
                <a:latin typeface="Arial"/>
                <a:ea typeface="Arial"/>
                <a:cs typeface="Arial"/>
              </a:rPr>
              <a:t>= Lead + GRR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50BC58-D9F2-4DE3-A5BA-AFE703010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81625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Comparing states on only one measure would hide where their actual workload sits.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B9A439-C98C-4831-920E-9650B7C0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246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Scope: 43,993 complete-report Community Water Systems across 50 states and DC</a:t>
            </a:r>
          </a:p>
        </p:txBody>
      </p:sp>
    </p:spTree>
    <p:extLst>
      <p:ext uri="{BB962C8B-B14F-4D97-AF65-F5344CB8AC3E}">
        <p14:creationId xmlns:p14="http://schemas.microsoft.com/office/powerpoint/2010/main" val="841737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35B204-F547-465A-BB60-AAE13B4B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1081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Most of the reported national workload</a:t>
            </a:r>
          </a:p>
          <a:p xmlns:a="http://schemas.openxmlformats.org/drawingml/2006/main">
            <a:pPr>
              <a:defRPr sz="29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is still unresolved identification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CDFF91-49C3-44C4-903E-990178C4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3890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C7C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CA0468-22C3-4FD9-B4BF-E98019DA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65246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8B4B5E-B192-4870-AF16-3121F521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428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National inventory within the analytical sample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18F3BC-8279-407B-B0C8-27E7AD58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383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07C2B"/>
                </a:solidFill>
                <a:latin typeface="Arial"/>
                <a:ea typeface="Arial"/>
                <a:cs typeface="Arial"/>
              </a:rPr>
              <a:t>Lead Status Unknown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95BCD2-3D1E-44F5-8AE5-6FE16DB30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09825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07C2B"/>
                </a:solidFill>
                <a:latin typeface="Arial"/>
                <a:ea typeface="Arial"/>
                <a:cs typeface="Arial"/>
              </a:rPr>
              <a:t>21.59M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790575" y="3076575"/>
          <a:ext xmlns:a="http://schemas.openxmlformats.org/drawingml/2006/main" cx="7048500" cy="18954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a3dd8ea82424b94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5502C5-08D5-4E45-A3AD-DF48471D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019675"/>
            <a:ext cx="676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F73C7"/>
                </a:solidFill>
                <a:latin typeface="Arial"/>
                <a:ea typeface="Arial"/>
                <a:cs typeface="Arial"/>
              </a:rPr>
              <a:t>Known Replacement Inventory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3CB159-9244-442D-9AF3-1A879036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381625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3F73C7"/>
                </a:solidFill>
                <a:latin typeface="Arial"/>
                <a:ea typeface="Arial"/>
                <a:cs typeface="Arial"/>
              </a:rPr>
              <a:t>3.12M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BB8108-C7F6-40A2-989C-C092087F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45782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2.18M Lead + 0.94M GRR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5E143F-FBCF-4291-B592-DD109FB3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352675"/>
            <a:ext cx="2762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025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pPr>
            <a:r>
              <a:rPr sz="5025" b="1">
                <a:solidFill>
                  <a:srgbClr val="F07C2B"/>
                </a:solidFill>
                <a:latin typeface="Arial"/>
                <a:ea typeface="Arial"/>
                <a:cs typeface="Arial"/>
              </a:rPr>
              <a:t>6.9×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8A7EF3-C261-40B3-8D6F-29C07FE1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276600"/>
            <a:ext cx="2667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as many Unknown lines as lines already classified for replacement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2F3904-C087-4F39-8C5F-071DB049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905375"/>
            <a:ext cx="26479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Unknown lines require identification.</a:t>
            </a:r>
          </a:p>
          <a:p xmlns:a="http://schemas.openxmlformats.org/drawingml/2006/main">
            <a:pPr>
              <a:defRPr sz="1575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They are not confirmed lead lines.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6F683A-0D81-47DE-833F-1CD8DEC9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246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Source: U.S. EPA 2026 Q2 Service Line Inventory. Counts reflect the analytical sample.</a:t>
            </a:r>
          </a:p>
        </p:txBody>
      </p:sp>
    </p:spTree>
    <p:extLst>
      <p:ext uri="{BB962C8B-B14F-4D97-AF65-F5344CB8AC3E}">
        <p14:creationId xmlns:p14="http://schemas.microsoft.com/office/powerpoint/2010/main" val="19943608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8119B4-B5CA-461C-B4C0-1DA41004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1081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same national challenge looks very different</a:t>
            </a:r>
          </a:p>
          <a:p xmlns:a="http://schemas.openxmlformats.org/drawingml/2006/main">
            <a:pPr>
              <a:defRPr sz="29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from state to state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AED128-B087-434F-9F61-C6E9FEED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3890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C7C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1E2C56-37CB-4161-A115-2517AB37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65246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E3239C-D5E4-4AA1-833C-E4294906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4287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3C7"/>
                </a:solidFill>
                <a:latin typeface="Arial"/>
                <a:ea typeface="Arial"/>
                <a:cs typeface="Arial"/>
              </a:rPr>
              <a:t>Known Replacement Inventory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740742-A158-49B7-86D0-CE281833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14287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07C2B"/>
                </a:solidFill>
                <a:latin typeface="Arial"/>
                <a:ea typeface="Arial"/>
                <a:cs typeface="Arial"/>
              </a:rPr>
              <a:t>Lead Status Unknown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46789A-84F0-4185-BAEC-5B205499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204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Replacement-</a:t>
            </a:r>
          </a:p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heavy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B8BF0B-05A9-49E8-AA4C-40B9DCABB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095500"/>
            <a:ext cx="1524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Illinois</a:t>
            </a:r>
          </a:p>
        </p:txBody>
      </p:sp>
      <p:graphicFrame>
        <p:nvGraphicFramePr>
          <p:cNvPr id="41" name="Chart"/>
          <p:cNvGraphicFramePr/>
          <p:nvPr/>
        </p:nvGraphicFramePr>
        <p:xfrm>
          <a:off xmlns:a="http://schemas.openxmlformats.org/drawingml/2006/main" x="4438650" y="2047875"/>
          <a:ext xmlns:a="http://schemas.openxmlformats.org/drawingml/2006/main" cx="5143500" cy="6000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556501e6fea4a88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60F55F-2845-4B61-8CAA-5D682CB5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57400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3C7"/>
                </a:solidFill>
                <a:latin typeface="Arial"/>
                <a:ea typeface="Arial"/>
                <a:cs typeface="Arial"/>
              </a:rPr>
              <a:t>672,210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89EF04-EB02-4F76-AF7E-0BF14AF4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343150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07C2B"/>
                </a:solidFill>
                <a:latin typeface="Arial"/>
                <a:ea typeface="Arial"/>
                <a:cs typeface="Arial"/>
              </a:rPr>
              <a:t>529,706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E85F2E-BDC9-425E-930D-FB9E32B2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743200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Largest already-classified replacement inventory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9339F0-F5BE-4835-BF12-00DE1373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71825"/>
            <a:ext cx="1071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C7C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BCE1BC-6664-4988-93CA-2C9E0209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67100"/>
            <a:ext cx="204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Identification-</a:t>
            </a:r>
          </a:p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heavy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194302-F20B-4193-8FDA-570A9B351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400425"/>
            <a:ext cx="1524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Texas</a:t>
            </a:r>
          </a:p>
        </p:txBody>
      </p:sp>
      <p:graphicFrame>
        <p:nvGraphicFramePr>
          <p:cNvPr id="48" name="Chart"/>
          <p:cNvGraphicFramePr/>
          <p:nvPr/>
        </p:nvGraphicFramePr>
        <p:xfrm>
          <a:off xmlns:a="http://schemas.openxmlformats.org/drawingml/2006/main" x="4438650" y="3352800"/>
          <a:ext xmlns:a="http://schemas.openxmlformats.org/drawingml/2006/main" cx="5143500" cy="6000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99fa42f97de439a"/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7566FA-EC61-48A1-A823-83944095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362325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3C7"/>
                </a:solidFill>
                <a:latin typeface="Arial"/>
                <a:ea typeface="Arial"/>
                <a:cs typeface="Arial"/>
              </a:rPr>
              <a:t>114,501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421DA9-7B9D-497F-82E7-B5F205F3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648075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07C2B"/>
                </a:solidFill>
                <a:latin typeface="Arial"/>
                <a:ea typeface="Arial"/>
                <a:cs typeface="Arial"/>
              </a:rPr>
              <a:t>2,178,881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3ED7DA-186C-42AD-8D75-580D4012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057650"/>
            <a:ext cx="1524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Pennsylvania</a:t>
            </a:r>
          </a:p>
        </p:txBody>
      </p:sp>
      <p:graphicFrame>
        <p:nvGraphicFramePr>
          <p:cNvPr id="52" name="Chart"/>
          <p:cNvGraphicFramePr/>
          <p:nvPr/>
        </p:nvGraphicFramePr>
        <p:xfrm>
          <a:off xmlns:a="http://schemas.openxmlformats.org/drawingml/2006/main" x="4438650" y="4010025"/>
          <a:ext xmlns:a="http://schemas.openxmlformats.org/drawingml/2006/main" cx="5143500" cy="6000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26b01a164cf45d6"/>
          </a:graphicData>
        </a:graphic>
      </p:graphicFrame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6E60BB-E15D-4267-BA86-C872F28A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019550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3C7"/>
                </a:solidFill>
                <a:latin typeface="Arial"/>
                <a:ea typeface="Arial"/>
                <a:cs typeface="Arial"/>
              </a:rPr>
              <a:t>113,717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DC3AD8-CB22-4DF4-A67B-C235D595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305300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07C2B"/>
                </a:solidFill>
                <a:latin typeface="Arial"/>
                <a:ea typeface="Arial"/>
                <a:cs typeface="Arial"/>
              </a:rPr>
              <a:t>2,055,512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EB5D87-3B18-4192-8E57-A33E7444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676775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Much larger unresolved identification inventories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A2A23C-DD0B-491D-AB10-7BEACA6A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1071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C7CC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7D7B90-DBCE-4FAE-8759-71DDD3C43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48275"/>
            <a:ext cx="209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Substantial work</a:t>
            </a:r>
          </a:p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on both dimensions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948B3B-CA48-4760-BAA9-7E2F1A61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229225"/>
            <a:ext cx="1524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Ohio</a:t>
            </a:r>
          </a:p>
        </p:txBody>
      </p:sp>
      <p:graphicFrame>
        <p:nvGraphicFramePr>
          <p:cNvPr id="59" name="Chart"/>
          <p:cNvGraphicFramePr/>
          <p:nvPr/>
        </p:nvGraphicFramePr>
        <p:xfrm>
          <a:off xmlns:a="http://schemas.openxmlformats.org/drawingml/2006/main" x="4438650" y="5181600"/>
          <a:ext xmlns:a="http://schemas.openxmlformats.org/drawingml/2006/main" cx="5143500" cy="6000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1ceb1050b8940bb"/>
          </a:graphicData>
        </a:graphic>
      </p:graphicFrame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631529-CD75-4F27-A23A-7C93ED36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191125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3C7"/>
                </a:solidFill>
                <a:latin typeface="Arial"/>
                <a:ea typeface="Arial"/>
                <a:cs typeface="Arial"/>
              </a:rPr>
              <a:t>321,502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155AF0-3AB1-49EE-ACA8-09107E59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476875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07C2B"/>
                </a:solidFill>
                <a:latin typeface="Arial"/>
                <a:ea typeface="Arial"/>
                <a:cs typeface="Arial"/>
              </a:rPr>
              <a:t>878,788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26EA41-C894-48DB-A27A-D6F64C5F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810250"/>
            <a:ext cx="1524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New York</a:t>
            </a:r>
          </a:p>
        </p:txBody>
      </p:sp>
      <p:graphicFrame>
        <p:nvGraphicFramePr>
          <p:cNvPr id="63" name="Chart"/>
          <p:cNvGraphicFramePr/>
          <p:nvPr/>
        </p:nvGraphicFramePr>
        <p:xfrm>
          <a:off xmlns:a="http://schemas.openxmlformats.org/drawingml/2006/main" x="4438650" y="5762625"/>
          <a:ext xmlns:a="http://schemas.openxmlformats.org/drawingml/2006/main" cx="5143500" cy="6000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aaaa51ab7a64763"/>
          </a:graphicData>
        </a:graphic>
      </p:graphicFrame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6C6758-E5B0-4A67-9265-EC58D52D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772150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3C7"/>
                </a:solidFill>
                <a:latin typeface="Arial"/>
                <a:ea typeface="Arial"/>
                <a:cs typeface="Arial"/>
              </a:rPr>
              <a:t>289,055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01CC47-AB83-4520-AB1C-954FE519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6057900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07C2B"/>
                </a:solidFill>
                <a:latin typeface="Arial"/>
                <a:ea typeface="Arial"/>
                <a:cs typeface="Arial"/>
              </a:rPr>
              <a:t>951,163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B22CEA-25A3-4D02-B1DC-C5CDAFCB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246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Source: U.S. EPA 2026 Q2 Service Line Inventory. Narrative examples, not statistical clusters. All bars use the same scale.</a:t>
            </a:r>
          </a:p>
        </p:txBody>
      </p:sp>
    </p:spTree>
    <p:extLst>
      <p:ext uri="{BB962C8B-B14F-4D97-AF65-F5344CB8AC3E}">
        <p14:creationId xmlns:p14="http://schemas.microsoft.com/office/powerpoint/2010/main" val="11905744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35" name="Chart"/>
          <p:cNvGraphicFramePr/>
          <p:nvPr/>
        </p:nvGraphicFramePr>
        <p:xfrm>
          <a:off xmlns:a="http://schemas.openxmlformats.org/drawingml/2006/main" x="523875" y="1428750"/>
          <a:ext xmlns:a="http://schemas.openxmlformats.org/drawingml/2006/main" cx="7810500" cy="4524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e2f2d12671c49bf"/>
          </a:graphicData>
        </a:graphic>
      </p:graphicFrame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3490A6-F112-4CAA-9B6B-44951197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1081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 single ranking would hide</a:t>
            </a:r>
          </a:p>
          <a:p xmlns:a="http://schemas.openxmlformats.org/drawingml/2006/main">
            <a:pPr>
              <a:defRPr sz="29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where each state’s workload sits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F81EE0-008B-4CF3-901D-D8FFA55F7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3890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C7C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1361A3-F92A-4461-9FC1-C0CC2DF3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65246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56EFB3-26ED-44FF-9C06-F3F3AACA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7240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07C2B"/>
                </a:solidFill>
                <a:latin typeface="Arial"/>
                <a:ea typeface="Arial"/>
                <a:cs typeface="Arial"/>
              </a:rPr>
              <a:t>Texas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616946-8106-4D13-B332-E2A46A78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0859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07C2B"/>
                </a:solidFill>
                <a:latin typeface="Arial"/>
                <a:ea typeface="Arial"/>
                <a:cs typeface="Arial"/>
              </a:rPr>
              <a:t>Pennsylvania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A3D47D-E04D-4434-8356-4BB01ACE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4194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New York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528B59-B575-4417-BCA6-232DF890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7528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Ohio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3A1A6D-C266-4A59-89FE-12BF17A3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1433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F73C7"/>
                </a:solidFill>
                <a:latin typeface="Arial"/>
                <a:ea typeface="Arial"/>
                <a:cs typeface="Arial"/>
              </a:rPr>
              <a:t>Illinois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FDD452-7D44-455E-8DAC-5B4C2B39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5240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What this reveals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201183-B26C-4AB7-98DD-D5433B17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05025"/>
            <a:ext cx="26860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Replacement and identification needs do not consistently move together.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BF7E90-3226-451F-AAFE-68B61D50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228975"/>
            <a:ext cx="26860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One overall “need” ranking would hide these differences.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00D8F4-A971-4576-AD20-A2A6B4D1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219575"/>
            <a:ext cx="26860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Planning should distinguish known replacement work from inventory still requiring identification.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B42F8F-26D8-4AEB-BD24-40DBD70E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610225"/>
            <a:ext cx="2714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This pattern describes inventory. It does not measure progress, maturity, or cause.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9F224A-5244-459B-8A45-81860C378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246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Source: U.S. EPA 2026 Q2 Service Line Inventory. Each point represents one state or DC.</a:t>
            </a:r>
          </a:p>
        </p:txBody>
      </p:sp>
    </p:spTree>
    <p:extLst>
      <p:ext uri="{BB962C8B-B14F-4D97-AF65-F5344CB8AC3E}">
        <p14:creationId xmlns:p14="http://schemas.microsoft.com/office/powerpoint/2010/main" val="12629811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B397D6-1B3A-4193-855D-9C79222D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1081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State size changes who stands out,</a:t>
            </a:r>
          </a:p>
          <a:p xmlns:a="http://schemas.openxmlformats.org/drawingml/2006/main">
            <a:pPr>
              <a:defRPr sz="29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and local evidence is needed before acting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3AC5E3-F059-420A-9C7F-A891EC08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533525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Absolute workload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628013-9563-4C91-A7DD-C629AA89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981200"/>
            <a:ext cx="30003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Raw totals show where the largest overall inventories are concentrated.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02D177-6B3D-4C4F-9224-2F301789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53352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Relative scale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2BA5AE-9DB4-4DFF-A13D-9F92CFE7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95262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Per 10,000 state residents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C241EB-2478-4CB2-BA27-2EBE7A9D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33362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Raw top 10 retained after normalization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9F1CB7-D0C8-4559-803D-4DF98538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7241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3F73C7"/>
                </a:solidFill>
                <a:latin typeface="Arial"/>
                <a:ea typeface="Arial"/>
                <a:cs typeface="Arial"/>
              </a:rPr>
              <a:t>6 of 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DE1B8F-0D63-4359-980B-AEE4E2E19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90825"/>
            <a:ext cx="2505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F73C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F73C7"/>
                </a:solidFill>
                <a:latin typeface="Arial"/>
                <a:ea typeface="Arial"/>
                <a:cs typeface="Arial"/>
              </a:rPr>
              <a:t>Known Replacement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4A806B-5513-4C7E-A08D-A3DE9EC6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228975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07C2B"/>
                </a:solidFill>
                <a:latin typeface="Arial"/>
                <a:ea typeface="Arial"/>
                <a:cs typeface="Arial"/>
              </a:rPr>
              <a:t>3 of 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3DF3F9-2F99-4292-BA5A-780280E21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295650"/>
            <a:ext cx="2505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07C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07C2B"/>
                </a:solidFill>
                <a:latin typeface="Arial"/>
                <a:ea typeface="Arial"/>
                <a:cs typeface="Arial"/>
              </a:rPr>
              <a:t>Identification Need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4ACD66-C898-4116-BC1E-B2915ACD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88620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Illinois: #1 Known Replacement</a:t>
            </a:r>
          </a:p>
          <a:p xmlns:a="http://schemas.openxmlformats.org/drawingml/2006/main">
            <a:pPr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Pennsylvania: #1 Unknown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20370B-80C2-4AE0-B15A-131DF4F4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50532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Both per 10,000 state residents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00D0B9-EA96-43EB-AB8F-110709BA6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867275"/>
            <a:ext cx="41052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Rhode Island, Louisiana and New Mexico become more visible.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AC8DA4-DE8D-4F31-A561-B17DA545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533525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Decision implication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3009BA-E7D6-4098-B24C-C96D84C9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981200"/>
            <a:ext cx="2743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State inventories can guide deeper local investigation.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9A26D5-F539-4769-859F-07F77982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95600"/>
            <a:ext cx="27241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Intervention decisions require utility-level records, GIS information, inspections, funding information, local capacity, project plans and other local evidence.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CFF702-B212-42D8-9820-E55BA27E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553075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A4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84B61F-F9F8-4FF9-9A09-D982994F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7054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Next question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5605B3-8FD1-469F-B98F-74AE49D6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676900"/>
            <a:ext cx="89344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How do state and utility identification and replacement needs align with available funding</a:t>
            </a:r>
          </a:p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and local capacity to complete service-line replacement?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32E63E-0C38-44BD-8154-09BCC7246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296025"/>
            <a:ext cx="1071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Unknown does not mean lead. Inventory does not measure exposure or water quality. Incomplete-report systems are excluded.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78F25E-0010-4761-89AC-70803BFE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534150"/>
            <a:ext cx="10715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Sources: U.S. EPA 2026 Q2 Service Line Inventory; U.S. Census Bureau 2025 resident population estimates (population context).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88F521-76BD-4921-937B-84F5CE61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238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2191645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2026-09-18T03:48:28.5710000Z</dcterms:created>
  <dcterms:modified xsi:type="dcterms:W3CDTF">2026-09-18T03:48:28.5710000Z</dcterms:modified>
</coreProperties>
</file>