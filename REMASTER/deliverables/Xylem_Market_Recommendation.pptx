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863a132f6f84ae3" /><Relationship Type="http://schemas.openxmlformats.org/officeDocument/2006/relationships/extended-properties" Target="/docProps/app.xml" Id="R856153328e76417d" /><Relationship Type="http://schemas.openxmlformats.org/officeDocument/2006/relationships/officeDocument" Target="/ppt/presentation.xml" Id="Rf990ee7f55f44edc" /></Relationships>
</file>

<file path=ppt/presentation.xml><?xml version="1.0" encoding="utf-8"?>
<p:presentation xmlns:p="http://schemas.openxmlformats.org/presentationml/2006/main">
  <p:sldMasterIdLst>
    <p:sldMasterId xmlns:r="http://schemas.openxmlformats.org/officeDocument/2006/relationships" id="2147483648" r:id="R369aa9a417b24a44"/>
  </p:sldMasterIdLst>
  <p:notesMasterIdLst>
    <p:notesMasterId xmlns:r="http://schemas.openxmlformats.org/officeDocument/2006/relationships" r:id="Ra99fef4133204593"/>
  </p:notesMasterIdLst>
  <p:sldIdLst>
    <p:sldId xmlns:r="http://schemas.openxmlformats.org/officeDocument/2006/relationships" id="256" r:id="R4e5c69780c0d41ca"/>
    <p:sldId xmlns:r="http://schemas.openxmlformats.org/officeDocument/2006/relationships" id="257" r:id="R2c47f2c66b04488e"/>
    <p:sldId xmlns:r="http://schemas.openxmlformats.org/officeDocument/2006/relationships" id="258" r:id="R3e59d3cb7aa0434f"/>
    <p:sldId xmlns:r="http://schemas.openxmlformats.org/officeDocument/2006/relationships" id="259" r:id="R08caf9776655433b"/>
    <p:sldId xmlns:r="http://schemas.openxmlformats.org/officeDocument/2006/relationships" id="260" r:id="Rcd75efe4864845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_rels/presentation.xml.rels>&#65279;<?xml version="1.0" encoding="utf-8"?><Relationships xmlns="http://schemas.openxmlformats.org/package/2006/relationships"><Relationship Type="http://schemas.openxmlformats.org/officeDocument/2006/relationships/theme" Target="/ppt/theme/theme1.xml" Id="R59ab6e7360a846d1" /><Relationship Type="http://schemas.openxmlformats.org/officeDocument/2006/relationships/slideMaster" Target="/ppt/slideMasters/slideMaster1.xml" Id="R369aa9a417b24a44" /><Relationship Type="http://schemas.openxmlformats.org/officeDocument/2006/relationships/notesMaster" Target="/ppt/notesMasters/notesMaster1.xml" Id="Ra99fef4133204593" /><Relationship Type="http://schemas.openxmlformats.org/officeDocument/2006/relationships/presProps" Target="/ppt/presProps.xml" Id="R95e694685e094f58" /><Relationship Type="http://schemas.openxmlformats.org/officeDocument/2006/relationships/tableStyles" Target="/ppt/tableStyles.xml" Id="Rc40c990416264e78" /><Relationship Type="http://schemas.openxmlformats.org/officeDocument/2006/relationships/slide" Target="/ppt/slides/slide1.xml" Id="R4e5c69780c0d41ca" /><Relationship Type="http://schemas.openxmlformats.org/officeDocument/2006/relationships/slide" Target="/ppt/slides/slide2.xml" Id="R2c47f2c66b04488e" /><Relationship Type="http://schemas.openxmlformats.org/officeDocument/2006/relationships/slide" Target="/ppt/slides/slide3.xml" Id="R3e59d3cb7aa0434f" /><Relationship Type="http://schemas.openxmlformats.org/officeDocument/2006/relationships/slide" Target="/ppt/slides/slide4.xml" Id="R08caf9776655433b" /><Relationship Type="http://schemas.openxmlformats.org/officeDocument/2006/relationships/slide" Target="/ppt/slides/slide5.xml" Id="Rcd75efe4864845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3f4bd2bf8642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7b76bdf3e5416d" /><Relationship Type="http://schemas.openxmlformats.org/officeDocument/2006/relationships/notesMaster" Target="/ppt/notesMasters/notesMaster1.xml" Id="Rc1e0e15080aa4a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d29e7cbbeb47bc" /><Relationship Type="http://schemas.openxmlformats.org/officeDocument/2006/relationships/notesMaster" Target="/ppt/notesMasters/notesMaster1.xml" Id="R29cc6e276cef4b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a61972309d4e46" /><Relationship Type="http://schemas.openxmlformats.org/officeDocument/2006/relationships/notesMaster" Target="/ppt/notesMasters/notesMaster1.xml" Id="Re258f1ad52a448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17a9cf1d184f25" /><Relationship Type="http://schemas.openxmlformats.org/officeDocument/2006/relationships/notesMaster" Target="/ppt/notesMasters/notesMaster1.xml" Id="Rcdbfd7467c1145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3ba5a1ab094bfd" /><Relationship Type="http://schemas.openxmlformats.org/officeDocument/2006/relationships/notesMaster" Target="/ppt/notesMasters/notesMaster1.xml" Id="R253eda9558a445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Recommendation: tailor proposed services to inventory mix, then screen individual utilities before selecting pilots. The five states illustrate contrasting needs and are not a comprehensive shortlist or statistical clusters. Each has both Unknown and known replacement inventory. Xylem capability context: its 2022 Asset Performance Optimization brochure, pp 4–5, describes detection, inventory development, funding support and replacement planning. Confirm current service scope before a pilot. https://www.xylem.com/siteassets/brand/decision-intelligence/resources/brochures/dis_brochure_apo_full_09082022_en_us.pdf</a:t>
            </a:r>
          </a:p>
          <a:p xmlns:a="http://schemas.openxmlformats.org/drawingml/2006/main">
            <a:pPr>
              <a:buNone/>
            </a:pPr>
            <a:r>
              <a:t>Smart asset management: https://www.xylem.com/en-us/applications/smart-asset-management/</a:t>
            </a:r>
          </a:p>
          <a:p xmlns:a="http://schemas.openxmlformats.org/drawingml/2006/main">
            <a:pPr>
              <a:buNone/>
            </a:pPr>
            <a:r>
              <a:t>Both Xylem sources reviewed October 11, 2026. No historical cost, regulatory deadline or claimed performance is used.</a:t>
            </a:r>
          </a:p>
          <a:p xmlns:a="http://schemas.openxmlformats.org/drawingml/2006/main">
            <a:pPr>
              <a:buNone/>
            </a:pPr>
            <a:r>
              <a:t/>
            </a:r>
          </a:p>
          <a:p xmlns:a="http://schemas.openxmlformats.org/drawingml/2006/main">
            <a:pPr>
              <a:buNone/>
            </a:pPr>
            <a:r>
              <a:t>Analytical source: results/facts.json and state_service_line_summary.csv, generated by the remastered notebook. Sample: 43,993 complete-report Community Water Systems across 50 states and DC. Unknown does not mean lead. Known Replacement Inventory = Lead + GRR. The analysis does not measure exposure, water quality, costs or project readiness.</a:t>
            </a:r>
          </a:p>
          <a:p xmlns:a="http://schemas.openxmlformats.org/drawingml/2006/main">
            <a:pPr>
              <a:buNone/>
            </a:pPr>
            <a:r>
              <a:t>EPA source: https://sdwis.epa.gov/ords/sfdw_pub/r/sfdw/sdwis_fed_reports_public/service-line-inventory</a:t>
            </a:r>
          </a:p>
          <a:p xmlns:a="http://schemas.openxmlformats.org/drawingml/2006/main">
            <a:pPr>
              <a:buNone/>
            </a:pPr>
            <a:r>
              <a:t>Population context: https://www.census.gov/data/datasets/time-series/demo/popest/2020s-national-detail.html</a:t>
            </a:r>
          </a:p>
          <a:p xmlns:a="http://schemas.openxmlformats.org/drawingml/2006/main">
            <a:pPr>
              <a:buNone/>
            </a:pPr>
            <a:r>
              <a:t>Portfolio remaster, Darsh Rathi, October 11,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Exact counts: Unknown 21589524; Lead 2179217; GRR 936091; Known Replacement 3115308. Ratio 6.930141096803269. The chart uses millions of lines, with values rounded for display. Counts do not measure relative effort or cost. Unknown does not mean lead.</a:t>
            </a:r>
          </a:p>
          <a:p xmlns:a="http://schemas.openxmlformats.org/drawingml/2006/main">
            <a:pPr>
              <a:buNone/>
            </a:pPr>
            <a:r>
              <a:t/>
            </a:r>
          </a:p>
          <a:p xmlns:a="http://schemas.openxmlformats.org/drawingml/2006/main">
            <a:pPr>
              <a:buNone/>
            </a:pPr>
            <a:r>
              <a:t>Analytical source: results/facts.json and state_service_line_summary.csv, generated by the remastered notebook. Sample: 43,993 complete-report Community Water Systems across 50 states and DC. Unknown does not mean lead. Known Replacement Inventory = Lead + GRR. The analysis does not measure exposure, water quality, costs or project readiness.</a:t>
            </a:r>
          </a:p>
          <a:p xmlns:a="http://schemas.openxmlformats.org/drawingml/2006/main">
            <a:pPr>
              <a:buNone/>
            </a:pPr>
            <a:r>
              <a:t>EPA source: https://sdwis.epa.gov/ords/sfdw_pub/r/sfdw/sdwis_fed_reports_public/service-line-inventory</a:t>
            </a:r>
          </a:p>
          <a:p xmlns:a="http://schemas.openxmlformats.org/drawingml/2006/main">
            <a:pPr>
              <a:buNone/>
            </a:pPr>
            <a:r>
              <a:t>Population context: https://www.census.gov/data/datasets/time-series/demo/popest/2020s-national-detail.html</a:t>
            </a:r>
          </a:p>
          <a:p xmlns:a="http://schemas.openxmlformats.org/drawingml/2006/main">
            <a:pPr>
              <a:buNone/>
            </a:pPr>
            <a:r>
              <a:t>Portfolio remaster, Darsh Rathi, October 11,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five markets were chosen as narrative examples from the original analysis. Texas and Pennsylvania lead Unknown inventory; Illinois leads known replacement inventory; Ohio and New York rank highly on both. Florida has the third-largest Unknown inventory and remains relevant to broader market investigation. No exclusivity is implied. Exact state figures and both population-adjusted metrics are in illustrative_markets.csv. Complete-report coverage counts systems in this file, not service lines.</a:t>
            </a:r>
          </a:p>
          <a:p xmlns:a="http://schemas.openxmlformats.org/drawingml/2006/main">
            <a:pPr>
              <a:buNone/>
            </a:pPr>
            <a:r>
              <a:t/>
            </a:r>
          </a:p>
          <a:p xmlns:a="http://schemas.openxmlformats.org/drawingml/2006/main">
            <a:pPr>
              <a:buNone/>
            </a:pPr>
            <a:r>
              <a:t>Analytical source: results/facts.json and state_service_line_summary.csv, generated by the remastered notebook. Sample: 43,993 complete-report Community Water Systems across 50 states and DC. Unknown does not mean lead. Known Replacement Inventory = Lead + GRR. The analysis does not measure exposure, water quality, costs or project readiness.</a:t>
            </a:r>
          </a:p>
          <a:p xmlns:a="http://schemas.openxmlformats.org/drawingml/2006/main">
            <a:pPr>
              <a:buNone/>
            </a:pPr>
            <a:r>
              <a:t>EPA source: https://sdwis.epa.gov/ords/sfdw_pub/r/sfdw/sdwis_fed_reports_public/service-line-inventory</a:t>
            </a:r>
          </a:p>
          <a:p xmlns:a="http://schemas.openxmlformats.org/drawingml/2006/main">
            <a:pPr>
              <a:buNone/>
            </a:pPr>
            <a:r>
              <a:t>Population context: https://www.census.gov/data/datasets/time-series/demo/popest/2020s-national-detail.html</a:t>
            </a:r>
          </a:p>
          <a:p xmlns:a="http://schemas.openxmlformats.org/drawingml/2006/main">
            <a:pPr>
              <a:buNone/>
            </a:pPr>
            <a:r>
              <a:t>Portfolio remaster, Darsh Rathi, October 11,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Raw counts show absolute reported workload. Population adjustment shows inventory relative to resident population. Illinois remains highest on known replacement per 10,000 residents; Pennsylvania is highest on Unknown per 10,000. Rates do not estimate affected residents, exposure or customers. Reporting coverage: New Hampshire 3/706 (0.4%); Kansas 64/854 (7.5%). Neither normalization nor high system coverage establishes service-line representativeness. The full coverage table is in reporting_coverage.csv.</a:t>
            </a:r>
          </a:p>
          <a:p xmlns:a="http://schemas.openxmlformats.org/drawingml/2006/main">
            <a:pPr>
              <a:buNone/>
            </a:pPr>
            <a:r>
              <a:t/>
            </a:r>
          </a:p>
          <a:p xmlns:a="http://schemas.openxmlformats.org/drawingml/2006/main">
            <a:pPr>
              <a:buNone/>
            </a:pPr>
            <a:r>
              <a:t>Analytical source: results/facts.json and state_service_line_summary.csv, generated by the remastered notebook. Sample: 43,993 complete-report Community Water Systems across 50 states and DC. Unknown does not mean lead. Known Replacement Inventory = Lead + GRR. The analysis does not measure exposure, water quality, costs or project readiness.</a:t>
            </a:r>
          </a:p>
          <a:p xmlns:a="http://schemas.openxmlformats.org/drawingml/2006/main">
            <a:pPr>
              <a:buNone/>
            </a:pPr>
            <a:r>
              <a:t>EPA source: https://sdwis.epa.gov/ords/sfdw_pub/r/sfdw/sdwis_fed_reports_public/service-line-inventory</a:t>
            </a:r>
          </a:p>
          <a:p xmlns:a="http://schemas.openxmlformats.org/drawingml/2006/main">
            <a:pPr>
              <a:buNone/>
            </a:pPr>
            <a:r>
              <a:t>Population context: https://www.census.gov/data/datasets/time-series/demo/popest/2020s-national-detail.html</a:t>
            </a:r>
          </a:p>
          <a:p xmlns:a="http://schemas.openxmlformats.org/drawingml/2006/main">
            <a:pPr>
              <a:buNone/>
            </a:pPr>
            <a:r>
              <a:t>Portfolio remaster, Darsh Rathi, October 11,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This is a proposed assessment process, not a completed pilot or investment decision. Proposed identification measures: newly classified lines / starting Unknown lines in scope; cost per newly verified line. Proposed planning measure: share of in-scope known replacement lines with verified locations and an agreed project scope, funding path and delivery schedule. Track elapsed time and unresolved data gaps. Establish targets with the utility rather than inferring them from state counts. Xylem capabilities are documented in a 2022 brochure: https://www.xylem.com/siteassets/brand/decision-intelligence/resources/brochures/dis_brochure_apo_full_09082022_en_us.pdf and its smart asset-management page: https://www.xylem.com/en-us/applications/smart-asset-management/. Reviewed October 11, 2026. Do not infer current contract scope, cost savings, regulatory deadlines or expected performance from the historical brochure.</a:t>
            </a:r>
          </a:p>
          <a:p xmlns:a="http://schemas.openxmlformats.org/drawingml/2006/main">
            <a:pPr>
              <a:buNone/>
            </a:pPr>
            <a:r>
              <a:t/>
            </a:r>
          </a:p>
          <a:p xmlns:a="http://schemas.openxmlformats.org/drawingml/2006/main">
            <a:pPr>
              <a:buNone/>
            </a:pPr>
            <a:r>
              <a:t>Analytical source: results/facts.json and state_service_line_summary.csv, generated by the remastered notebook. Sample: 43,993 complete-report Community Water Systems across 50 states and DC. Unknown does not mean lead. Known Replacement Inventory = Lead + GRR. The analysis does not measure exposure, water quality, costs or project readiness.</a:t>
            </a:r>
          </a:p>
          <a:p xmlns:a="http://schemas.openxmlformats.org/drawingml/2006/main">
            <a:pPr>
              <a:buNone/>
            </a:pPr>
            <a:r>
              <a:t>EPA source: https://sdwis.epa.gov/ords/sfdw_pub/r/sfdw/sdwis_fed_reports_public/service-line-inventory</a:t>
            </a:r>
          </a:p>
          <a:p xmlns:a="http://schemas.openxmlformats.org/drawingml/2006/main">
            <a:pPr>
              <a:buNone/>
            </a:pPr>
            <a:r>
              <a:t>Population context: https://www.census.gov/data/datasets/time-series/demo/popest/2020s-national-detail.html</a:t>
            </a:r>
          </a:p>
          <a:p xmlns:a="http://schemas.openxmlformats.org/drawingml/2006/main">
            <a:pPr>
              <a:buNone/>
            </a:pPr>
            <a:r>
              <a:t>Portfolio remaster, Darsh Rathi, October 11,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64fd3c27c34d4c" /></Relationships>
</file>

<file path=ppt/slideLayouts/slideLayout1.xml><?xml version="1.0" encoding="utf-8"?>
<p:sldLayout xmlns:p="http://schemas.openxmlformats.org/presentationml/2006/main" showMasterSp="1" showMasterPhAnim="1">
  <p:cSld name="Title Slide">
    <p:spTree>
      <p:nvGrpSpPr>
        <p:cNvPr id="1" name=""/>
        <p:cNvGrpSpPr/>
        <p:nvPr/>
      </p:nvGrpSpPr>
      <p:grpSpPr>
        <a:xfrm xmlns:a="http://schemas.openxmlformats.org/drawingml/2006/main"/>
      </p:grpSpPr>
      <p:sp>
        <p:nvSpPr>
          <p:cNvPr id="11" name="Slide Number">
            <a:extLst xmlns:a="http://schemas.openxmlformats.org/drawingml/2006/main">
              <a:ext uri="{FF2B5EF4-FFF2-40B4-BE49-F238E27FC236}">
                <a16:creationId xmlns:a16="http://schemas.microsoft.com/office/drawing/2014/main" id="{34343D86-361F-40E4-A1C2-E735BF965D2A}"/>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5796b648724d35" /><Relationship Type="http://schemas.openxmlformats.org/officeDocument/2006/relationships/slideLayout" Target="/ppt/slideLayouts/slideLayout1.xml" Id="R7ee098d20b2348d1"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Text">
            <a:extLst xmlns:a="http://schemas.openxmlformats.org/drawingml/2006/main">
              <a:ext uri="{FF2B5EF4-FFF2-40B4-BE49-F238E27FC236}">
                <a16:creationId xmlns:a16="http://schemas.microsoft.com/office/drawing/2014/main" id="{665FDC7B-2CAE-4854-B424-CA24450CE05F}"/>
              </a:ext>
            </a:extLst>
          </p:cNvPr>
          <p:cNvSpPr>
            <a:spLocks xmlns:a="http://schemas.openxmlformats.org/drawingml/2006/main" noGrp="1"/>
          </p:cNvSpPr>
          <p:nvPr>
            <p:ph type="title" idx="0"/>
          </p:nvPr>
        </p:nvSpPr>
        <p:spPr>
          <a:xfrm xmlns:a="http://schemas.openxmlformats.org/drawingml/2006/main">
            <a:off x="914400" y="1844675"/>
            <a:ext cx="10363200" cy="2041525"/>
          </a:xfrm>
          <a:prstGeom xmlns:a="http://schemas.openxmlformats.org/drawingml/2006/main" prst="rect">
            <a:avLst/>
          </a:prstGeom>
          <a:ln xmlns:a="http://schemas.openxmlformats.org/drawingml/2006/main" w="12700"/>
        </p:spPr>
        <p:txBody>
          <a:bodyPr xmlns:a="http://schemas.openxmlformats.org/drawingml/2006/main" lIns="45719" rIns="45719" anchor="ctr"/>
          <a:lstStyle xmlns:a="http://schemas.openxmlformats.org/drawingml/2006/main"/>
          <a:p xmlns:a="http://schemas.openxmlformats.org/drawingml/2006/main">
            <a:pPr>
              <a:buNone/>
            </a:pPr>
            <a:r>
              <a:t>Title Text</a:t>
            </a:r>
          </a:p>
        </p:txBody>
      </p:sp>
      <p:sp>
        <p:nvSpPr>
          <p:cNvPr id="3" name="Body Level One…">
            <a:extLst xmlns:a="http://schemas.openxmlformats.org/drawingml/2006/main">
              <a:ext uri="{FF2B5EF4-FFF2-40B4-BE49-F238E27FC236}">
                <a16:creationId xmlns:a16="http://schemas.microsoft.com/office/drawing/2014/main" id="{50655FC5-644D-4938-8813-3B157FA51D07}"/>
              </a:ext>
            </a:extLst>
          </p:cNvPr>
          <p:cNvSpPr>
            <a:spLocks xmlns:a="http://schemas.openxmlformats.org/drawingml/2006/main" noGrp="1"/>
          </p:cNvSpPr>
          <p:nvPr>
            <p:ph type="body" idx="1"/>
          </p:nvPr>
        </p:nvSpPr>
        <p:spPr>
          <a:xfrm xmlns:a="http://schemas.openxmlformats.org/drawingml/2006/main">
            <a:off x="1828800" y="3886200"/>
            <a:ext cx="8534400" cy="2971800"/>
          </a:xfrm>
          <a:prstGeom xmlns:a="http://schemas.openxmlformats.org/drawingml/2006/main" prst="rect">
            <a:avLst/>
          </a:prstGeom>
          <a:ln xmlns:a="http://schemas.openxmlformats.org/drawingml/2006/main" w="12700"/>
        </p:spPr>
        <p:txBody>
          <a:bodyPr xmlns:a="http://schemas.openxmlformats.org/drawingml/2006/main" lIns="45719" rIns="45719"/>
          <a:lstStyle xmlns:a="http://schemas.openxmlformats.org/drawingml/2006/main"/>
          <a:p xmlns:a="http://schemas.openxmlformats.org/drawingml/2006/main">
            <a:pPr>
              <a:buNone/>
            </a:pPr>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4" name="Slide Number">
            <a:extLst xmlns:a="http://schemas.openxmlformats.org/drawingml/2006/main">
              <a:ext uri="{FF2B5EF4-FFF2-40B4-BE49-F238E27FC236}">
                <a16:creationId xmlns:a16="http://schemas.microsoft.com/office/drawing/2014/main" id="{E6D61B60-B108-4EE0-8759-97C0E785DE88}"/>
              </a:ext>
            </a:extLst>
          </p:cNvPr>
          <p:cNvSpPr>
            <a:spLocks xmlns:a="http://schemas.openxmlformats.org/drawingml/2006/main" noGrp="1"/>
          </p:cNvSpPr>
          <p:nvPr>
            <p:ph type="sldNum" idx="2"/>
          </p:nvPr>
        </p:nvSpPr>
        <p:spPr>
          <a:xfrm xmlns:a="http://schemas.openxmlformats.org/drawingml/2006/main">
            <a:off x="5892800" y="6172200"/>
            <a:ext cx="2844800" cy="368301"/>
          </a:xfrm>
          <a:prstGeom xmlns:a="http://schemas.openxmlformats.org/drawingml/2006/main" prst="rect">
            <a:avLst/>
          </a:prstGeom>
          <a:ln xmlns:a="http://schemas.openxmlformats.org/drawingml/2006/main" w="12700"/>
        </p:spPr>
        <p:txBody>
          <a:bodyPr xmlns:a="http://schemas.openxmlformats.org/drawingml/2006/main" wrap="none" lIns="45719" rIns="45719" anchor="ctr">
            <a:spAutoFit/>
          </a:bodyPr>
          <a:lstStyle xmlns:a="http://schemas.openxmlformats.org/drawingml/2006/main">
            <a:lvl1pPr algn="r">
              <a:buNone/>
              <a:defRPr sz="1200">
                <a:latin typeface="+mj-lt"/>
                <a:ea typeface="+mj-lt"/>
                <a:cs typeface="+mj-lt"/>
              </a:defRPr>
            </a:lvl1pPr>
          </a:lstStyle>
          <a:p xmlns:a="http://schemas.openxmlformats.org/drawingml/2006/main">
            <a:pPr>
              <a:buNone/>
            </a:p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e098d20b2348d1"/>
  </p:sldLayoutIdLst>
  <p:txStyles>
    <p:titleStyle>
      <a:lvl1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1pPr>
      <a:lvl2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2pPr>
      <a:lvl3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3pPr>
      <a:lvl4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4pPr>
      <a:lvl5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5pPr>
      <a:lvl6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6pPr>
      <a:lvl7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7pPr>
      <a:lvl8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8pPr>
      <a:lvl9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000000"/>
          </a:solidFill>
          <a:latin typeface="Calibri Light"/>
          <a:ea typeface="Calibri Light"/>
          <a:cs typeface="Calibri Light"/>
        </a:defRPr>
      </a:lvl9pPr>
    </p:titleStyle>
    <p:bodyStyle>
      <a:lvl1pPr xmlns:a="http://schemas.openxmlformats.org/drawingml/2006/main" marL="228600" marR="0" indent="-228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1pPr>
      <a:lvl2pPr xmlns:a="http://schemas.openxmlformats.org/drawingml/2006/main" marL="723900" marR="0" indent="-2667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2pPr>
      <a:lvl3pPr xmlns:a="http://schemas.openxmlformats.org/drawingml/2006/main" marL="1234439" marR="0" indent="-320039"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3pPr>
      <a:lvl4pPr xmlns:a="http://schemas.openxmlformats.org/drawingml/2006/main" marL="17272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4pPr>
      <a:lvl5pPr xmlns:a="http://schemas.openxmlformats.org/drawingml/2006/main" marL="21844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5pPr>
      <a:lvl6pPr xmlns:a="http://schemas.openxmlformats.org/drawingml/2006/main" marL="26416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6pPr>
      <a:lvl7pPr xmlns:a="http://schemas.openxmlformats.org/drawingml/2006/main" marL="30988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7pPr>
      <a:lvl8pPr xmlns:a="http://schemas.openxmlformats.org/drawingml/2006/main" marL="35560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8pPr>
      <a:lvl9pPr xmlns:a="http://schemas.openxmlformats.org/drawingml/2006/main" marL="4013200" marR="0" indent="-355600" algn="l" defTabSz="914400">
        <a:lnSpc>
          <a:spcPct val="90000"/>
        </a:lnSpc>
        <a:spcBef>
          <a:spcPts val="1000"/>
        </a:spcBef>
        <a:spcAft>
          <a:spcPts val="0"/>
        </a:spcAft>
        <a:buClrTx/>
        <a:buSzPct val="100000"/>
        <a:buFontTx/>
        <a:buChar char="•"/>
        <a:defRPr sz="2800" b="0" i="0" u="none" cap="none" spc="0" baseline="0">
          <a:solidFill>
            <a:srgbClr val="000000"/>
          </a:solidFill>
          <a:latin typeface="Calibri"/>
          <a:ea typeface="Calibri"/>
          <a:cs typeface="Calibri"/>
        </a:defRPr>
      </a:lvl9pPr>
    </p:bodyStyle>
    <p:otherStyle>
      <a:lvl1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1pPr>
      <a:lvl2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2pPr>
      <a:lvl3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3pPr>
      <a:lvl4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4pPr>
      <a:lvl5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5pPr>
      <a:lvl6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6pPr>
      <a:lvl7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7pPr>
      <a:lvl8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8pPr>
      <a:lvl9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8730b57efb4a89" /><Relationship Type="http://schemas.openxmlformats.org/officeDocument/2006/relationships/notesSlide" Target="/ppt/notesSlides/notesSlide1.xml" Id="R8596c96191ee48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ccd2da64c34163" /><Relationship Type="http://schemas.openxmlformats.org/officeDocument/2006/relationships/chart" Target="/ppt/slides/charts/chart1.xml" Id="R0f258af2f5d241b2" /><Relationship Type="http://schemas.openxmlformats.org/officeDocument/2006/relationships/notesSlide" Target="/ppt/notesSlides/notesSlide2.xml" Id="Rc07b2f50e33a46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53a1754a26c46f0" /><Relationship Type="http://schemas.openxmlformats.org/officeDocument/2006/relationships/chart" Target="/ppt/slides/charts/chart2.xml" Id="Rdd0b403cd6bd49af" /><Relationship Type="http://schemas.openxmlformats.org/officeDocument/2006/relationships/notesSlide" Target="/ppt/notesSlides/notesSlide3.xml" Id="Rb9f95c7cc97a44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ff3765ffd445fc" /><Relationship Type="http://schemas.openxmlformats.org/officeDocument/2006/relationships/chart" Target="/ppt/slides/charts/chart3.xml" Id="R61986c3a97a1498c" /><Relationship Type="http://schemas.openxmlformats.org/officeDocument/2006/relationships/chart" Target="/ppt/slides/charts/chart4.xml" Id="Rdb366f5451ca4c6a" /><Relationship Type="http://schemas.openxmlformats.org/officeDocument/2006/relationships/notesSlide" Target="/ppt/notesSlides/notesSlide4.xml" Id="Rd421c05b5b5d4f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37607206894ba6" /><Relationship Type="http://schemas.openxmlformats.org/officeDocument/2006/relationships/notesSlide" Target="/ppt/notesSlides/notesSlide5.xml" Id="Rd4b8ad84a5e84d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lines</c:v>
          </c:tx>
          <c:spPr>
            <a:solidFill xmlns:a="http://schemas.openxmlformats.org/drawingml/2006/main">
              <a:srgbClr val="F07C2B"/>
            </a:solidFill>
          </c:spPr>
          <c:dPt>
            <c:idx val="0"/>
            <c:invertIfNegative val="0"/>
            <c:spPr>
              <a:solidFill xmlns:a="http://schemas.openxmlformats.org/drawingml/2006/main">
                <a:srgbClr val="3F73C7"/>
              </a:solidFill>
            </c:spPr>
          </c:dPt>
          <c:dPt>
            <c:idx val="1"/>
            <c:invertIfNegative val="0"/>
            <c:spPr>
              <a:solidFill xmlns:a="http://schemas.openxmlformats.org/drawingml/2006/main">
                <a:srgbClr val="F07C2B"/>
              </a:solidFill>
            </c:spPr>
          </c:dPt>
          <c:cat>
            <c:strRef>
              <c:f>'Chart Data'!$A$2:$A$3</c:f>
              <c:strCache>
                <c:ptCount val="2"/>
                <c:pt idx="0">
                  <c:v>Lead + GRR</c:v>
                </c:pt>
                <c:pt idx="1">
                  <c:v>Unknown</c:v>
                </c:pt>
              </c:strCache>
            </c:strRef>
          </c:cat>
          <c:val>
            <c:numRef>
              <c:f>'Chart Data'!$B$2:$B$3</c:f>
              <c:numCache>
                <c:formatCode>0.00"M"</c:formatCode>
                <c:ptCount val="2"/>
                <c:pt idx="0">
                  <c:v>3.115308</c:v>
                </c:pt>
                <c:pt idx="1">
                  <c:v>21.589524</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1E4"/>
            </a:solidFill>
          </a:ln>
        </c:spPr>
        <c:txPr>
          <a:bodyPr xmlns:a="http://schemas.openxmlformats.org/drawingml/2006/main" anchorCtr="1"/>
          <a:lstStyle xmlns:a="http://schemas.openxmlformats.org/drawingml/2006/main"/>
          <a:p xmlns:a="http://schemas.openxmlformats.org/drawingml/2006/main">
            <a:pPr>
              <a:defRPr sz="1200">
                <a:solidFill>
                  <a:srgbClr val="52636E"/>
                </a:solidFill>
                <a:latin typeface="Arial"/>
                <a:ea typeface="Arial"/>
                <a:cs typeface="Arial"/>
              </a:defRPr>
            </a:pPr>
          </a:p>
        </c:txPr>
        <c:crossAx val="48672768"/>
      </c:catAx>
      <c:valAx>
        <c:axId val="48672768"/>
        <c:scaling>
          <c:orientation val="minMax"/>
          <c:max val="25"/>
          <c:min val="0"/>
        </c:scaling>
        <c:delete val="0"/>
        <c:axPos val="b"/>
        <c:majorGridlines>
          <c:spPr>
            <a:ln xmlns:a="http://schemas.openxmlformats.org/drawingml/2006/main" w="9525">
              <a:solidFill>
                <a:srgbClr val="DCE1E4"/>
              </a:solidFill>
            </a:ln>
          </c:spPr>
        </c:majorGridlines>
        <c:numFmt formatCode="0"/>
        <c:majorTickMark val="none"/>
        <c:minorTickMark val="none"/>
        <c:spPr>
          <a:ln xmlns:a="http://schemas.openxmlformats.org/drawingml/2006/main" w="9525">
            <a:solidFill>
              <a:srgbClr val="DCE1E4"/>
            </a:solidFill>
          </a:ln>
        </c:spPr>
        <c:txPr>
          <a:bodyPr xmlns:a="http://schemas.openxmlformats.org/drawingml/2006/main" anchorCtr="1"/>
          <a:lstStyle xmlns:a="http://schemas.openxmlformats.org/drawingml/2006/main"/>
          <a:p xmlns:a="http://schemas.openxmlformats.org/drawingml/2006/main">
            <a:pPr>
              <a:defRPr sz="1200">
                <a:solidFill>
                  <a:srgbClr val="52636E"/>
                </a:solidFill>
                <a:latin typeface="Arial"/>
                <a:ea typeface="Arial"/>
                <a:cs typeface="Arial"/>
              </a:defRPr>
            </a:pPr>
          </a:p>
        </c:txPr>
        <c:crossAx val="48650112"/>
        <c:crossBetween val="between"/>
        <c:majorUnit val="5"/>
      </c:valAx>
      <c:spPr>
        <a:solidFill xmlns:a="http://schemas.openxmlformats.org/drawingml/2006/main">
          <a:srgbClr val="F7F4EE"/>
        </a:solidFill>
      </c:spPr>
    </c:plotArea>
    <c:plotVisOnly val="1"/>
  </c:chart>
  <c:spPr>
    <a:solidFill xmlns:a="http://schemas.openxmlformats.org/drawingml/2006/main">
      <a:srgbClr val="F7F4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Known Replacement</c:v>
          </c:tx>
          <c:spPr>
            <a:solidFill xmlns:a="http://schemas.openxmlformats.org/drawingml/2006/main">
              <a:srgbClr val="3F73C7"/>
            </a:solidFill>
          </c:spPr>
          <c:cat>
            <c:strRef>
              <c:f>'Chart Data'!$A$2:$A$6</c:f>
              <c:strCache>
                <c:ptCount val="5"/>
                <c:pt idx="0">
                  <c:v>New York</c:v>
                </c:pt>
                <c:pt idx="1">
                  <c:v>Ohio</c:v>
                </c:pt>
                <c:pt idx="2">
                  <c:v>Illinois</c:v>
                </c:pt>
                <c:pt idx="3">
                  <c:v>Pennsylvania</c:v>
                </c:pt>
                <c:pt idx="4">
                  <c:v>Texas</c:v>
                </c:pt>
              </c:strCache>
            </c:strRef>
          </c:cat>
          <c:val>
            <c:numRef>
              <c:f>'Chart Data'!$B$2:$B$6</c:f>
              <c:numCache>
                <c:formatCode>0.00</c:formatCode>
                <c:ptCount val="5"/>
                <c:pt idx="0">
                  <c:v>0.289055</c:v>
                </c:pt>
                <c:pt idx="1">
                  <c:v>0.321502</c:v>
                </c:pt>
                <c:pt idx="2">
                  <c:v>0.67221</c:v>
                </c:pt>
                <c:pt idx="3">
                  <c:v>0.113717</c:v>
                </c:pt>
                <c:pt idx="4">
                  <c:v>0.114501</c:v>
                </c:pt>
              </c:numCache>
            </c:numRef>
          </c:val>
        </c:ser>
        <c:ser>
          <c:idx val="1"/>
          <c:order val="1"/>
          <c:tx>
            <c:v>Unknown</c:v>
          </c:tx>
          <c:spPr>
            <a:solidFill xmlns:a="http://schemas.openxmlformats.org/drawingml/2006/main">
              <a:srgbClr val="F07C2B"/>
            </a:solidFill>
          </c:spPr>
          <c:cat>
            <c:strRef>
              <c:f>'Chart Data'!$C$2:$C$6</c:f>
              <c:strCache>
                <c:ptCount val="5"/>
                <c:pt idx="0">
                  <c:v>New York</c:v>
                </c:pt>
                <c:pt idx="1">
                  <c:v>Ohio</c:v>
                </c:pt>
                <c:pt idx="2">
                  <c:v>Illinois</c:v>
                </c:pt>
                <c:pt idx="3">
                  <c:v>Pennsylvania</c:v>
                </c:pt>
                <c:pt idx="4">
                  <c:v>Texas</c:v>
                </c:pt>
              </c:strCache>
            </c:strRef>
          </c:cat>
          <c:val>
            <c:numRef>
              <c:f>'Chart Data'!$D$2:$D$6</c:f>
              <c:numCache>
                <c:formatCode>0.00</c:formatCode>
                <c:ptCount val="5"/>
                <c:pt idx="0">
                  <c:v>0.951163</c:v>
                </c:pt>
                <c:pt idx="1">
                  <c:v>0.878788</c:v>
                </c:pt>
                <c:pt idx="2">
                  <c:v>0.529706</c:v>
                </c:pt>
                <c:pt idx="3">
                  <c:v>2.055512</c:v>
                </c:pt>
                <c:pt idx="4">
                  <c:v>2.178881</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1E4"/>
            </a:solidFill>
          </a:ln>
        </c:spPr>
        <c:txPr>
          <a:bodyPr xmlns:a="http://schemas.openxmlformats.org/drawingml/2006/main" anchorCtr="1"/>
          <a:lstStyle xmlns:a="http://schemas.openxmlformats.org/drawingml/2006/main"/>
          <a:p xmlns:a="http://schemas.openxmlformats.org/drawingml/2006/main">
            <a:pPr>
              <a:defRPr sz="1425">
                <a:solidFill>
                  <a:srgbClr val="102A43"/>
                </a:solidFill>
                <a:latin typeface="Arial"/>
                <a:ea typeface="Arial"/>
                <a:cs typeface="Arial"/>
              </a:defRPr>
            </a:pPr>
          </a:p>
        </c:txPr>
        <c:crossAx val="48672768"/>
      </c:catAx>
      <c:valAx>
        <c:axId val="48672768"/>
        <c:scaling>
          <c:orientation val="minMax"/>
          <c:max val="2.5"/>
          <c:min val="0"/>
        </c:scaling>
        <c:delete val="0"/>
        <c:axPos val="b"/>
        <c:majorGridlines>
          <c:spPr>
            <a:ln xmlns:a="http://schemas.openxmlformats.org/drawingml/2006/main" w="9525">
              <a:solidFill>
                <a:srgbClr val="DCE1E4"/>
              </a:solidFill>
            </a:ln>
          </c:spPr>
        </c:majorGridlines>
        <c:numFmt formatCode="0.0"/>
        <c:majorTickMark val="none"/>
        <c:minorTickMark val="none"/>
        <c:spPr>
          <a:ln xmlns:a="http://schemas.openxmlformats.org/drawingml/2006/main" w="9525">
            <a:solidFill>
              <a:srgbClr val="DCE1E4"/>
            </a:solidFill>
          </a:ln>
        </c:spPr>
        <c:txPr>
          <a:bodyPr xmlns:a="http://schemas.openxmlformats.org/drawingml/2006/main" anchorCtr="1"/>
          <a:lstStyle xmlns:a="http://schemas.openxmlformats.org/drawingml/2006/main"/>
          <a:p xmlns:a="http://schemas.openxmlformats.org/drawingml/2006/main">
            <a:pPr>
              <a:defRPr sz="1200">
                <a:solidFill>
                  <a:srgbClr val="52636E"/>
                </a:solidFill>
                <a:latin typeface="Arial"/>
                <a:ea typeface="Arial"/>
                <a:cs typeface="Arial"/>
              </a:defRPr>
            </a:pPr>
          </a:p>
        </c:txPr>
        <c:crossAx val="48650112"/>
        <c:crossBetween val="between"/>
        <c:majorUnit val="0.5"/>
      </c:valAx>
      <c:spPr>
        <a:solidFill xmlns:a="http://schemas.openxmlformats.org/drawingml/2006/main">
          <a:srgbClr val="F7F4EE"/>
        </a:solidFill>
      </c:spPr>
    </c:plotArea>
    <c:plotVisOnly val="1"/>
  </c:chart>
  <c:spPr>
    <a:solidFill xmlns:a="http://schemas.openxmlformats.org/drawingml/2006/main">
      <a:srgbClr val="F7F4EE"/>
    </a:solidFill>
  </c:spPr>
  <c:externalData r:id="rIdChartSnapshot1">
    <c:autoUpdate val="0"/>
  </c:externalData>
</c:chartSpace>
</file>

<file path=ppt/slides/charts/chart3.xml><?xml version="1.0" encoding="utf-8"?>
<c:chartSpace xmlns:a="http://schemas.openxmlformats.org/drawingml/2006/main" xmlns:c="http://schemas.openxmlformats.org/drawingml/2006/chart" xmlns:r="http://schemas.openxmlformats.org/officeDocument/2006/relationships">
  <c:lang val="en-US"/>
  <c:chart>
    <c:plotArea>
      <c:scatterChart>
        <c:scatterStyle val="marker"/>
        <c:ser>
          <c:idx val="0"/>
          <c:order val="0"/>
          <c:tx>
            <c:v>Other states and DC</c:v>
          </c:tx>
          <c:spPr>
            <a:solidFill>
              <a:srgbClr val="AAB8C2"/>
            </a:solidFill>
            <a:ln w="0">
              <a:noFill/>
            </a:ln>
          </c:spPr>
          <c:marker>
            <c:symbol val="circle"/>
            <c:size val="5"/>
            <c:spPr>
              <a:solidFill>
                <a:srgbClr val="AAB8C2"/>
              </a:solidFill>
              <a:ln w="0">
                <a:noFill/>
              </a:ln>
            </c:spPr>
          </c:marker>
          <c:xVal>
            <c:numRef>
              <c:f>'Chart Data'!$A$2:$A$50</c:f>
              <c:numCache>
                <c:formatCode>General</c:formatCode>
                <c:ptCount val="49"/>
                <c:pt idx="0">
                  <c:v>0.06923</c:v>
                </c:pt>
                <c:pt idx="1">
                  <c:v>1.6E-05</c:v>
                </c:pt>
                <c:pt idx="2">
                  <c:v>0.002812</c:v>
                </c:pt>
                <c:pt idx="3">
                  <c:v>0.011569</c:v>
                </c:pt>
                <c:pt idx="4">
                  <c:v>0.012839</c:v>
                </c:pt>
                <c:pt idx="5">
                  <c:v>0.021412</c:v>
                </c:pt>
                <c:pt idx="6">
                  <c:v>0.013171</c:v>
                </c:pt>
                <c:pt idx="7">
                  <c:v>0.006292</c:v>
                </c:pt>
                <c:pt idx="8">
                  <c:v>0.017155</c:v>
                </c:pt>
                <c:pt idx="9">
                  <c:v>0.044559</c:v>
                </c:pt>
                <c:pt idx="10">
                  <c:v>0.050342</c:v>
                </c:pt>
                <c:pt idx="11">
                  <c:v>0.00049</c:v>
                </c:pt>
                <c:pt idx="12">
                  <c:v>0.002769</c:v>
                </c:pt>
                <c:pt idx="13">
                  <c:v>0.190947</c:v>
                </c:pt>
                <c:pt idx="14">
                  <c:v>0.06795</c:v>
                </c:pt>
                <c:pt idx="15">
                  <c:v>0.026807</c:v>
                </c:pt>
                <c:pt idx="16">
                  <c:v>0.028036</c:v>
                </c:pt>
                <c:pt idx="17">
                  <c:v>0.020558</c:v>
                </c:pt>
                <c:pt idx="18">
                  <c:v>0.001599</c:v>
                </c:pt>
                <c:pt idx="19">
                  <c:v>0.003136</c:v>
                </c:pt>
                <c:pt idx="20">
                  <c:v>0.041737</c:v>
                </c:pt>
                <c:pt idx="21">
                  <c:v>0.255524</c:v>
                </c:pt>
                <c:pt idx="22">
                  <c:v>0.087183</c:v>
                </c:pt>
                <c:pt idx="23">
                  <c:v>0.02367</c:v>
                </c:pt>
                <c:pt idx="24">
                  <c:v>0.070968</c:v>
                </c:pt>
                <c:pt idx="25">
                  <c:v>0.00322</c:v>
                </c:pt>
                <c:pt idx="26">
                  <c:v>0.048712</c:v>
                </c:pt>
                <c:pt idx="27">
                  <c:v>0.001091</c:v>
                </c:pt>
                <c:pt idx="28">
                  <c:v>0.00026</c:v>
                </c:pt>
                <c:pt idx="29">
                  <c:v>0.13536</c:v>
                </c:pt>
                <c:pt idx="30">
                  <c:v>0.000331</c:v>
                </c:pt>
                <c:pt idx="31">
                  <c:v>0.289055</c:v>
                </c:pt>
                <c:pt idx="32">
                  <c:v>0.012934</c:v>
                </c:pt>
                <c:pt idx="33">
                  <c:v>0.005658</c:v>
                </c:pt>
                <c:pt idx="34">
                  <c:v>0.321502</c:v>
                </c:pt>
                <c:pt idx="35">
                  <c:v>0.014244</c:v>
                </c:pt>
                <c:pt idx="36">
                  <c:v>0</c:v>
                </c:pt>
                <c:pt idx="37">
                  <c:v>0.113717</c:v>
                </c:pt>
                <c:pt idx="38">
                  <c:v>0.031489</c:v>
                </c:pt>
                <c:pt idx="39">
                  <c:v>0.019245</c:v>
                </c:pt>
                <c:pt idx="40">
                  <c:v>0.002697</c:v>
                </c:pt>
                <c:pt idx="41">
                  <c:v>0.064134</c:v>
                </c:pt>
                <c:pt idx="42">
                  <c:v>0.000898</c:v>
                </c:pt>
                <c:pt idx="43">
                  <c:v>0.00191</c:v>
                </c:pt>
                <c:pt idx="44">
                  <c:v>0.013819</c:v>
                </c:pt>
                <c:pt idx="45">
                  <c:v>0.006922</c:v>
                </c:pt>
                <c:pt idx="46">
                  <c:v>0.008398</c:v>
                </c:pt>
                <c:pt idx="47">
                  <c:v>0.158815</c:v>
                </c:pt>
                <c:pt idx="48">
                  <c:v>0.003415</c:v>
                </c:pt>
              </c:numCache>
            </c:numRef>
          </c:xVal>
          <c:yVal>
            <c:numRef>
              <c:f>'Chart Data'!$B$2:$B$50</c:f>
              <c:numCache>
                <c:formatCode>0.0</c:formatCode>
                <c:ptCount val="49"/>
                <c:pt idx="0">
                  <c:v>0.192502</c:v>
                </c:pt>
                <c:pt idx="1">
                  <c:v>0.025945</c:v>
                </c:pt>
                <c:pt idx="2">
                  <c:v>0.704381</c:v>
                </c:pt>
                <c:pt idx="3">
                  <c:v>0.477926</c:v>
                </c:pt>
                <c:pt idx="4">
                  <c:v>0.599523</c:v>
                </c:pt>
                <c:pt idx="5">
                  <c:v>0.141284</c:v>
                </c:pt>
                <c:pt idx="6">
                  <c:v>0.281092</c:v>
                </c:pt>
                <c:pt idx="7">
                  <c:v>0.11336</c:v>
                </c:pt>
                <c:pt idx="8">
                  <c:v>0.013427</c:v>
                </c:pt>
                <c:pt idx="9">
                  <c:v>1.665928</c:v>
                </c:pt>
                <c:pt idx="10">
                  <c:v>0.630117</c:v>
                </c:pt>
                <c:pt idx="11">
                  <c:v>0.034235</c:v>
                </c:pt>
                <c:pt idx="12">
                  <c:v>0.096673</c:v>
                </c:pt>
                <c:pt idx="13">
                  <c:v>0.545507</c:v>
                </c:pt>
                <c:pt idx="14">
                  <c:v>0.180539</c:v>
                </c:pt>
                <c:pt idx="15">
                  <c:v>0.106076</c:v>
                </c:pt>
                <c:pt idx="16">
                  <c:v>0.424074</c:v>
                </c:pt>
                <c:pt idx="17">
                  <c:v>0.719101</c:v>
                </c:pt>
                <c:pt idx="18">
                  <c:v>0.041662</c:v>
                </c:pt>
                <c:pt idx="19">
                  <c:v>0.563397</c:v>
                </c:pt>
                <c:pt idx="20">
                  <c:v>0.349967</c:v>
                </c:pt>
                <c:pt idx="21">
                  <c:v>0.301508</c:v>
                </c:pt>
                <c:pt idx="22">
                  <c:v>0.209216</c:v>
                </c:pt>
                <c:pt idx="23">
                  <c:v>0.161821</c:v>
                </c:pt>
                <c:pt idx="24">
                  <c:v>0.895013</c:v>
                </c:pt>
                <c:pt idx="25">
                  <c:v>0.065847</c:v>
                </c:pt>
                <c:pt idx="26">
                  <c:v>0.088447</c:v>
                </c:pt>
                <c:pt idx="27">
                  <c:v>0.128987</c:v>
                </c:pt>
                <c:pt idx="28">
                  <c:v>0.003041</c:v>
                </c:pt>
                <c:pt idx="29">
                  <c:v>0.860857</c:v>
                </c:pt>
                <c:pt idx="30">
                  <c:v>0.32731</c:v>
                </c:pt>
                <c:pt idx="31">
                  <c:v>0.951163</c:v>
                </c:pt>
                <c:pt idx="32">
                  <c:v>0.798785</c:v>
                </c:pt>
                <c:pt idx="33">
                  <c:v>0.09795</c:v>
                </c:pt>
                <c:pt idx="34">
                  <c:v>0.878788</c:v>
                </c:pt>
                <c:pt idx="35">
                  <c:v>0.623329</c:v>
                </c:pt>
                <c:pt idx="36">
                  <c:v>0.027093</c:v>
                </c:pt>
                <c:pt idx="37">
                  <c:v>2.055512</c:v>
                </c:pt>
                <c:pt idx="38">
                  <c:v>0.055695</c:v>
                </c:pt>
                <c:pt idx="39">
                  <c:v>0.348969</c:v>
                </c:pt>
                <c:pt idx="40">
                  <c:v>0.096462</c:v>
                </c:pt>
                <c:pt idx="41">
                  <c:v>0.621686</c:v>
                </c:pt>
                <c:pt idx="42">
                  <c:v>0.095149</c:v>
                </c:pt>
                <c:pt idx="43">
                  <c:v>0.036284</c:v>
                </c:pt>
                <c:pt idx="44">
                  <c:v>0.529417</c:v>
                </c:pt>
                <c:pt idx="45">
                  <c:v>0.22018</c:v>
                </c:pt>
                <c:pt idx="46">
                  <c:v>0.232026</c:v>
                </c:pt>
                <c:pt idx="47">
                  <c:v>0.182814</c:v>
                </c:pt>
                <c:pt idx="48">
                  <c:v>0.080872</c:v>
                </c:pt>
              </c:numCache>
            </c:numRef>
          </c:yVal>
        </c:ser>
        <c:ser>
          <c:idx val="1"/>
          <c:order val="1"/>
          <c:tx>
            <c:v>Texas</c:v>
          </c:tx>
          <c:spPr>
            <a:solidFill>
              <a:srgbClr val="F07C2B"/>
            </a:solidFill>
            <a:ln w="0">
              <a:noFill/>
            </a:ln>
          </c:spPr>
          <c:marker>
            <c:symbol val="circle"/>
            <c:size val="9"/>
            <c:spPr>
              <a:solidFill>
                <a:srgbClr val="F07C2B"/>
              </a:solidFill>
              <a:ln w="0">
                <a:noFill/>
              </a:ln>
            </c:spPr>
          </c:marker>
          <c:dLbls>
            <c:txPr>
              <a:bodyPr anchorCtr="1" wrap="none"/>
              <a:lstStyle/>
              <a:p>
                <a:pPr>
                  <a:defRPr sz="1125" b="1">
                    <a:solidFill>
                      <a:srgbClr val="F07C2B"/>
                    </a:solidFill>
                    <a:latin typeface="Arial"/>
                    <a:ea typeface="Arial"/>
                    <a:cs typeface="Arial"/>
                  </a:defRPr>
                </a:pPr>
              </a:p>
            </c:txPr>
            <c:dLblPos val="t"/>
            <c:showLegendKey val="0"/>
            <c:showVal val="0"/>
            <c:showCatName val="0"/>
            <c:showSerName val="1"/>
            <c:showPercent val="0"/>
            <c:showBubbleSize val="0"/>
            <c:showLeaderLines val="0"/>
          </c:dLbls>
          <c:xVal>
            <c:numRef>
              <c:f>'Chart Data'!$C$2:$C$2</c:f>
              <c:numCache>
                <c:formatCode>General</c:formatCode>
                <c:ptCount val="1"/>
                <c:pt idx="0">
                  <c:v>0.114501</c:v>
                </c:pt>
              </c:numCache>
            </c:numRef>
          </c:xVal>
          <c:yVal>
            <c:numRef>
              <c:f>'Chart Data'!$D$2:$D$2</c:f>
              <c:numCache>
                <c:formatCode>0.0</c:formatCode>
                <c:ptCount val="1"/>
                <c:pt idx="0">
                  <c:v>2.178881</c:v>
                </c:pt>
              </c:numCache>
            </c:numRef>
          </c:yVal>
        </c:ser>
        <c:ser>
          <c:idx val="2"/>
          <c:order val="2"/>
          <c:tx>
            <c:v>Illinois</c:v>
          </c:tx>
          <c:spPr>
            <a:solidFill>
              <a:srgbClr val="3F73C7"/>
            </a:solidFill>
            <a:ln w="0">
              <a:noFill/>
            </a:ln>
          </c:spPr>
          <c:marker>
            <c:symbol val="circle"/>
            <c:size val="9"/>
            <c:spPr>
              <a:solidFill>
                <a:srgbClr val="3F73C7"/>
              </a:solidFill>
              <a:ln w="0">
                <a:noFill/>
              </a:ln>
            </c:spPr>
          </c:marker>
          <c:dLbls>
            <c:txPr>
              <a:bodyPr anchorCtr="1" wrap="none"/>
              <a:lstStyle/>
              <a:p>
                <a:pPr>
                  <a:defRPr sz="1125" b="1">
                    <a:solidFill>
                      <a:srgbClr val="3F73C7"/>
                    </a:solidFill>
                    <a:latin typeface="Arial"/>
                    <a:ea typeface="Arial"/>
                    <a:cs typeface="Arial"/>
                  </a:defRPr>
                </a:pPr>
              </a:p>
            </c:txPr>
            <c:dLblPos val="t"/>
            <c:showLegendKey val="0"/>
            <c:showVal val="0"/>
            <c:showCatName val="0"/>
            <c:showSerName val="1"/>
            <c:showPercent val="0"/>
            <c:showBubbleSize val="0"/>
            <c:showLeaderLines val="0"/>
          </c:dLbls>
          <c:xVal>
            <c:numRef>
              <c:f>'Chart Data'!$E$2:$E$2</c:f>
              <c:numCache>
                <c:formatCode>General</c:formatCode>
                <c:ptCount val="1"/>
                <c:pt idx="0">
                  <c:v>0.67221</c:v>
                </c:pt>
              </c:numCache>
            </c:numRef>
          </c:xVal>
          <c:yVal>
            <c:numRef>
              <c:f>'Chart Data'!$F$2:$F$2</c:f>
              <c:numCache>
                <c:formatCode>0.0</c:formatCode>
                <c:ptCount val="1"/>
                <c:pt idx="0">
                  <c:v>0.529706</c:v>
                </c:pt>
              </c:numCache>
            </c:numRef>
          </c:yVal>
        </c:ser>
        <c:axId val="48650112"/>
        <c:axId val="48672768"/>
      </c:scatterChart>
      <c:valAx>
        <c:axId val="48672768"/>
        <c:scaling>
          <c:orientation val="minMax"/>
          <c:max val="2.5"/>
          <c:min val="0"/>
        </c:scaling>
        <c:delete val="0"/>
        <c:axPos val="l"/>
        <c:majorGridlines>
          <c:spPr>
            <a:ln w="9525">
              <a:solidFill>
                <a:srgbClr val="DCE1E4"/>
              </a:solidFill>
            </a:ln>
          </c:spPr>
        </c:majorGridlines>
        <c:numFmt formatCode="0.0"/>
        <c:majorTickMark val="none"/>
        <c:minorTickMark val="none"/>
        <c:spPr>
          <a:ln w="9525">
            <a:solidFill>
              <a:srgbClr val="DCE1E4"/>
            </a:solidFill>
          </a:ln>
        </c:spPr>
        <c:txPr>
          <a:bodyPr anchorCtr="1"/>
          <a:lstStyle/>
          <a:p>
            <a:pPr>
              <a:defRPr sz="1200">
                <a:solidFill>
                  <a:srgbClr val="52636E"/>
                </a:solidFill>
                <a:latin typeface="Arial"/>
                <a:ea typeface="Arial"/>
                <a:cs typeface="Arial"/>
              </a:defRPr>
            </a:pPr>
          </a:p>
        </c:txPr>
        <c:crossAx val="48650112"/>
        <c:majorUnit val="0.5"/>
      </c:valAx>
      <c:valAx>
        <c:axId val="48650112"/>
        <c:scaling>
          <c:orientation val="minMax"/>
          <c:max val="0.8"/>
          <c:min val="0"/>
        </c:scaling>
        <c:delete val="0"/>
        <c:axPos val="b"/>
        <c:numFmt formatCode="0.0"/>
        <c:majorTickMark val="none"/>
        <c:minorTickMark val="none"/>
        <c:spPr>
          <a:ln w="9525">
            <a:solidFill>
              <a:srgbClr val="DCE1E4"/>
            </a:solidFill>
          </a:ln>
        </c:spPr>
        <c:txPr>
          <a:bodyPr anchorCtr="1"/>
          <a:lstStyle/>
          <a:p>
            <a:pPr>
              <a:defRPr sz="1200">
                <a:solidFill>
                  <a:srgbClr val="52636E"/>
                </a:solidFill>
                <a:latin typeface="Arial"/>
                <a:ea typeface="Arial"/>
                <a:cs typeface="Arial"/>
              </a:defRPr>
            </a:pPr>
          </a:p>
        </c:txPr>
        <c:crossAx val="48672768"/>
        <c:majorUnit val="0.2"/>
      </c:valAx>
      <c:spPr>
        <a:solidFill>
          <a:srgbClr val="F7F4EE"/>
        </a:solidFill>
      </c:spPr>
    </c:plotArea>
    <c:plotVisOnly val="1"/>
    <c:dispBlanksAs val="gap"/>
  </c:chart>
  <c:spPr>
    <a:solidFill>
      <a:srgbClr val="F7F4EE"/>
    </a:solidFill>
  </c:spPr>
  <c:externalData r:id="rIdChartSnapshot1">
    <c:autoUpdate val="0"/>
  </c:externalData>
</c:chartSpace>
</file>

<file path=ppt/slides/charts/chart4.xml><?xml version="1.0" encoding="utf-8"?>
<c:chartSpace xmlns:a="http://schemas.openxmlformats.org/drawingml/2006/main" xmlns:c="http://schemas.openxmlformats.org/drawingml/2006/chart" xmlns:r="http://schemas.openxmlformats.org/officeDocument/2006/relationships">
  <c:lang val="en-US"/>
  <c:chart>
    <c:plotArea>
      <c:scatterChart>
        <c:scatterStyle val="marker"/>
        <c:ser>
          <c:idx val="0"/>
          <c:order val="0"/>
          <c:tx>
            <c:v>Other states and DC</c:v>
          </c:tx>
          <c:spPr>
            <a:solidFill>
              <a:srgbClr val="AAB8C2"/>
            </a:solidFill>
            <a:ln w="0">
              <a:noFill/>
            </a:ln>
          </c:spPr>
          <c:marker>
            <c:symbol val="circle"/>
            <c:size val="5"/>
            <c:spPr>
              <a:solidFill>
                <a:srgbClr val="AAB8C2"/>
              </a:solidFill>
              <a:ln w="0">
                <a:noFill/>
              </a:ln>
            </c:spPr>
          </c:marker>
          <c:xVal>
            <c:numRef>
              <c:f>'Chart Data'!$A$2:$A$50</c:f>
              <c:numCache>
                <c:formatCode>General</c:formatCode>
                <c:ptCount val="49"/>
                <c:pt idx="0">
                  <c:v>133.3118175544</c:v>
                </c:pt>
                <c:pt idx="1">
                  <c:v>0.2170168324</c:v>
                </c:pt>
                <c:pt idx="2">
                  <c:v>3.6884406212</c:v>
                </c:pt>
                <c:pt idx="3">
                  <c:v>37.1421389108</c:v>
                </c:pt>
                <c:pt idx="4">
                  <c:v>3.2623298676</c:v>
                </c:pt>
                <c:pt idx="5">
                  <c:v>35.6121127087</c:v>
                </c:pt>
                <c:pt idx="6">
                  <c:v>35.7083212236</c:v>
                </c:pt>
                <c:pt idx="7">
                  <c:v>59.3611786194</c:v>
                </c:pt>
                <c:pt idx="8">
                  <c:v>247.3167109977</c:v>
                </c:pt>
                <c:pt idx="9">
                  <c:v>18.9915677422</c:v>
                </c:pt>
                <c:pt idx="10">
                  <c:v>44.5396110751</c:v>
                </c:pt>
                <c:pt idx="11">
                  <c:v>3.4198294273</c:v>
                </c:pt>
                <c:pt idx="12">
                  <c:v>13.6421884061</c:v>
                </c:pt>
                <c:pt idx="13">
                  <c:v>273.8245828788</c:v>
                </c:pt>
                <c:pt idx="14">
                  <c:v>209.8266822341</c:v>
                </c:pt>
                <c:pt idx="15">
                  <c:v>90.0403732341</c:v>
                </c:pt>
                <c:pt idx="16">
                  <c:v>60.857016834</c:v>
                </c:pt>
                <c:pt idx="17">
                  <c:v>44.5152851042</c:v>
                </c:pt>
                <c:pt idx="18">
                  <c:v>11.301359697</c:v>
                </c:pt>
                <c:pt idx="19">
                  <c:v>5.0053093628</c:v>
                </c:pt>
                <c:pt idx="20">
                  <c:v>58.3401033591</c:v>
                </c:pt>
                <c:pt idx="21">
                  <c:v>252.2975184155</c:v>
                </c:pt>
                <c:pt idx="22">
                  <c:v>149.53163631</c:v>
                </c:pt>
                <c:pt idx="23">
                  <c:v>80.1242992932</c:v>
                </c:pt>
                <c:pt idx="24">
                  <c:v>113.1768375328</c:v>
                </c:pt>
                <c:pt idx="25">
                  <c:v>28.1297883976</c:v>
                </c:pt>
                <c:pt idx="26">
                  <c:v>241.3867946874</c:v>
                </c:pt>
                <c:pt idx="27">
                  <c:v>3.3240021595</c:v>
                </c:pt>
                <c:pt idx="28">
                  <c:v>1.8370118318</c:v>
                </c:pt>
                <c:pt idx="29">
                  <c:v>141.7647172796</c:v>
                </c:pt>
                <c:pt idx="30">
                  <c:v>1.5572821052</c:v>
                </c:pt>
                <c:pt idx="31">
                  <c:v>144.5099637159</c:v>
                </c:pt>
                <c:pt idx="32">
                  <c:v>11.5503098419</c:v>
                </c:pt>
                <c:pt idx="33">
                  <c:v>70.7818023964</c:v>
                </c:pt>
                <c:pt idx="34">
                  <c:v>270.1581696919</c:v>
                </c:pt>
                <c:pt idx="35">
                  <c:v>34.545246415</c:v>
                </c:pt>
                <c:pt idx="36">
                  <c:v>0</c:v>
                </c:pt>
                <c:pt idx="37">
                  <c:v>282.5339316173</c:v>
                </c:pt>
                <c:pt idx="38">
                  <c:v>34.549467405</c:v>
                </c:pt>
                <c:pt idx="39">
                  <c:v>28.8420201605</c:v>
                </c:pt>
                <c:pt idx="40">
                  <c:v>87.6737302524</c:v>
                </c:pt>
                <c:pt idx="41">
                  <c:v>36.1090023182</c:v>
                </c:pt>
                <c:pt idx="42">
                  <c:v>2.537508788</c:v>
                </c:pt>
                <c:pt idx="43">
                  <c:v>29.6278830955</c:v>
                </c:pt>
                <c:pt idx="44">
                  <c:v>15.5617494249</c:v>
                </c:pt>
                <c:pt idx="45">
                  <c:v>8.6513969469</c:v>
                </c:pt>
                <c:pt idx="46">
                  <c:v>47.5498358857</c:v>
                </c:pt>
                <c:pt idx="47">
                  <c:v>265.8976454375</c:v>
                </c:pt>
                <c:pt idx="48">
                  <c:v>58.003950723</c:v>
                </c:pt>
              </c:numCache>
            </c:numRef>
          </c:xVal>
          <c:yVal>
            <c:numRef>
              <c:f>'Chart Data'!$B$2:$B$50</c:f>
              <c:numCache>
                <c:formatCode>#,##0</c:formatCode>
                <c:ptCount val="49"/>
                <c:pt idx="0">
                  <c:v>370.6888849178</c:v>
                </c:pt>
                <c:pt idx="1">
                  <c:v>351.9063572368</c:v>
                </c:pt>
                <c:pt idx="2">
                  <c:v>923.9215836475</c:v>
                </c:pt>
                <c:pt idx="3">
                  <c:v>1534.3758216843</c:v>
                </c:pt>
                <c:pt idx="4">
                  <c:v>152.3359910603</c:v>
                </c:pt>
                <c:pt idx="5">
                  <c:v>234.9813997729</c:v>
                </c:pt>
                <c:pt idx="6">
                  <c:v>762.0775513922</c:v>
                </c:pt>
                <c:pt idx="7">
                  <c:v>1069.4823916555</c:v>
                </c:pt>
                <c:pt idx="8">
                  <c:v>193.5716396716</c:v>
                </c:pt>
                <c:pt idx="9">
                  <c:v>710.0380274615</c:v>
                </c:pt>
                <c:pt idx="10">
                  <c:v>557.4900900206</c:v>
                </c:pt>
                <c:pt idx="11">
                  <c:v>238.9344090674</c:v>
                </c:pt>
                <c:pt idx="12">
                  <c:v>476.2843191691</c:v>
                </c:pt>
                <c:pt idx="13">
                  <c:v>782.2758500132</c:v>
                </c:pt>
                <c:pt idx="14">
                  <c:v>557.4966796742</c:v>
                </c:pt>
                <c:pt idx="15">
                  <c:v>356.2921114328</c:v>
                </c:pt>
                <c:pt idx="16">
                  <c:v>920.526414498</c:v>
                </c:pt>
                <c:pt idx="17">
                  <c:v>1557.1060430831</c:v>
                </c:pt>
                <c:pt idx="18">
                  <c:v>294.4573156338</c:v>
                </c:pt>
                <c:pt idx="19">
                  <c:v>899.2271297982</c:v>
                </c:pt>
                <c:pt idx="20">
                  <c:v>489.1849187122</c:v>
                </c:pt>
                <c:pt idx="21">
                  <c:v>297.7008820401</c:v>
                </c:pt>
                <c:pt idx="22">
                  <c:v>358.8361357401</c:v>
                </c:pt>
                <c:pt idx="23">
                  <c:v>547.7733095025</c:v>
                </c:pt>
                <c:pt idx="24">
                  <c:v>1427.329794989</c:v>
                </c:pt>
                <c:pt idx="25">
                  <c:v>575.2367008126</c:v>
                </c:pt>
                <c:pt idx="26">
                  <c:v>438.2890833823</c:v>
                </c:pt>
                <c:pt idx="27">
                  <c:v>392.990895098</c:v>
                </c:pt>
                <c:pt idx="28">
                  <c:v>21.4859730016</c:v>
                </c:pt>
                <c:pt idx="29">
                  <c:v>901.5894593911</c:v>
                </c:pt>
                <c:pt idx="30">
                  <c:v>1539.921467816</c:v>
                </c:pt>
                <c:pt idx="31">
                  <c:v>475.5237951875</c:v>
                </c:pt>
                <c:pt idx="32">
                  <c:v>713.3303113565</c:v>
                </c:pt>
                <c:pt idx="33">
                  <c:v>1225.3583500759</c:v>
                </c:pt>
                <c:pt idx="34">
                  <c:v>738.4456632531</c:v>
                </c:pt>
                <c:pt idx="35">
                  <c:v>1511.7280189984</c:v>
                </c:pt>
                <c:pt idx="36">
                  <c:v>63.3964076071</c:v>
                </c:pt>
                <c:pt idx="37">
                  <c:v>499.7214049803</c:v>
                </c:pt>
                <c:pt idx="38">
                  <c:v>626.4844422375</c:v>
                </c:pt>
                <c:pt idx="39">
                  <c:v>1031.5754351969</c:v>
                </c:pt>
                <c:pt idx="40">
                  <c:v>849.8695023811</c:v>
                </c:pt>
                <c:pt idx="41">
                  <c:v>687.1312833964</c:v>
                </c:pt>
                <c:pt idx="42">
                  <c:v>268.8657279203</c:v>
                </c:pt>
                <c:pt idx="43">
                  <c:v>562.8367069306</c:v>
                </c:pt>
                <c:pt idx="44">
                  <c:v>596.1831315771</c:v>
                </c:pt>
                <c:pt idx="45">
                  <c:v>275.1899132861</c:v>
                </c:pt>
                <c:pt idx="46">
                  <c:v>1313.7411551813</c:v>
                </c:pt>
                <c:pt idx="47">
                  <c:v>306.0782177566</c:v>
                </c:pt>
                <c:pt idx="48">
                  <c:v>1373.6150813669</c:v>
                </c:pt>
              </c:numCache>
            </c:numRef>
          </c:yVal>
        </c:ser>
        <c:ser>
          <c:idx val="1"/>
          <c:order val="1"/>
          <c:tx>
            <c:v>Pennsylvania</c:v>
          </c:tx>
          <c:spPr>
            <a:solidFill>
              <a:srgbClr val="F07C2B"/>
            </a:solidFill>
            <a:ln w="0">
              <a:noFill/>
            </a:ln>
          </c:spPr>
          <c:marker>
            <c:symbol val="circle"/>
            <c:size val="9"/>
            <c:spPr>
              <a:solidFill>
                <a:srgbClr val="F07C2B"/>
              </a:solidFill>
              <a:ln w="0">
                <a:noFill/>
              </a:ln>
            </c:spPr>
          </c:marker>
          <c:dLbls>
            <c:txPr>
              <a:bodyPr anchorCtr="1" wrap="none"/>
              <a:lstStyle/>
              <a:p>
                <a:pPr>
                  <a:defRPr sz="1125" b="1">
                    <a:solidFill>
                      <a:srgbClr val="F07C2B"/>
                    </a:solidFill>
                    <a:latin typeface="Arial"/>
                    <a:ea typeface="Arial"/>
                    <a:cs typeface="Arial"/>
                  </a:defRPr>
                </a:pPr>
              </a:p>
            </c:txPr>
            <c:dLblPos val="t"/>
            <c:showLegendKey val="0"/>
            <c:showVal val="0"/>
            <c:showCatName val="0"/>
            <c:showSerName val="1"/>
            <c:showPercent val="0"/>
            <c:showBubbleSize val="0"/>
            <c:showLeaderLines val="0"/>
          </c:dLbls>
          <c:xVal>
            <c:numRef>
              <c:f>'Chart Data'!$C$2:$C$2</c:f>
              <c:numCache>
                <c:formatCode>General</c:formatCode>
                <c:ptCount val="1"/>
                <c:pt idx="0">
                  <c:v>87.0765282901</c:v>
                </c:pt>
              </c:numCache>
            </c:numRef>
          </c:xVal>
          <c:yVal>
            <c:numRef>
              <c:f>'Chart Data'!$D$2:$D$2</c:f>
              <c:numCache>
                <c:formatCode>#,##0</c:formatCode>
                <c:ptCount val="1"/>
                <c:pt idx="0">
                  <c:v>1573.9673823486</c:v>
                </c:pt>
              </c:numCache>
            </c:numRef>
          </c:yVal>
        </c:ser>
        <c:ser>
          <c:idx val="2"/>
          <c:order val="2"/>
          <c:tx>
            <c:v>Illinois</c:v>
          </c:tx>
          <c:spPr>
            <a:solidFill>
              <a:srgbClr val="3F73C7"/>
            </a:solidFill>
            <a:ln w="0">
              <a:noFill/>
            </a:ln>
          </c:spPr>
          <c:marker>
            <c:symbol val="circle"/>
            <c:size val="9"/>
            <c:spPr>
              <a:solidFill>
                <a:srgbClr val="3F73C7"/>
              </a:solidFill>
              <a:ln w="0">
                <a:noFill/>
              </a:ln>
            </c:spPr>
          </c:marker>
          <c:dLbls>
            <c:txPr>
              <a:bodyPr anchorCtr="1" wrap="none"/>
              <a:lstStyle/>
              <a:p>
                <a:pPr>
                  <a:defRPr sz="1125" b="1">
                    <a:solidFill>
                      <a:srgbClr val="3F73C7"/>
                    </a:solidFill>
                    <a:latin typeface="Arial"/>
                    <a:ea typeface="Arial"/>
                    <a:cs typeface="Arial"/>
                  </a:defRPr>
                </a:pPr>
              </a:p>
            </c:txPr>
            <c:dLblPos val="t"/>
            <c:showLegendKey val="0"/>
            <c:showVal val="0"/>
            <c:showCatName val="0"/>
            <c:showSerName val="1"/>
            <c:showPercent val="0"/>
            <c:showBubbleSize val="0"/>
            <c:showLeaderLines val="0"/>
          </c:dLbls>
          <c:xVal>
            <c:numRef>
              <c:f>'Chart Data'!$E$2:$E$2</c:f>
              <c:numCache>
                <c:formatCode>General</c:formatCode>
                <c:ptCount val="1"/>
                <c:pt idx="0">
                  <c:v>528.502671682</c:v>
                </c:pt>
              </c:numCache>
            </c:numRef>
          </c:xVal>
          <c:yVal>
            <c:numRef>
              <c:f>'Chart Data'!$F$2:$F$2</c:f>
              <c:numCache>
                <c:formatCode>#,##0</c:formatCode>
                <c:ptCount val="1"/>
                <c:pt idx="0">
                  <c:v>416.4636589845</c:v>
                </c:pt>
              </c:numCache>
            </c:numRef>
          </c:yVal>
        </c:ser>
        <c:axId val="48650112"/>
        <c:axId val="48672768"/>
      </c:scatterChart>
      <c:valAx>
        <c:axId val="48672768"/>
        <c:scaling>
          <c:orientation val="minMax"/>
          <c:max val="1800"/>
          <c:min val="0"/>
        </c:scaling>
        <c:delete val="0"/>
        <c:axPos val="l"/>
        <c:majorGridlines>
          <c:spPr>
            <a:ln w="9525">
              <a:solidFill>
                <a:srgbClr val="DCE1E4"/>
              </a:solidFill>
            </a:ln>
          </c:spPr>
        </c:majorGridlines>
        <c:numFmt formatCode="#,##0"/>
        <c:majorTickMark val="none"/>
        <c:minorTickMark val="none"/>
        <c:spPr>
          <a:ln w="9525">
            <a:solidFill>
              <a:srgbClr val="DCE1E4"/>
            </a:solidFill>
          </a:ln>
        </c:spPr>
        <c:txPr>
          <a:bodyPr anchorCtr="1"/>
          <a:lstStyle/>
          <a:p>
            <a:pPr>
              <a:defRPr sz="1200">
                <a:solidFill>
                  <a:srgbClr val="52636E"/>
                </a:solidFill>
                <a:latin typeface="Arial"/>
                <a:ea typeface="Arial"/>
                <a:cs typeface="Arial"/>
              </a:defRPr>
            </a:pPr>
          </a:p>
        </c:txPr>
        <c:crossAx val="48650112"/>
        <c:majorUnit val="600"/>
      </c:valAx>
      <c:valAx>
        <c:axId val="48650112"/>
        <c:scaling>
          <c:orientation val="minMax"/>
          <c:max val="600"/>
          <c:min val="0"/>
        </c:scaling>
        <c:delete val="0"/>
        <c:axPos val="b"/>
        <c:numFmt formatCode="0"/>
        <c:majorTickMark val="none"/>
        <c:minorTickMark val="none"/>
        <c:spPr>
          <a:ln w="9525">
            <a:solidFill>
              <a:srgbClr val="DCE1E4"/>
            </a:solidFill>
          </a:ln>
        </c:spPr>
        <c:txPr>
          <a:bodyPr anchorCtr="1"/>
          <a:lstStyle/>
          <a:p>
            <a:pPr>
              <a:defRPr sz="1200">
                <a:solidFill>
                  <a:srgbClr val="52636E"/>
                </a:solidFill>
                <a:latin typeface="Arial"/>
                <a:ea typeface="Arial"/>
                <a:cs typeface="Arial"/>
              </a:defRPr>
            </a:pPr>
          </a:p>
        </c:txPr>
        <c:crossAx val="48672768"/>
        <c:majorUnit val="200"/>
      </c:valAx>
      <c:spPr>
        <a:solidFill>
          <a:srgbClr val="F7F4EE"/>
        </a:solidFill>
      </c:spPr>
    </c:plotArea>
    <c:plotVisOnly val="1"/>
    <c:dispBlanksAs val="gap"/>
  </c:chart>
  <c:spPr>
    <a:solidFill>
      <a:srgbClr val="F7F4EE"/>
    </a:solidFill>
  </c:spPr>
  <c:externalData r:id="rIdChartSnapshot1">
    <c:autoUpdate val="0"/>
  </c:externalData>
</c:chartSpace>
</file>

<file path=ppt/slides/slide1.xml><?xml version="1.0" encoding="utf-8"?>
<p:sld xmlns:p="http://schemas.openxmlformats.org/presentationml/2006/main" showMasterSp="1">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8" name="kicker-1">
            <a:extLst xmlns:a="http://schemas.openxmlformats.org/drawingml/2006/main">
              <a:ext uri="{FF2B5EF4-FFF2-40B4-BE49-F238E27FC236}">
                <a16:creationId xmlns:a16="http://schemas.microsoft.com/office/drawing/2014/main" id="{A0CD7758-06B5-41EE-B5EF-06C797E55642}"/>
              </a:ext>
            </a:extLst>
          </p:cNvPr>
          <p:cNvSpPr>
            <a:spLocks xmlns:a="http://schemas.openxmlformats.org/drawingml/2006/main" noGrp="1"/>
          </p:cNvSpPr>
          <p:nvPr/>
        </p:nvSpPr>
        <p:spPr>
          <a:xfrm xmlns:a="http://schemas.openxmlformats.org/drawingml/2006/main">
            <a:off x="647700" y="2476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36E"/>
                </a:solidFill>
                <a:latin typeface="Arial"/>
                <a:ea typeface="Arial"/>
                <a:cs typeface="Arial"/>
              </a:defRPr>
            </a:pPr>
            <a:r>
              <a:rPr sz="1050" b="1">
                <a:solidFill>
                  <a:srgbClr val="52636E"/>
                </a:solidFill>
                <a:latin typeface="Arial"/>
                <a:ea typeface="Arial"/>
                <a:cs typeface="Arial"/>
              </a:rPr>
              <a:t>DARSH RATHI  /  XYLEM + IBM SKILLSBUILD  /  PORTFOLIO REMASTER</a:t>
            </a:r>
          </a:p>
        </p:txBody>
      </p:sp>
      <p:sp>
        <p:nvSpPr>
          <p:cNvPr id="2" name="title-1">
            <a:extLst xmlns:a="http://schemas.openxmlformats.org/drawingml/2006/main">
              <a:ext uri="{FF2B5EF4-FFF2-40B4-BE49-F238E27FC236}">
                <a16:creationId xmlns:a16="http://schemas.microsoft.com/office/drawing/2014/main" id="{615A06A5-C2E3-406A-8506-84DFF79ED696}"/>
              </a:ext>
            </a:extLst>
          </p:cNvPr>
          <p:cNvSpPr>
            <a:spLocks xmlns:a="http://schemas.openxmlformats.org/drawingml/2006/main" noGrp="1"/>
          </p:cNvSpPr>
          <p:nvPr/>
        </p:nvSpPr>
        <p:spPr>
          <a:xfrm xmlns:a="http://schemas.openxmlformats.org/drawingml/2006/main">
            <a:off x="647700" y="6381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Xylem can tailor services to</a:t>
            </a:r>
          </a:p>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reported inventory needs</a:t>
            </a:r>
          </a:p>
        </p:txBody>
      </p:sp>
      <p:sp>
        <p:nvSpPr>
          <p:cNvPr id="3" name="">
            <a:extLst xmlns:a="http://schemas.openxmlformats.org/drawingml/2006/main">
              <a:ext uri="{FF2B5EF4-FFF2-40B4-BE49-F238E27FC236}">
                <a16:creationId xmlns:a16="http://schemas.microsoft.com/office/drawing/2014/main" id="{1B50DE1D-2F36-429E-A384-C91D43A70DA2}"/>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4" name="footer-1">
            <a:extLst xmlns:a="http://schemas.openxmlformats.org/drawingml/2006/main">
              <a:ext uri="{FF2B5EF4-FFF2-40B4-BE49-F238E27FC236}">
                <a16:creationId xmlns:a16="http://schemas.microsoft.com/office/drawing/2014/main" id="{B675CBB1-2112-40B9-99CC-D746181D5F28}"/>
              </a:ext>
            </a:extLst>
          </p:cNvPr>
          <p:cNvSpPr>
            <a:spLocks xmlns:a="http://schemas.openxmlformats.org/drawingml/2006/main" noGrp="1"/>
          </p:cNvSpPr>
          <p:nvPr/>
        </p:nvSpPr>
        <p:spPr>
          <a:xfrm xmlns:a="http://schemas.openxmlformats.org/drawingml/2006/main">
            <a:off x="647700" y="65722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EPA 2026 Q2 inventory. Proposed business application, subject to utility-level assessment.</a:t>
            </a:r>
          </a:p>
        </p:txBody>
      </p:sp>
      <p:sp>
        <p:nvSpPr>
          <p:cNvPr id="5" name="page-1">
            <a:extLst xmlns:a="http://schemas.openxmlformats.org/drawingml/2006/main">
              <a:ext uri="{FF2B5EF4-FFF2-40B4-BE49-F238E27FC236}">
                <a16:creationId xmlns:a16="http://schemas.microsoft.com/office/drawing/2014/main" id="{448CBF7F-D02C-44D1-883F-21801947C623}"/>
              </a:ext>
            </a:extLst>
          </p:cNvPr>
          <p:cNvSpPr>
            <a:spLocks xmlns:a="http://schemas.openxmlformats.org/drawingml/2006/main" noGrp="1"/>
          </p:cNvSpPr>
          <p:nvPr/>
        </p:nvSpPr>
        <p:spPr>
          <a:xfrm xmlns:a="http://schemas.openxmlformats.org/drawingml/2006/main">
            <a:off x="11363325" y="657225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1</a:t>
            </a:r>
          </a:p>
        </p:txBody>
      </p:sp>
      <p:sp>
        <p:nvSpPr>
          <p:cNvPr id="6" name="recommendation">
            <a:extLst xmlns:a="http://schemas.openxmlformats.org/drawingml/2006/main">
              <a:ext uri="{FF2B5EF4-FFF2-40B4-BE49-F238E27FC236}">
                <a16:creationId xmlns:a16="http://schemas.microsoft.com/office/drawing/2014/main" id="{6D4FF72C-DD99-4DDB-A1A5-AD1922FFB174}"/>
              </a:ext>
            </a:extLst>
          </p:cNvPr>
          <p:cNvSpPr>
            <a:spLocks xmlns:a="http://schemas.openxmlformats.org/drawingml/2006/main" noGrp="1"/>
          </p:cNvSpPr>
          <p:nvPr/>
        </p:nvSpPr>
        <p:spPr>
          <a:xfrm xmlns:a="http://schemas.openxmlformats.org/drawingml/2006/main">
            <a:off x="647700" y="1857375"/>
            <a:ext cx="10620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02A43"/>
                </a:solidFill>
                <a:latin typeface="Arial"/>
                <a:ea typeface="Arial"/>
                <a:cs typeface="Arial"/>
              </a:defRPr>
            </a:pPr>
            <a:r>
              <a:rPr sz="2400" b="1">
                <a:solidFill>
                  <a:srgbClr val="102A43"/>
                </a:solidFill>
                <a:latin typeface="Arial"/>
                <a:ea typeface="Arial"/>
                <a:cs typeface="Arial"/>
              </a:rPr>
              <a:t>Use state patterns to find candidate markets.</a:t>
            </a:r>
          </a:p>
          <a:p xmlns:a="http://schemas.openxmlformats.org/drawingml/2006/main">
            <a:pPr algn="l">
              <a:defRPr sz="2400" b="1">
                <a:solidFill>
                  <a:srgbClr val="102A43"/>
                </a:solidFill>
                <a:latin typeface="Arial"/>
                <a:ea typeface="Arial"/>
                <a:cs typeface="Arial"/>
              </a:defRPr>
            </a:pPr>
            <a:r>
              <a:rPr sz="2400" b="1">
                <a:solidFill>
                  <a:srgbClr val="102A43"/>
                </a:solidFill>
                <a:latin typeface="Arial"/>
                <a:ea typeface="Arial"/>
                <a:cs typeface="Arial"/>
              </a:rPr>
              <a:t>Select pilots with utility-level evidence.</a:t>
            </a:r>
          </a:p>
        </p:txBody>
      </p:sp>
      <p:sp>
        <p:nvSpPr>
          <p:cNvPr id="7" name="path-0">
            <a:extLst xmlns:a="http://schemas.openxmlformats.org/drawingml/2006/main">
              <a:ext uri="{FF2B5EF4-FFF2-40B4-BE49-F238E27FC236}">
                <a16:creationId xmlns:a16="http://schemas.microsoft.com/office/drawing/2014/main" id="{0EE96B93-DE78-475B-8AA6-24517F43821B}"/>
              </a:ext>
            </a:extLst>
          </p:cNvPr>
          <p:cNvSpPr>
            <a:spLocks xmlns:a="http://schemas.openxmlformats.org/drawingml/2006/main" noGrp="1"/>
          </p:cNvSpPr>
          <p:nvPr/>
        </p:nvSpPr>
        <p:spPr>
          <a:xfrm xmlns:a="http://schemas.openxmlformats.org/drawingml/2006/main">
            <a:off x="647700" y="30480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F07C2B"/>
                </a:solidFill>
                <a:latin typeface="Arial"/>
                <a:ea typeface="Arial"/>
                <a:cs typeface="Arial"/>
              </a:defRPr>
            </a:pPr>
            <a:r>
              <a:rPr sz="2025" b="1">
                <a:solidFill>
                  <a:srgbClr val="F07C2B"/>
                </a:solidFill>
                <a:latin typeface="Arial"/>
                <a:ea typeface="Arial"/>
                <a:cs typeface="Arial"/>
              </a:rPr>
              <a:t>Identification emphasis</a:t>
            </a:r>
          </a:p>
        </p:txBody>
      </p:sp>
      <p:sp>
        <p:nvSpPr>
          <p:cNvPr id="8" name="markets-0">
            <a:extLst xmlns:a="http://schemas.openxmlformats.org/drawingml/2006/main">
              <a:ext uri="{FF2B5EF4-FFF2-40B4-BE49-F238E27FC236}">
                <a16:creationId xmlns:a16="http://schemas.microsoft.com/office/drawing/2014/main" id="{940DC57C-DA8C-4C3E-A292-44D3D23C85CE}"/>
              </a:ext>
            </a:extLst>
          </p:cNvPr>
          <p:cNvSpPr>
            <a:spLocks xmlns:a="http://schemas.openxmlformats.org/drawingml/2006/main" noGrp="1"/>
          </p:cNvSpPr>
          <p:nvPr/>
        </p:nvSpPr>
        <p:spPr>
          <a:xfrm xmlns:a="http://schemas.openxmlformats.org/drawingml/2006/main">
            <a:off x="6238875" y="30480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Texas and Pennsylvania</a:t>
            </a:r>
          </a:p>
        </p:txBody>
      </p:sp>
      <p:sp>
        <p:nvSpPr>
          <p:cNvPr id="9" name="path-1">
            <a:extLst xmlns:a="http://schemas.openxmlformats.org/drawingml/2006/main">
              <a:ext uri="{FF2B5EF4-FFF2-40B4-BE49-F238E27FC236}">
                <a16:creationId xmlns:a16="http://schemas.microsoft.com/office/drawing/2014/main" id="{231F0FA0-E6DD-414B-8CBE-F4A8108EF267}"/>
              </a:ext>
            </a:extLst>
          </p:cNvPr>
          <p:cNvSpPr>
            <a:spLocks xmlns:a="http://schemas.openxmlformats.org/drawingml/2006/main" noGrp="1"/>
          </p:cNvSpPr>
          <p:nvPr/>
        </p:nvSpPr>
        <p:spPr>
          <a:xfrm xmlns:a="http://schemas.openxmlformats.org/drawingml/2006/main">
            <a:off x="647700" y="36290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3F73C7"/>
                </a:solidFill>
                <a:latin typeface="Arial"/>
                <a:ea typeface="Arial"/>
                <a:cs typeface="Arial"/>
              </a:defRPr>
            </a:pPr>
            <a:r>
              <a:rPr sz="2025" b="1">
                <a:solidFill>
                  <a:srgbClr val="3F73C7"/>
                </a:solidFill>
                <a:latin typeface="Arial"/>
                <a:ea typeface="Arial"/>
                <a:cs typeface="Arial"/>
              </a:rPr>
              <a:t>Replacement planning</a:t>
            </a:r>
          </a:p>
        </p:txBody>
      </p:sp>
      <p:sp>
        <p:nvSpPr>
          <p:cNvPr id="10" name="markets-1">
            <a:extLst xmlns:a="http://schemas.openxmlformats.org/drawingml/2006/main">
              <a:ext uri="{FF2B5EF4-FFF2-40B4-BE49-F238E27FC236}">
                <a16:creationId xmlns:a16="http://schemas.microsoft.com/office/drawing/2014/main" id="{5D4C164F-E706-4FD8-8D16-B24D6F0D3C26}"/>
              </a:ext>
            </a:extLst>
          </p:cNvPr>
          <p:cNvSpPr>
            <a:spLocks xmlns:a="http://schemas.openxmlformats.org/drawingml/2006/main" noGrp="1"/>
          </p:cNvSpPr>
          <p:nvPr/>
        </p:nvSpPr>
        <p:spPr>
          <a:xfrm xmlns:a="http://schemas.openxmlformats.org/drawingml/2006/main">
            <a:off x="6238875" y="36290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Illinois</a:t>
            </a:r>
          </a:p>
        </p:txBody>
      </p:sp>
      <p:sp>
        <p:nvSpPr>
          <p:cNvPr id="11" name="path-2">
            <a:extLst xmlns:a="http://schemas.openxmlformats.org/drawingml/2006/main">
              <a:ext uri="{FF2B5EF4-FFF2-40B4-BE49-F238E27FC236}">
                <a16:creationId xmlns:a16="http://schemas.microsoft.com/office/drawing/2014/main" id="{93DDF8F5-144D-4B9D-B8C5-5EB89C365648}"/>
              </a:ext>
            </a:extLst>
          </p:cNvPr>
          <p:cNvSpPr>
            <a:spLocks xmlns:a="http://schemas.openxmlformats.org/drawingml/2006/main" noGrp="1"/>
          </p:cNvSpPr>
          <p:nvPr/>
        </p:nvSpPr>
        <p:spPr>
          <a:xfrm xmlns:a="http://schemas.openxmlformats.org/drawingml/2006/main">
            <a:off x="647700" y="42100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02A43"/>
                </a:solidFill>
                <a:latin typeface="Arial"/>
                <a:ea typeface="Arial"/>
                <a:cs typeface="Arial"/>
              </a:defRPr>
            </a:pPr>
            <a:r>
              <a:rPr sz="2025" b="1">
                <a:solidFill>
                  <a:srgbClr val="102A43"/>
                </a:solidFill>
                <a:latin typeface="Arial"/>
                <a:ea typeface="Arial"/>
                <a:cs typeface="Arial"/>
              </a:rPr>
              <a:t>Parallel work</a:t>
            </a:r>
          </a:p>
        </p:txBody>
      </p:sp>
      <p:sp>
        <p:nvSpPr>
          <p:cNvPr id="12" name="markets-2">
            <a:extLst xmlns:a="http://schemas.openxmlformats.org/drawingml/2006/main">
              <a:ext uri="{FF2B5EF4-FFF2-40B4-BE49-F238E27FC236}">
                <a16:creationId xmlns:a16="http://schemas.microsoft.com/office/drawing/2014/main" id="{09EB19C9-65B0-4281-A99C-E21385BBF209}"/>
              </a:ext>
            </a:extLst>
          </p:cNvPr>
          <p:cNvSpPr>
            <a:spLocks xmlns:a="http://schemas.openxmlformats.org/drawingml/2006/main" noGrp="1"/>
          </p:cNvSpPr>
          <p:nvPr/>
        </p:nvSpPr>
        <p:spPr>
          <a:xfrm xmlns:a="http://schemas.openxmlformats.org/drawingml/2006/main">
            <a:off x="6238875" y="42100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Ohio and New York</a:t>
            </a:r>
          </a:p>
        </p:txBody>
      </p:sp>
      <p:sp>
        <p:nvSpPr>
          <p:cNvPr id="13" name="">
            <a:extLst xmlns:a="http://schemas.openxmlformats.org/drawingml/2006/main">
              <a:ext uri="{FF2B5EF4-FFF2-40B4-BE49-F238E27FC236}">
                <a16:creationId xmlns:a16="http://schemas.microsoft.com/office/drawing/2014/main" id="{D04DA0C2-E1DF-4DD9-AEAA-91C9869838AD}"/>
              </a:ext>
            </a:extLst>
          </p:cNvPr>
          <p:cNvSpPr>
            <a:spLocks xmlns:a="http://schemas.openxmlformats.org/drawingml/2006/main" noGrp="1"/>
          </p:cNvSpPr>
          <p:nvPr/>
        </p:nvSpPr>
        <p:spPr>
          <a:xfrm xmlns:a="http://schemas.openxmlformats.org/drawingml/2006/main">
            <a:off x="647700" y="48577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14" name="research-question">
            <a:extLst xmlns:a="http://schemas.openxmlformats.org/drawingml/2006/main">
              <a:ext uri="{FF2B5EF4-FFF2-40B4-BE49-F238E27FC236}">
                <a16:creationId xmlns:a16="http://schemas.microsoft.com/office/drawing/2014/main" id="{D75583FD-C328-494A-A87F-27F499A0FC4B}"/>
              </a:ext>
            </a:extLst>
          </p:cNvPr>
          <p:cNvSpPr>
            <a:spLocks xmlns:a="http://schemas.openxmlformats.org/drawingml/2006/main" noGrp="1"/>
          </p:cNvSpPr>
          <p:nvPr/>
        </p:nvSpPr>
        <p:spPr>
          <a:xfrm xmlns:a="http://schemas.openxmlformats.org/drawingml/2006/main">
            <a:off x="647700" y="509587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52636E"/>
                </a:solidFill>
                <a:latin typeface="Arial"/>
                <a:ea typeface="Arial"/>
                <a:cs typeface="Arial"/>
              </a:defRPr>
            </a:pPr>
            <a:r>
              <a:rPr sz="1350" b="1">
                <a:solidFill>
                  <a:srgbClr val="52636E"/>
                </a:solidFill>
                <a:latin typeface="Arial"/>
                <a:ea typeface="Arial"/>
                <a:cs typeface="Arial"/>
              </a:rPr>
              <a:t>Research question</a:t>
            </a:r>
          </a:p>
        </p:txBody>
      </p:sp>
      <p:sp>
        <p:nvSpPr>
          <p:cNvPr id="15" name="research">
            <a:extLst xmlns:a="http://schemas.openxmlformats.org/drawingml/2006/main">
              <a:ext uri="{FF2B5EF4-FFF2-40B4-BE49-F238E27FC236}">
                <a16:creationId xmlns:a16="http://schemas.microsoft.com/office/drawing/2014/main" id="{1CF5127A-DC79-4837-8424-396D8FAA1146}"/>
              </a:ext>
            </a:extLst>
          </p:cNvPr>
          <p:cNvSpPr>
            <a:spLocks xmlns:a="http://schemas.openxmlformats.org/drawingml/2006/main" noGrp="1"/>
          </p:cNvSpPr>
          <p:nvPr/>
        </p:nvSpPr>
        <p:spPr>
          <a:xfrm xmlns:a="http://schemas.openxmlformats.org/drawingml/2006/main">
            <a:off x="647700" y="543877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Where are lead service line infrastructure needs greatest across U.S. states?</a:t>
            </a:r>
          </a:p>
        </p:txBody>
      </p:sp>
      <p:sp>
        <p:nvSpPr>
          <p:cNvPr id="16" name="definitions">
            <a:extLst xmlns:a="http://schemas.openxmlformats.org/drawingml/2006/main">
              <a:ext uri="{FF2B5EF4-FFF2-40B4-BE49-F238E27FC236}">
                <a16:creationId xmlns:a16="http://schemas.microsoft.com/office/drawing/2014/main" id="{BA135902-E5A8-410C-B373-C2525C5AE80F}"/>
              </a:ext>
            </a:extLst>
          </p:cNvPr>
          <p:cNvSpPr>
            <a:spLocks xmlns:a="http://schemas.openxmlformats.org/drawingml/2006/main" noGrp="1"/>
          </p:cNvSpPr>
          <p:nvPr/>
        </p:nvSpPr>
        <p:spPr>
          <a:xfrm xmlns:a="http://schemas.openxmlformats.org/drawingml/2006/main">
            <a:off x="647700" y="5924550"/>
            <a:ext cx="1085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36E"/>
                </a:solidFill>
                <a:latin typeface="Arial"/>
                <a:ea typeface="Arial"/>
                <a:cs typeface="Arial"/>
              </a:defRPr>
            </a:pPr>
            <a:r>
              <a:rPr sz="1350" b="0">
                <a:solidFill>
                  <a:srgbClr val="52636E"/>
                </a:solidFill>
                <a:latin typeface="Arial"/>
                <a:ea typeface="Arial"/>
                <a:cs typeface="Arial"/>
              </a:rPr>
              <a:t>Identification = Unknown material     Known Replacement = Lead + GRR</a:t>
            </a:r>
          </a:p>
        </p:txBody>
      </p:sp>
      <p:sp>
        <p:nvSpPr>
          <p:cNvPr id="17" name="grr-definition">
            <a:extLst xmlns:a="http://schemas.openxmlformats.org/drawingml/2006/main">
              <a:ext uri="{FF2B5EF4-FFF2-40B4-BE49-F238E27FC236}">
                <a16:creationId xmlns:a16="http://schemas.microsoft.com/office/drawing/2014/main" id="{1F0E8398-650A-4D11-8172-C38CF17066A0}"/>
              </a:ext>
            </a:extLst>
          </p:cNvPr>
          <p:cNvSpPr>
            <a:spLocks xmlns:a="http://schemas.openxmlformats.org/drawingml/2006/main" noGrp="1"/>
          </p:cNvSpPr>
          <p:nvPr/>
        </p:nvSpPr>
        <p:spPr>
          <a:xfrm xmlns:a="http://schemas.openxmlformats.org/drawingml/2006/main">
            <a:off x="647700" y="6181725"/>
            <a:ext cx="1085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36E"/>
                </a:solidFill>
                <a:latin typeface="Arial"/>
                <a:ea typeface="Arial"/>
                <a:cs typeface="Arial"/>
              </a:defRPr>
            </a:pPr>
            <a:r>
              <a:rPr sz="1125" b="0">
                <a:solidFill>
                  <a:srgbClr val="52636E"/>
                </a:solidFill>
                <a:latin typeface="Arial"/>
                <a:ea typeface="Arial"/>
                <a:cs typeface="Arial"/>
              </a:rPr>
              <a:t>GRR = Galvanized Requiring Replacement</a:t>
            </a:r>
          </a:p>
        </p:txBody>
      </p:sp>
    </p:spTree>
    <p:extLst>
      <p:ext uri="{BB962C8B-B14F-4D97-AF65-F5344CB8AC3E}">
        <p14:creationId xmlns:p14="http://schemas.microsoft.com/office/powerpoint/2010/main" val="1626006380"/>
      </p:ext>
    </p:extLst>
  </p:cSld>
</p:sld>
</file>

<file path=ppt/slides/slide2.xml><?xml version="1.0" encoding="utf-8"?>
<p:sld xmlns:p="http://schemas.openxmlformats.org/presentationml/2006/main" showMasterSp="1">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4" name="kicker-2">
            <a:extLst xmlns:a="http://schemas.openxmlformats.org/drawingml/2006/main">
              <a:ext uri="{FF2B5EF4-FFF2-40B4-BE49-F238E27FC236}">
                <a16:creationId xmlns:a16="http://schemas.microsoft.com/office/drawing/2014/main" id="{06160514-5256-48C6-B784-3B94EA8E4D02}"/>
              </a:ext>
            </a:extLst>
          </p:cNvPr>
          <p:cNvSpPr>
            <a:spLocks xmlns:a="http://schemas.openxmlformats.org/drawingml/2006/main" noGrp="1"/>
          </p:cNvSpPr>
          <p:nvPr/>
        </p:nvSpPr>
        <p:spPr>
          <a:xfrm xmlns:a="http://schemas.openxmlformats.org/drawingml/2006/main">
            <a:off x="647700" y="2476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36E"/>
                </a:solidFill>
                <a:latin typeface="Arial"/>
                <a:ea typeface="Arial"/>
                <a:cs typeface="Arial"/>
              </a:defRPr>
            </a:pPr>
            <a:r>
              <a:rPr sz="1050" b="1">
                <a:solidFill>
                  <a:srgbClr val="52636E"/>
                </a:solidFill>
                <a:latin typeface="Arial"/>
                <a:ea typeface="Arial"/>
                <a:cs typeface="Arial"/>
              </a:rPr>
              <a:t>NATIONAL EVIDENCE</a:t>
            </a:r>
          </a:p>
        </p:txBody>
      </p:sp>
      <p:sp>
        <p:nvSpPr>
          <p:cNvPr id="2" name="title-2">
            <a:extLst xmlns:a="http://schemas.openxmlformats.org/drawingml/2006/main">
              <a:ext uri="{FF2B5EF4-FFF2-40B4-BE49-F238E27FC236}">
                <a16:creationId xmlns:a16="http://schemas.microsoft.com/office/drawing/2014/main" id="{371B6BBC-BF14-4F3C-8AE5-E002932B5941}"/>
              </a:ext>
            </a:extLst>
          </p:cNvPr>
          <p:cNvSpPr>
            <a:spLocks xmlns:a="http://schemas.openxmlformats.org/drawingml/2006/main" noGrp="1"/>
          </p:cNvSpPr>
          <p:nvPr/>
        </p:nvSpPr>
        <p:spPr>
          <a:xfrm xmlns:a="http://schemas.openxmlformats.org/drawingml/2006/main">
            <a:off x="647700" y="6381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Unknown inventory is nearly seven times</a:t>
            </a:r>
          </a:p>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the known replacement inventory</a:t>
            </a:r>
          </a:p>
        </p:txBody>
      </p:sp>
      <p:sp>
        <p:nvSpPr>
          <p:cNvPr id="3" name="">
            <a:extLst xmlns:a="http://schemas.openxmlformats.org/drawingml/2006/main">
              <a:ext uri="{FF2B5EF4-FFF2-40B4-BE49-F238E27FC236}">
                <a16:creationId xmlns:a16="http://schemas.microsoft.com/office/drawing/2014/main" id="{CBA6C24C-7524-4BC1-98DB-D6FE6601C536}"/>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4" name="footer-2">
            <a:extLst xmlns:a="http://schemas.openxmlformats.org/drawingml/2006/main">
              <a:ext uri="{FF2B5EF4-FFF2-40B4-BE49-F238E27FC236}">
                <a16:creationId xmlns:a16="http://schemas.microsoft.com/office/drawing/2014/main" id="{4BC56AB3-EB27-446D-BC39-37E72DAD86B9}"/>
              </a:ext>
            </a:extLst>
          </p:cNvPr>
          <p:cNvSpPr>
            <a:spLocks xmlns:a="http://schemas.openxmlformats.org/drawingml/2006/main" noGrp="1"/>
          </p:cNvSpPr>
          <p:nvPr/>
        </p:nvSpPr>
        <p:spPr>
          <a:xfrm xmlns:a="http://schemas.openxmlformats.org/drawingml/2006/main">
            <a:off x="647700" y="65722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Source: EPA 2026 Q2. Counts reflect the analytical sample, not a complete national estimate.</a:t>
            </a:r>
          </a:p>
        </p:txBody>
      </p:sp>
      <p:sp>
        <p:nvSpPr>
          <p:cNvPr id="5" name="page-2">
            <a:extLst xmlns:a="http://schemas.openxmlformats.org/drawingml/2006/main">
              <a:ext uri="{FF2B5EF4-FFF2-40B4-BE49-F238E27FC236}">
                <a16:creationId xmlns:a16="http://schemas.microsoft.com/office/drawing/2014/main" id="{8525C3E7-2835-451D-A2EB-81910CDEDA0A}"/>
              </a:ext>
            </a:extLst>
          </p:cNvPr>
          <p:cNvSpPr>
            <a:spLocks xmlns:a="http://schemas.openxmlformats.org/drawingml/2006/main" noGrp="1"/>
          </p:cNvSpPr>
          <p:nvPr/>
        </p:nvSpPr>
        <p:spPr>
          <a:xfrm xmlns:a="http://schemas.openxmlformats.org/drawingml/2006/main">
            <a:off x="11363325" y="657225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2</a:t>
            </a:r>
          </a:p>
        </p:txBody>
      </p:sp>
      <p:sp>
        <p:nvSpPr>
          <p:cNvPr id="6" name="chart-subtitle">
            <a:extLst xmlns:a="http://schemas.openxmlformats.org/drawingml/2006/main">
              <a:ext uri="{FF2B5EF4-FFF2-40B4-BE49-F238E27FC236}">
                <a16:creationId xmlns:a16="http://schemas.microsoft.com/office/drawing/2014/main" id="{8EB2390D-42EA-428D-90F4-96CEFFE9BF05}"/>
              </a:ext>
            </a:extLst>
          </p:cNvPr>
          <p:cNvSpPr>
            <a:spLocks xmlns:a="http://schemas.openxmlformats.org/drawingml/2006/main" noGrp="1"/>
          </p:cNvSpPr>
          <p:nvPr/>
        </p:nvSpPr>
        <p:spPr>
          <a:xfrm xmlns:a="http://schemas.openxmlformats.org/drawingml/2006/main">
            <a:off x="647700" y="1771650"/>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36E"/>
                </a:solidFill>
                <a:latin typeface="Arial"/>
                <a:ea typeface="Arial"/>
                <a:cs typeface="Arial"/>
              </a:defRPr>
            </a:pPr>
            <a:r>
              <a:rPr sz="1650" b="0">
                <a:solidFill>
                  <a:srgbClr val="52636E"/>
                </a:solidFill>
                <a:latin typeface="Arial"/>
                <a:ea typeface="Arial"/>
                <a:cs typeface="Arial"/>
              </a:rPr>
              <a:t>Reported service lines, millions</a:t>
            </a:r>
          </a:p>
        </p:txBody>
      </p:sp>
      <p:graphicFrame>
        <p:nvGraphicFramePr>
          <p:cNvPr id="20" name="Chart"/>
          <p:cNvGraphicFramePr/>
          <p:nvPr/>
        </p:nvGraphicFramePr>
        <p:xfrm>
          <a:off xmlns:a="http://schemas.openxmlformats.org/drawingml/2006/main" x="647700" y="2324100"/>
          <a:ext xmlns:a="http://schemas.openxmlformats.org/drawingml/2006/main" cx="7334250" cy="2905125"/>
        </p:xfrm>
        <a:graphic xmlns:a="http://schemas.openxmlformats.org/drawingml/2006/main">
          <a:graphicData uri="http://schemas.openxmlformats.org/drawingml/2006/chart">
            <c:chart xmlns:r="http://schemas.openxmlformats.org/officeDocument/2006/relationships" xmlns:c="http://schemas.openxmlformats.org/drawingml/2006/chart" r:id="R0f258af2f5d241b2"/>
          </a:graphicData>
        </a:graphic>
      </p:graphicFrame>
      <p:sp>
        <p:nvSpPr>
          <p:cNvPr id="8" name="ratio">
            <a:extLst xmlns:a="http://schemas.openxmlformats.org/drawingml/2006/main">
              <a:ext uri="{FF2B5EF4-FFF2-40B4-BE49-F238E27FC236}">
                <a16:creationId xmlns:a16="http://schemas.microsoft.com/office/drawing/2014/main" id="{8CD31935-7CC5-4D03-9004-A3E24CF55D44}"/>
              </a:ext>
            </a:extLst>
          </p:cNvPr>
          <p:cNvSpPr>
            <a:spLocks xmlns:a="http://schemas.openxmlformats.org/drawingml/2006/main" noGrp="1"/>
          </p:cNvSpPr>
          <p:nvPr/>
        </p:nvSpPr>
        <p:spPr>
          <a:xfrm xmlns:a="http://schemas.openxmlformats.org/drawingml/2006/main">
            <a:off x="8743950" y="2133600"/>
            <a:ext cx="2762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250" b="1">
                <a:solidFill>
                  <a:srgbClr val="F07C2B"/>
                </a:solidFill>
                <a:latin typeface="Arial"/>
                <a:ea typeface="Arial"/>
                <a:cs typeface="Arial"/>
              </a:defRPr>
            </a:pPr>
            <a:r>
              <a:rPr sz="5250" b="1">
                <a:solidFill>
                  <a:srgbClr val="F07C2B"/>
                </a:solidFill>
                <a:latin typeface="Arial"/>
                <a:ea typeface="Arial"/>
                <a:cs typeface="Arial"/>
              </a:rPr>
              <a:t>6.9×</a:t>
            </a:r>
          </a:p>
        </p:txBody>
      </p:sp>
      <p:sp>
        <p:nvSpPr>
          <p:cNvPr id="9" name="ratio-explained">
            <a:extLst xmlns:a="http://schemas.openxmlformats.org/drawingml/2006/main">
              <a:ext uri="{FF2B5EF4-FFF2-40B4-BE49-F238E27FC236}">
                <a16:creationId xmlns:a16="http://schemas.microsoft.com/office/drawing/2014/main" id="{CB3F81BC-E544-4429-AEC3-9E03E8D6F5F1}"/>
              </a:ext>
            </a:extLst>
          </p:cNvPr>
          <p:cNvSpPr>
            <a:spLocks xmlns:a="http://schemas.openxmlformats.org/drawingml/2006/main" noGrp="1"/>
          </p:cNvSpPr>
          <p:nvPr/>
        </p:nvSpPr>
        <p:spPr>
          <a:xfrm xmlns:a="http://schemas.openxmlformats.org/drawingml/2006/main">
            <a:off x="8743950" y="30384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102A43"/>
                </a:solidFill>
                <a:latin typeface="Arial"/>
                <a:ea typeface="Arial"/>
                <a:cs typeface="Arial"/>
              </a:defRPr>
            </a:pPr>
            <a:r>
              <a:rPr sz="1800" b="0">
                <a:solidFill>
                  <a:srgbClr val="102A43"/>
                </a:solidFill>
                <a:latin typeface="Arial"/>
                <a:ea typeface="Arial"/>
                <a:cs typeface="Arial"/>
              </a:rPr>
              <a:t>as many Unknown lines</a:t>
            </a:r>
          </a:p>
          <a:p xmlns:a="http://schemas.openxmlformats.org/drawingml/2006/main">
            <a:pPr algn="l">
              <a:defRPr sz="1800" b="0">
                <a:solidFill>
                  <a:srgbClr val="102A43"/>
                </a:solidFill>
                <a:latin typeface="Arial"/>
                <a:ea typeface="Arial"/>
                <a:cs typeface="Arial"/>
              </a:defRPr>
            </a:pPr>
            <a:r>
              <a:rPr sz="1800" b="0">
                <a:solidFill>
                  <a:srgbClr val="102A43"/>
                </a:solidFill>
                <a:latin typeface="Arial"/>
                <a:ea typeface="Arial"/>
                <a:cs typeface="Arial"/>
              </a:rPr>
              <a:t>as known replacement lines</a:t>
            </a:r>
          </a:p>
        </p:txBody>
      </p:sp>
      <p:sp>
        <p:nvSpPr>
          <p:cNvPr id="10" name="jurisdictions">
            <a:extLst xmlns:a="http://schemas.openxmlformats.org/drawingml/2006/main">
              <a:ext uri="{FF2B5EF4-FFF2-40B4-BE49-F238E27FC236}">
                <a16:creationId xmlns:a16="http://schemas.microsoft.com/office/drawing/2014/main" id="{97537BBA-4C96-49C9-91F6-DC62164F417F}"/>
              </a:ext>
            </a:extLst>
          </p:cNvPr>
          <p:cNvSpPr>
            <a:spLocks xmlns:a="http://schemas.openxmlformats.org/drawingml/2006/main" noGrp="1"/>
          </p:cNvSpPr>
          <p:nvPr/>
        </p:nvSpPr>
        <p:spPr>
          <a:xfrm xmlns:a="http://schemas.openxmlformats.org/drawingml/2006/main">
            <a:off x="8743950" y="40862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75" b="1">
                <a:solidFill>
                  <a:srgbClr val="102A43"/>
                </a:solidFill>
                <a:latin typeface="Arial"/>
                <a:ea typeface="Arial"/>
                <a:cs typeface="Arial"/>
              </a:defRPr>
            </a:pPr>
            <a:r>
              <a:rPr sz="3375" b="1">
                <a:solidFill>
                  <a:srgbClr val="102A43"/>
                </a:solidFill>
                <a:latin typeface="Arial"/>
                <a:ea typeface="Arial"/>
                <a:cs typeface="Arial"/>
              </a:rPr>
              <a:t>49 of 51</a:t>
            </a:r>
          </a:p>
        </p:txBody>
      </p:sp>
      <p:sp>
        <p:nvSpPr>
          <p:cNvPr id="11" name="jurisdiction-explained">
            <a:extLst xmlns:a="http://schemas.openxmlformats.org/drawingml/2006/main">
              <a:ext uri="{FF2B5EF4-FFF2-40B4-BE49-F238E27FC236}">
                <a16:creationId xmlns:a16="http://schemas.microsoft.com/office/drawing/2014/main" id="{0997F0FE-CB30-492E-9B67-9031D4129E40}"/>
              </a:ext>
            </a:extLst>
          </p:cNvPr>
          <p:cNvSpPr>
            <a:spLocks xmlns:a="http://schemas.openxmlformats.org/drawingml/2006/main" noGrp="1"/>
          </p:cNvSpPr>
          <p:nvPr/>
        </p:nvSpPr>
        <p:spPr>
          <a:xfrm xmlns:a="http://schemas.openxmlformats.org/drawingml/2006/main">
            <a:off x="8743950" y="4791075"/>
            <a:ext cx="2714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A43"/>
                </a:solidFill>
                <a:latin typeface="Arial"/>
                <a:ea typeface="Arial"/>
                <a:cs typeface="Arial"/>
              </a:defRPr>
            </a:pPr>
            <a:r>
              <a:rPr sz="1725" b="0">
                <a:solidFill>
                  <a:srgbClr val="102A43"/>
                </a:solidFill>
                <a:latin typeface="Arial"/>
                <a:ea typeface="Arial"/>
                <a:cs typeface="Arial"/>
              </a:rPr>
              <a:t>jurisdictions have more</a:t>
            </a:r>
          </a:p>
          <a:p xmlns:a="http://schemas.openxmlformats.org/drawingml/2006/main">
            <a:pPr algn="l">
              <a:defRPr sz="1725" b="0">
                <a:solidFill>
                  <a:srgbClr val="102A43"/>
                </a:solidFill>
                <a:latin typeface="Arial"/>
                <a:ea typeface="Arial"/>
                <a:cs typeface="Arial"/>
              </a:defRPr>
            </a:pPr>
            <a:r>
              <a:rPr sz="1725" b="0">
                <a:solidFill>
                  <a:srgbClr val="102A43"/>
                </a:solidFill>
                <a:latin typeface="Arial"/>
                <a:ea typeface="Arial"/>
                <a:cs typeface="Arial"/>
              </a:rPr>
              <a:t>Unknown than Lead + GRR</a:t>
            </a:r>
          </a:p>
        </p:txBody>
      </p:sp>
      <p:sp>
        <p:nvSpPr>
          <p:cNvPr id="12" name="meaning">
            <a:extLst xmlns:a="http://schemas.openxmlformats.org/drawingml/2006/main">
              <a:ext uri="{FF2B5EF4-FFF2-40B4-BE49-F238E27FC236}">
                <a16:creationId xmlns:a16="http://schemas.microsoft.com/office/drawing/2014/main" id="{290E7DA5-9000-411F-A780-CEEDDC840FE3}"/>
              </a:ext>
            </a:extLst>
          </p:cNvPr>
          <p:cNvSpPr>
            <a:spLocks xmlns:a="http://schemas.openxmlformats.org/drawingml/2006/main" noGrp="1"/>
          </p:cNvSpPr>
          <p:nvPr/>
        </p:nvSpPr>
        <p:spPr>
          <a:xfrm xmlns:a="http://schemas.openxmlformats.org/drawingml/2006/main">
            <a:off x="647700" y="5734050"/>
            <a:ext cx="1071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Unknown lines need classification. Known replacement planning can proceed in parallel.</a:t>
            </a:r>
          </a:p>
        </p:txBody>
      </p:sp>
      <p:sp>
        <p:nvSpPr>
          <p:cNvPr id="13" name="unknown-limit">
            <a:extLst xmlns:a="http://schemas.openxmlformats.org/drawingml/2006/main">
              <a:ext uri="{FF2B5EF4-FFF2-40B4-BE49-F238E27FC236}">
                <a16:creationId xmlns:a16="http://schemas.microsoft.com/office/drawing/2014/main" id="{C99E888A-E5EC-4BE4-9363-1B238A95B510}"/>
              </a:ext>
            </a:extLst>
          </p:cNvPr>
          <p:cNvSpPr>
            <a:spLocks xmlns:a="http://schemas.openxmlformats.org/drawingml/2006/main" noGrp="1"/>
          </p:cNvSpPr>
          <p:nvPr/>
        </p:nvSpPr>
        <p:spPr>
          <a:xfrm xmlns:a="http://schemas.openxmlformats.org/drawingml/2006/main">
            <a:off x="647700" y="6153150"/>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36E"/>
                </a:solidFill>
                <a:latin typeface="Arial"/>
                <a:ea typeface="Arial"/>
                <a:cs typeface="Arial"/>
              </a:defRPr>
            </a:pPr>
            <a:r>
              <a:rPr sz="1275" b="0">
                <a:solidFill>
                  <a:srgbClr val="52636E"/>
                </a:solidFill>
                <a:latin typeface="Arial"/>
                <a:ea typeface="Arial"/>
                <a:cs typeface="Arial"/>
              </a:rPr>
              <a:t>Unknown does not mean lead. Line counts do not measure relative cost or effort.</a:t>
            </a:r>
          </a:p>
        </p:txBody>
      </p:sp>
    </p:spTree>
    <p:extLst>
      <p:ext uri="{BB962C8B-B14F-4D97-AF65-F5344CB8AC3E}">
        <p14:creationId xmlns:p14="http://schemas.microsoft.com/office/powerpoint/2010/main" val="632578974"/>
      </p:ext>
    </p:extLst>
  </p:cSld>
</p:sld>
</file>

<file path=ppt/slides/slide3.xml><?xml version="1.0" encoding="utf-8"?>
<p:sld xmlns:p="http://schemas.openxmlformats.org/presentationml/2006/main" showMasterSp="1">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kicker-3">
            <a:extLst xmlns:a="http://schemas.openxmlformats.org/drawingml/2006/main">
              <a:ext uri="{FF2B5EF4-FFF2-40B4-BE49-F238E27FC236}">
                <a16:creationId xmlns:a16="http://schemas.microsoft.com/office/drawing/2014/main" id="{CB550E93-5B35-466D-AFC8-0C2BFCCDC2A7}"/>
              </a:ext>
            </a:extLst>
          </p:cNvPr>
          <p:cNvSpPr>
            <a:spLocks xmlns:a="http://schemas.openxmlformats.org/drawingml/2006/main" noGrp="1"/>
          </p:cNvSpPr>
          <p:nvPr/>
        </p:nvSpPr>
        <p:spPr>
          <a:xfrm xmlns:a="http://schemas.openxmlformats.org/drawingml/2006/main">
            <a:off x="647700" y="2476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36E"/>
                </a:solidFill>
                <a:latin typeface="Arial"/>
                <a:ea typeface="Arial"/>
                <a:cs typeface="Arial"/>
              </a:defRPr>
            </a:pPr>
            <a:r>
              <a:rPr sz="1050" b="1">
                <a:solidFill>
                  <a:srgbClr val="52636E"/>
                </a:solidFill>
                <a:latin typeface="Arial"/>
                <a:ea typeface="Arial"/>
                <a:cs typeface="Arial"/>
              </a:rPr>
              <a:t>ILLUSTRATIVE MARKETS</a:t>
            </a:r>
          </a:p>
        </p:txBody>
      </p:sp>
      <p:sp>
        <p:nvSpPr>
          <p:cNvPr id="2" name="title-3">
            <a:extLst xmlns:a="http://schemas.openxmlformats.org/drawingml/2006/main">
              <a:ext uri="{FF2B5EF4-FFF2-40B4-BE49-F238E27FC236}">
                <a16:creationId xmlns:a16="http://schemas.microsoft.com/office/drawing/2014/main" id="{F78E3DFC-1944-4FDE-B5D3-7E341F877E09}"/>
              </a:ext>
            </a:extLst>
          </p:cNvPr>
          <p:cNvSpPr>
            <a:spLocks xmlns:a="http://schemas.openxmlformats.org/drawingml/2006/main" noGrp="1"/>
          </p:cNvSpPr>
          <p:nvPr/>
        </p:nvSpPr>
        <p:spPr>
          <a:xfrm xmlns:a="http://schemas.openxmlformats.org/drawingml/2006/main">
            <a:off x="647700" y="6381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Different inventory mixes support</a:t>
            </a:r>
          </a:p>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different service emphases</a:t>
            </a:r>
          </a:p>
        </p:txBody>
      </p:sp>
      <p:sp>
        <p:nvSpPr>
          <p:cNvPr id="3" name="">
            <a:extLst xmlns:a="http://schemas.openxmlformats.org/drawingml/2006/main">
              <a:ext uri="{FF2B5EF4-FFF2-40B4-BE49-F238E27FC236}">
                <a16:creationId xmlns:a16="http://schemas.microsoft.com/office/drawing/2014/main" id="{A572E2DE-5175-41CB-A121-9E68482658A1}"/>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4" name="footer-3">
            <a:extLst xmlns:a="http://schemas.openxmlformats.org/drawingml/2006/main">
              <a:ext uri="{FF2B5EF4-FFF2-40B4-BE49-F238E27FC236}">
                <a16:creationId xmlns:a16="http://schemas.microsoft.com/office/drawing/2014/main" id="{25A0D99B-7C5E-46DB-A9A3-1A1AD5A1C230}"/>
              </a:ext>
            </a:extLst>
          </p:cNvPr>
          <p:cNvSpPr>
            <a:spLocks xmlns:a="http://schemas.openxmlformats.org/drawingml/2006/main" noGrp="1"/>
          </p:cNvSpPr>
          <p:nvPr/>
        </p:nvSpPr>
        <p:spPr>
          <a:xfrm xmlns:a="http://schemas.openxmlformats.org/drawingml/2006/main">
            <a:off x="647700" y="65722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Source: EPA 2026 Q2. Illustrative candidates; not statistical clusters or an exhaustive shortlist.</a:t>
            </a:r>
          </a:p>
        </p:txBody>
      </p:sp>
      <p:sp>
        <p:nvSpPr>
          <p:cNvPr id="5" name="page-3">
            <a:extLst xmlns:a="http://schemas.openxmlformats.org/drawingml/2006/main">
              <a:ext uri="{FF2B5EF4-FFF2-40B4-BE49-F238E27FC236}">
                <a16:creationId xmlns:a16="http://schemas.microsoft.com/office/drawing/2014/main" id="{CDCD7154-04AC-4377-A1B1-8761B57BF0B3}"/>
              </a:ext>
            </a:extLst>
          </p:cNvPr>
          <p:cNvSpPr>
            <a:spLocks xmlns:a="http://schemas.openxmlformats.org/drawingml/2006/main" noGrp="1"/>
          </p:cNvSpPr>
          <p:nvPr/>
        </p:nvSpPr>
        <p:spPr>
          <a:xfrm xmlns:a="http://schemas.openxmlformats.org/drawingml/2006/main">
            <a:off x="11363325" y="657225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3</a:t>
            </a:r>
          </a:p>
        </p:txBody>
      </p:sp>
      <p:sp>
        <p:nvSpPr>
          <p:cNvPr id="6" name="legend-blue">
            <a:extLst xmlns:a="http://schemas.openxmlformats.org/drawingml/2006/main">
              <a:ext uri="{FF2B5EF4-FFF2-40B4-BE49-F238E27FC236}">
                <a16:creationId xmlns:a16="http://schemas.microsoft.com/office/drawing/2014/main" id="{0FCDB76D-881D-4739-91E8-42E276EFA789}"/>
              </a:ext>
            </a:extLst>
          </p:cNvPr>
          <p:cNvSpPr>
            <a:spLocks xmlns:a="http://schemas.openxmlformats.org/drawingml/2006/main" noGrp="1"/>
          </p:cNvSpPr>
          <p:nvPr/>
        </p:nvSpPr>
        <p:spPr>
          <a:xfrm xmlns:a="http://schemas.openxmlformats.org/drawingml/2006/main">
            <a:off x="647700" y="1743075"/>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3F73C7"/>
                </a:solidFill>
                <a:latin typeface="Arial"/>
                <a:ea typeface="Arial"/>
                <a:cs typeface="Arial"/>
              </a:defRPr>
            </a:pPr>
            <a:r>
              <a:rPr sz="1500" b="1">
                <a:solidFill>
                  <a:srgbClr val="3F73C7"/>
                </a:solidFill>
                <a:latin typeface="Arial"/>
                <a:ea typeface="Arial"/>
                <a:cs typeface="Arial"/>
              </a:rPr>
              <a:t>Known Replacement (Lead + GRR)</a:t>
            </a:r>
          </a:p>
        </p:txBody>
      </p:sp>
      <p:sp>
        <p:nvSpPr>
          <p:cNvPr id="7" name="legend-orange">
            <a:extLst xmlns:a="http://schemas.openxmlformats.org/drawingml/2006/main">
              <a:ext uri="{FF2B5EF4-FFF2-40B4-BE49-F238E27FC236}">
                <a16:creationId xmlns:a16="http://schemas.microsoft.com/office/drawing/2014/main" id="{7ADEE650-90B6-4BB2-B1B1-A214852FAA3B}"/>
              </a:ext>
            </a:extLst>
          </p:cNvPr>
          <p:cNvSpPr>
            <a:spLocks xmlns:a="http://schemas.openxmlformats.org/drawingml/2006/main" noGrp="1"/>
          </p:cNvSpPr>
          <p:nvPr/>
        </p:nvSpPr>
        <p:spPr>
          <a:xfrm xmlns:a="http://schemas.openxmlformats.org/drawingml/2006/main">
            <a:off x="5086350" y="1743075"/>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F07C2B"/>
                </a:solidFill>
                <a:latin typeface="Arial"/>
                <a:ea typeface="Arial"/>
                <a:cs typeface="Arial"/>
              </a:defRPr>
            </a:pPr>
            <a:r>
              <a:rPr sz="1500" b="1">
                <a:solidFill>
                  <a:srgbClr val="F07C2B"/>
                </a:solidFill>
                <a:latin typeface="Arial"/>
                <a:ea typeface="Arial"/>
                <a:cs typeface="Arial"/>
              </a:rPr>
              <a:t>Lead Status Unknown</a:t>
            </a:r>
          </a:p>
        </p:txBody>
      </p:sp>
      <p:graphicFrame>
        <p:nvGraphicFramePr>
          <p:cNvPr id="24" name="Chart"/>
          <p:cNvGraphicFramePr/>
          <p:nvPr/>
        </p:nvGraphicFramePr>
        <p:xfrm>
          <a:off xmlns:a="http://schemas.openxmlformats.org/drawingml/2006/main" x="647700" y="2238375"/>
          <a:ext xmlns:a="http://schemas.openxmlformats.org/drawingml/2006/main" cx="7477125" cy="3228975"/>
        </p:xfrm>
        <a:graphic xmlns:a="http://schemas.openxmlformats.org/drawingml/2006/main">
          <a:graphicData uri="http://schemas.openxmlformats.org/drawingml/2006/chart">
            <c:chart xmlns:r="http://schemas.openxmlformats.org/officeDocument/2006/relationships" xmlns:c="http://schemas.openxmlformats.org/drawingml/2006/chart" r:id="Rdd0b403cd6bd49af"/>
          </a:graphicData>
        </a:graphic>
      </p:graphicFrame>
      <p:sp>
        <p:nvSpPr>
          <p:cNvPr id="9" name="chart-unit">
            <a:extLst xmlns:a="http://schemas.openxmlformats.org/drawingml/2006/main">
              <a:ext uri="{FF2B5EF4-FFF2-40B4-BE49-F238E27FC236}">
                <a16:creationId xmlns:a16="http://schemas.microsoft.com/office/drawing/2014/main" id="{CDADF65A-D3FA-4EAF-A9F3-00095F32CEF3}"/>
              </a:ext>
            </a:extLst>
          </p:cNvPr>
          <p:cNvSpPr>
            <a:spLocks xmlns:a="http://schemas.openxmlformats.org/drawingml/2006/main" noGrp="1"/>
          </p:cNvSpPr>
          <p:nvPr/>
        </p:nvSpPr>
        <p:spPr>
          <a:xfrm xmlns:a="http://schemas.openxmlformats.org/drawingml/2006/main">
            <a:off x="2190750" y="554355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36E"/>
                </a:solidFill>
                <a:latin typeface="Arial"/>
                <a:ea typeface="Arial"/>
                <a:cs typeface="Arial"/>
              </a:defRPr>
            </a:pPr>
            <a:r>
              <a:rPr sz="1275" b="0">
                <a:solidFill>
                  <a:srgbClr val="52636E"/>
                </a:solidFill>
                <a:latin typeface="Arial"/>
                <a:ea typeface="Arial"/>
                <a:cs typeface="Arial"/>
              </a:rPr>
              <a:t>Reported service lines, millions</a:t>
            </a:r>
          </a:p>
        </p:txBody>
      </p:sp>
      <p:sp>
        <p:nvSpPr>
          <p:cNvPr id="10" name="emphasis-0">
            <a:extLst xmlns:a="http://schemas.openxmlformats.org/drawingml/2006/main">
              <a:ext uri="{FF2B5EF4-FFF2-40B4-BE49-F238E27FC236}">
                <a16:creationId xmlns:a16="http://schemas.microsoft.com/office/drawing/2014/main" id="{04F7C176-3A44-439A-9B2C-D55AF1CFFB01}"/>
              </a:ext>
            </a:extLst>
          </p:cNvPr>
          <p:cNvSpPr>
            <a:spLocks xmlns:a="http://schemas.openxmlformats.org/drawingml/2006/main" noGrp="1"/>
          </p:cNvSpPr>
          <p:nvPr/>
        </p:nvSpPr>
        <p:spPr>
          <a:xfrm xmlns:a="http://schemas.openxmlformats.org/drawingml/2006/main">
            <a:off x="8582025" y="2247900"/>
            <a:ext cx="295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F07C2B"/>
                </a:solidFill>
                <a:latin typeface="Arial"/>
                <a:ea typeface="Arial"/>
                <a:cs typeface="Arial"/>
              </a:defRPr>
            </a:pPr>
            <a:r>
              <a:rPr sz="1725" b="1">
                <a:solidFill>
                  <a:srgbClr val="F07C2B"/>
                </a:solidFill>
                <a:latin typeface="Arial"/>
                <a:ea typeface="Arial"/>
                <a:cs typeface="Arial"/>
              </a:rPr>
              <a:t>Identification emphasis</a:t>
            </a:r>
          </a:p>
        </p:txBody>
      </p:sp>
      <p:sp>
        <p:nvSpPr>
          <p:cNvPr id="11" name="states-0">
            <a:extLst xmlns:a="http://schemas.openxmlformats.org/drawingml/2006/main">
              <a:ext uri="{FF2B5EF4-FFF2-40B4-BE49-F238E27FC236}">
                <a16:creationId xmlns:a16="http://schemas.microsoft.com/office/drawing/2014/main" id="{008A4E1A-AD59-43DB-B224-46C126EBDF6F}"/>
              </a:ext>
            </a:extLst>
          </p:cNvPr>
          <p:cNvSpPr>
            <a:spLocks xmlns:a="http://schemas.openxmlformats.org/drawingml/2006/main" noGrp="1"/>
          </p:cNvSpPr>
          <p:nvPr/>
        </p:nvSpPr>
        <p:spPr>
          <a:xfrm xmlns:a="http://schemas.openxmlformats.org/drawingml/2006/main">
            <a:off x="8582025" y="26479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Texas + Pennsylvania</a:t>
            </a:r>
          </a:p>
        </p:txBody>
      </p:sp>
      <p:sp>
        <p:nvSpPr>
          <p:cNvPr id="12" name="emphasis-1">
            <a:extLst xmlns:a="http://schemas.openxmlformats.org/drawingml/2006/main">
              <a:ext uri="{FF2B5EF4-FFF2-40B4-BE49-F238E27FC236}">
                <a16:creationId xmlns:a16="http://schemas.microsoft.com/office/drawing/2014/main" id="{450317CE-EF6E-42FD-861D-3E1D7F226E13}"/>
              </a:ext>
            </a:extLst>
          </p:cNvPr>
          <p:cNvSpPr>
            <a:spLocks xmlns:a="http://schemas.openxmlformats.org/drawingml/2006/main" noGrp="1"/>
          </p:cNvSpPr>
          <p:nvPr/>
        </p:nvSpPr>
        <p:spPr>
          <a:xfrm xmlns:a="http://schemas.openxmlformats.org/drawingml/2006/main">
            <a:off x="8582025" y="3314700"/>
            <a:ext cx="295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3F73C7"/>
                </a:solidFill>
                <a:latin typeface="Arial"/>
                <a:ea typeface="Arial"/>
                <a:cs typeface="Arial"/>
              </a:defRPr>
            </a:pPr>
            <a:r>
              <a:rPr sz="1725" b="1">
                <a:solidFill>
                  <a:srgbClr val="3F73C7"/>
                </a:solidFill>
                <a:latin typeface="Arial"/>
                <a:ea typeface="Arial"/>
                <a:cs typeface="Arial"/>
              </a:rPr>
              <a:t>Replacement planning</a:t>
            </a:r>
          </a:p>
        </p:txBody>
      </p:sp>
      <p:sp>
        <p:nvSpPr>
          <p:cNvPr id="13" name="states-1">
            <a:extLst xmlns:a="http://schemas.openxmlformats.org/drawingml/2006/main">
              <a:ext uri="{FF2B5EF4-FFF2-40B4-BE49-F238E27FC236}">
                <a16:creationId xmlns:a16="http://schemas.microsoft.com/office/drawing/2014/main" id="{DE087A5D-2AAA-4A43-8A16-3DF6DA9AD984}"/>
              </a:ext>
            </a:extLst>
          </p:cNvPr>
          <p:cNvSpPr>
            <a:spLocks xmlns:a="http://schemas.openxmlformats.org/drawingml/2006/main" noGrp="1"/>
          </p:cNvSpPr>
          <p:nvPr/>
        </p:nvSpPr>
        <p:spPr>
          <a:xfrm xmlns:a="http://schemas.openxmlformats.org/drawingml/2006/main">
            <a:off x="8582025" y="37147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Illinois</a:t>
            </a:r>
          </a:p>
        </p:txBody>
      </p:sp>
      <p:sp>
        <p:nvSpPr>
          <p:cNvPr id="14" name="emphasis-2">
            <a:extLst xmlns:a="http://schemas.openxmlformats.org/drawingml/2006/main">
              <a:ext uri="{FF2B5EF4-FFF2-40B4-BE49-F238E27FC236}">
                <a16:creationId xmlns:a16="http://schemas.microsoft.com/office/drawing/2014/main" id="{BD139E0F-4264-4B59-BEC5-8DB96DF43A8E}"/>
              </a:ext>
            </a:extLst>
          </p:cNvPr>
          <p:cNvSpPr>
            <a:spLocks xmlns:a="http://schemas.openxmlformats.org/drawingml/2006/main" noGrp="1"/>
          </p:cNvSpPr>
          <p:nvPr/>
        </p:nvSpPr>
        <p:spPr>
          <a:xfrm xmlns:a="http://schemas.openxmlformats.org/drawingml/2006/main">
            <a:off x="8582025" y="4381500"/>
            <a:ext cx="2952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Arial"/>
                <a:ea typeface="Arial"/>
                <a:cs typeface="Arial"/>
              </a:defRPr>
            </a:pPr>
            <a:r>
              <a:rPr sz="1725" b="1">
                <a:solidFill>
                  <a:srgbClr val="102A43"/>
                </a:solidFill>
                <a:latin typeface="Arial"/>
                <a:ea typeface="Arial"/>
                <a:cs typeface="Arial"/>
              </a:rPr>
              <a:t>Parallel work</a:t>
            </a:r>
          </a:p>
        </p:txBody>
      </p:sp>
      <p:sp>
        <p:nvSpPr>
          <p:cNvPr id="15" name="states-2">
            <a:extLst xmlns:a="http://schemas.openxmlformats.org/drawingml/2006/main">
              <a:ext uri="{FF2B5EF4-FFF2-40B4-BE49-F238E27FC236}">
                <a16:creationId xmlns:a16="http://schemas.microsoft.com/office/drawing/2014/main" id="{60E490F9-FEAF-4CF4-9045-3BB52F5D1E96}"/>
              </a:ext>
            </a:extLst>
          </p:cNvPr>
          <p:cNvSpPr>
            <a:spLocks xmlns:a="http://schemas.openxmlformats.org/drawingml/2006/main" noGrp="1"/>
          </p:cNvSpPr>
          <p:nvPr/>
        </p:nvSpPr>
        <p:spPr>
          <a:xfrm xmlns:a="http://schemas.openxmlformats.org/drawingml/2006/main">
            <a:off x="8582025" y="4781550"/>
            <a:ext cx="295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Ohio + New York</a:t>
            </a:r>
          </a:p>
        </p:txBody>
      </p:sp>
      <p:sp>
        <p:nvSpPr>
          <p:cNvPr id="16" name="coverage">
            <a:extLst xmlns:a="http://schemas.openxmlformats.org/drawingml/2006/main">
              <a:ext uri="{FF2B5EF4-FFF2-40B4-BE49-F238E27FC236}">
                <a16:creationId xmlns:a16="http://schemas.microsoft.com/office/drawing/2014/main" id="{B4D44C1D-7E2E-4654-B7D0-525E0F1EF628}"/>
              </a:ext>
            </a:extLst>
          </p:cNvPr>
          <p:cNvSpPr>
            <a:spLocks xmlns:a="http://schemas.openxmlformats.org/drawingml/2006/main" noGrp="1"/>
          </p:cNvSpPr>
          <p:nvPr/>
        </p:nvSpPr>
        <p:spPr>
          <a:xfrm xmlns:a="http://schemas.openxmlformats.org/drawingml/2006/main">
            <a:off x="647700" y="6029325"/>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36E"/>
                </a:solidFill>
                <a:latin typeface="Arial"/>
                <a:ea typeface="Arial"/>
                <a:cs typeface="Arial"/>
              </a:defRPr>
            </a:pPr>
            <a:r>
              <a:rPr sz="1500" b="0">
                <a:solidFill>
                  <a:srgbClr val="52636E"/>
                </a:solidFill>
                <a:latin typeface="Arial"/>
                <a:ea typeface="Arial"/>
                <a:cs typeface="Arial"/>
              </a:rPr>
              <a:t>Complete-report coverage in these states: 91.4%–98.3% of listed systems.</a:t>
            </a:r>
          </a:p>
        </p:txBody>
      </p:sp>
    </p:spTree>
    <p:extLst>
      <p:ext uri="{BB962C8B-B14F-4D97-AF65-F5344CB8AC3E}">
        <p14:creationId xmlns:p14="http://schemas.microsoft.com/office/powerpoint/2010/main" val="736379869"/>
      </p:ext>
    </p:extLst>
  </p:cSld>
</p:sld>
</file>

<file path=ppt/slides/slide4.xml><?xml version="1.0" encoding="utf-8"?>
<p:sld xmlns:p="http://schemas.openxmlformats.org/presentationml/2006/main" showMasterSp="1">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kicker-4">
            <a:extLst xmlns:a="http://schemas.openxmlformats.org/drawingml/2006/main">
              <a:ext uri="{FF2B5EF4-FFF2-40B4-BE49-F238E27FC236}">
                <a16:creationId xmlns:a16="http://schemas.microsoft.com/office/drawing/2014/main" id="{1C74C281-6FB7-4E30-9987-D0DE621A2C44}"/>
              </a:ext>
            </a:extLst>
          </p:cNvPr>
          <p:cNvSpPr>
            <a:spLocks xmlns:a="http://schemas.openxmlformats.org/drawingml/2006/main" noGrp="1"/>
          </p:cNvSpPr>
          <p:nvPr/>
        </p:nvSpPr>
        <p:spPr>
          <a:xfrm xmlns:a="http://schemas.openxmlformats.org/drawingml/2006/main">
            <a:off x="647700" y="2476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36E"/>
                </a:solidFill>
                <a:latin typeface="Arial"/>
                <a:ea typeface="Arial"/>
                <a:cs typeface="Arial"/>
              </a:defRPr>
            </a:pPr>
            <a:r>
              <a:rPr sz="1050" b="1">
                <a:solidFill>
                  <a:srgbClr val="52636E"/>
                </a:solidFill>
                <a:latin typeface="Arial"/>
                <a:ea typeface="Arial"/>
                <a:cs typeface="Arial"/>
              </a:rPr>
              <a:t>INTERPRETATION AND DATA QUALITY</a:t>
            </a:r>
          </a:p>
        </p:txBody>
      </p:sp>
      <p:sp>
        <p:nvSpPr>
          <p:cNvPr id="2" name="title-4">
            <a:extLst xmlns:a="http://schemas.openxmlformats.org/drawingml/2006/main">
              <a:ext uri="{FF2B5EF4-FFF2-40B4-BE49-F238E27FC236}">
                <a16:creationId xmlns:a16="http://schemas.microsoft.com/office/drawing/2014/main" id="{4D733D1E-E4E4-44B4-B7F4-00F3AD20087A}"/>
              </a:ext>
            </a:extLst>
          </p:cNvPr>
          <p:cNvSpPr>
            <a:spLocks xmlns:a="http://schemas.openxmlformats.org/drawingml/2006/main" noGrp="1"/>
          </p:cNvSpPr>
          <p:nvPr/>
        </p:nvSpPr>
        <p:spPr>
          <a:xfrm xmlns:a="http://schemas.openxmlformats.org/drawingml/2006/main">
            <a:off x="647700" y="6381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Population context changes comparisons</a:t>
            </a:r>
          </a:p>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Reporting gaps also limit market conclusions</a:t>
            </a:r>
          </a:p>
        </p:txBody>
      </p:sp>
      <p:sp>
        <p:nvSpPr>
          <p:cNvPr id="3" name="">
            <a:extLst xmlns:a="http://schemas.openxmlformats.org/drawingml/2006/main">
              <a:ext uri="{FF2B5EF4-FFF2-40B4-BE49-F238E27FC236}">
                <a16:creationId xmlns:a16="http://schemas.microsoft.com/office/drawing/2014/main" id="{5155A941-46E6-4678-971E-DEEEFED4B1CA}"/>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4" name="footer-4">
            <a:extLst xmlns:a="http://schemas.openxmlformats.org/drawingml/2006/main">
              <a:ext uri="{FF2B5EF4-FFF2-40B4-BE49-F238E27FC236}">
                <a16:creationId xmlns:a16="http://schemas.microsoft.com/office/drawing/2014/main" id="{429AC365-C6A6-4D77-AD0A-D23B6A793ECC}"/>
              </a:ext>
            </a:extLst>
          </p:cNvPr>
          <p:cNvSpPr>
            <a:spLocks xmlns:a="http://schemas.openxmlformats.org/drawingml/2006/main" noGrp="1"/>
          </p:cNvSpPr>
          <p:nvPr/>
        </p:nvSpPr>
        <p:spPr>
          <a:xfrm xmlns:a="http://schemas.openxmlformats.org/drawingml/2006/main">
            <a:off x="647700" y="65722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Sources: EPA 2026 Q2 and Census 2025. Each chart contains 50 states and DC.</a:t>
            </a:r>
          </a:p>
        </p:txBody>
      </p:sp>
      <p:sp>
        <p:nvSpPr>
          <p:cNvPr id="5" name="page-4">
            <a:extLst xmlns:a="http://schemas.openxmlformats.org/drawingml/2006/main">
              <a:ext uri="{FF2B5EF4-FFF2-40B4-BE49-F238E27FC236}">
                <a16:creationId xmlns:a16="http://schemas.microsoft.com/office/drawing/2014/main" id="{F0EA94BA-F66A-4043-87C0-5BCFDA245EB9}"/>
              </a:ext>
            </a:extLst>
          </p:cNvPr>
          <p:cNvSpPr>
            <a:spLocks xmlns:a="http://schemas.openxmlformats.org/drawingml/2006/main" noGrp="1"/>
          </p:cNvSpPr>
          <p:nvPr/>
        </p:nvSpPr>
        <p:spPr>
          <a:xfrm xmlns:a="http://schemas.openxmlformats.org/drawingml/2006/main">
            <a:off x="11363325" y="657225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4</a:t>
            </a:r>
          </a:p>
        </p:txBody>
      </p:sp>
      <p:sp>
        <p:nvSpPr>
          <p:cNvPr id="6" name="raw-label">
            <a:extLst xmlns:a="http://schemas.openxmlformats.org/drawingml/2006/main">
              <a:ext uri="{FF2B5EF4-FFF2-40B4-BE49-F238E27FC236}">
                <a16:creationId xmlns:a16="http://schemas.microsoft.com/office/drawing/2014/main" id="{E8C57CD1-3790-434C-82B8-F6B76F92C701}"/>
              </a:ext>
            </a:extLst>
          </p:cNvPr>
          <p:cNvSpPr>
            <a:spLocks xmlns:a="http://schemas.openxmlformats.org/drawingml/2006/main" noGrp="1"/>
          </p:cNvSpPr>
          <p:nvPr/>
        </p:nvSpPr>
        <p:spPr>
          <a:xfrm xmlns:a="http://schemas.openxmlformats.org/drawingml/2006/main">
            <a:off x="647700" y="1724025"/>
            <a:ext cx="5095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Absolute inventory</a:t>
            </a:r>
          </a:p>
        </p:txBody>
      </p:sp>
      <p:sp>
        <p:nvSpPr>
          <p:cNvPr id="7" name="normalized-label">
            <a:extLst xmlns:a="http://schemas.openxmlformats.org/drawingml/2006/main">
              <a:ext uri="{FF2B5EF4-FFF2-40B4-BE49-F238E27FC236}">
                <a16:creationId xmlns:a16="http://schemas.microsoft.com/office/drawing/2014/main" id="{BA7F8A28-00D7-4309-A8DA-D89E4F6A69C4}"/>
              </a:ext>
            </a:extLst>
          </p:cNvPr>
          <p:cNvSpPr>
            <a:spLocks xmlns:a="http://schemas.openxmlformats.org/drawingml/2006/main" noGrp="1"/>
          </p:cNvSpPr>
          <p:nvPr/>
        </p:nvSpPr>
        <p:spPr>
          <a:xfrm xmlns:a="http://schemas.openxmlformats.org/drawingml/2006/main">
            <a:off x="6410325" y="1724025"/>
            <a:ext cx="5114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Inventory per 10,000 residents</a:t>
            </a:r>
          </a:p>
        </p:txBody>
      </p:sp>
      <p:graphicFrame>
        <p:nvGraphicFramePr>
          <p:cNvPr id="24" name="Chart"/>
          <p:cNvGraphicFramePr/>
          <p:nvPr/>
        </p:nvGraphicFramePr>
        <p:xfrm>
          <a:off xmlns:a="http://schemas.openxmlformats.org/drawingml/2006/main" x="647700" y="2371725"/>
          <a:ext xmlns:a="http://schemas.openxmlformats.org/drawingml/2006/main" cx="5143500" cy="2476500"/>
        </p:xfrm>
        <a:graphic xmlns:a="http://schemas.openxmlformats.org/drawingml/2006/main">
          <a:graphicData uri="http://schemas.openxmlformats.org/drawingml/2006/chart">
            <c:chart xmlns:r="http://schemas.openxmlformats.org/officeDocument/2006/relationships" xmlns:c="http://schemas.openxmlformats.org/drawingml/2006/chart" r:id="R61986c3a97a1498c"/>
          </a:graphicData>
        </a:graphic>
      </p:graphicFrame>
      <p:sp>
        <p:nvSpPr>
          <p:cNvPr id="9" name="x-false">
            <a:extLst xmlns:a="http://schemas.openxmlformats.org/drawingml/2006/main">
              <a:ext uri="{FF2B5EF4-FFF2-40B4-BE49-F238E27FC236}">
                <a16:creationId xmlns:a16="http://schemas.microsoft.com/office/drawing/2014/main" id="{ECAF730D-A5B8-4A01-9E85-B54A62910E14}"/>
              </a:ext>
            </a:extLst>
          </p:cNvPr>
          <p:cNvSpPr>
            <a:spLocks xmlns:a="http://schemas.openxmlformats.org/drawingml/2006/main" noGrp="1"/>
          </p:cNvSpPr>
          <p:nvPr/>
        </p:nvSpPr>
        <p:spPr>
          <a:xfrm xmlns:a="http://schemas.openxmlformats.org/drawingml/2006/main">
            <a:off x="1314450" y="4895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36E"/>
                </a:solidFill>
                <a:latin typeface="Arial"/>
                <a:ea typeface="Arial"/>
                <a:cs typeface="Arial"/>
              </a:defRPr>
            </a:pPr>
            <a:r>
              <a:rPr sz="1200" b="0">
                <a:solidFill>
                  <a:srgbClr val="52636E"/>
                </a:solidFill>
                <a:latin typeface="Arial"/>
                <a:ea typeface="Arial"/>
                <a:cs typeface="Arial"/>
              </a:rPr>
              <a:t>Known Replacement (millions)</a:t>
            </a:r>
          </a:p>
        </p:txBody>
      </p:sp>
      <p:sp>
        <p:nvSpPr>
          <p:cNvPr id="10" name="y-false">
            <a:extLst xmlns:a="http://schemas.openxmlformats.org/drawingml/2006/main">
              <a:ext uri="{FF2B5EF4-FFF2-40B4-BE49-F238E27FC236}">
                <a16:creationId xmlns:a16="http://schemas.microsoft.com/office/drawing/2014/main" id="{46F53839-F562-4805-859F-A93545360A63}"/>
              </a:ext>
            </a:extLst>
          </p:cNvPr>
          <p:cNvSpPr>
            <a:spLocks xmlns:a="http://schemas.openxmlformats.org/drawingml/2006/main" noGrp="1"/>
          </p:cNvSpPr>
          <p:nvPr/>
        </p:nvSpPr>
        <p:spPr>
          <a:xfrm xmlns:a="http://schemas.openxmlformats.org/drawingml/2006/main">
            <a:off x="647700" y="20574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36E"/>
                </a:solidFill>
                <a:latin typeface="Arial"/>
                <a:ea typeface="Arial"/>
                <a:cs typeface="Arial"/>
              </a:defRPr>
            </a:pPr>
            <a:r>
              <a:rPr sz="1125" b="0">
                <a:solidFill>
                  <a:srgbClr val="52636E"/>
                </a:solidFill>
                <a:latin typeface="Arial"/>
                <a:ea typeface="Arial"/>
                <a:cs typeface="Arial"/>
              </a:rPr>
              <a:t>Y axis: Unknown (millions)</a:t>
            </a:r>
          </a:p>
        </p:txBody>
      </p:sp>
      <p:graphicFrame>
        <p:nvGraphicFramePr>
          <p:cNvPr id="27" name="Chart"/>
          <p:cNvGraphicFramePr/>
          <p:nvPr/>
        </p:nvGraphicFramePr>
        <p:xfrm>
          <a:off xmlns:a="http://schemas.openxmlformats.org/drawingml/2006/main" x="6410325" y="2371725"/>
          <a:ext xmlns:a="http://schemas.openxmlformats.org/drawingml/2006/main" cx="5143500" cy="2476500"/>
        </p:xfrm>
        <a:graphic xmlns:a="http://schemas.openxmlformats.org/drawingml/2006/main">
          <a:graphicData uri="http://schemas.openxmlformats.org/drawingml/2006/chart">
            <c:chart xmlns:r="http://schemas.openxmlformats.org/officeDocument/2006/relationships" xmlns:c="http://schemas.openxmlformats.org/drawingml/2006/chart" r:id="Rdb366f5451ca4c6a"/>
          </a:graphicData>
        </a:graphic>
      </p:graphicFrame>
      <p:sp>
        <p:nvSpPr>
          <p:cNvPr id="12" name="x-true">
            <a:extLst xmlns:a="http://schemas.openxmlformats.org/drawingml/2006/main">
              <a:ext uri="{FF2B5EF4-FFF2-40B4-BE49-F238E27FC236}">
                <a16:creationId xmlns:a16="http://schemas.microsoft.com/office/drawing/2014/main" id="{0103B013-4AF8-4828-81F3-EC13A3240797}"/>
              </a:ext>
            </a:extLst>
          </p:cNvPr>
          <p:cNvSpPr>
            <a:spLocks xmlns:a="http://schemas.openxmlformats.org/drawingml/2006/main" noGrp="1"/>
          </p:cNvSpPr>
          <p:nvPr/>
        </p:nvSpPr>
        <p:spPr>
          <a:xfrm xmlns:a="http://schemas.openxmlformats.org/drawingml/2006/main">
            <a:off x="7077075" y="4895850"/>
            <a:ext cx="452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36E"/>
                </a:solidFill>
                <a:latin typeface="Arial"/>
                <a:ea typeface="Arial"/>
                <a:cs typeface="Arial"/>
              </a:defRPr>
            </a:pPr>
            <a:r>
              <a:rPr sz="1200" b="0">
                <a:solidFill>
                  <a:srgbClr val="52636E"/>
                </a:solidFill>
                <a:latin typeface="Arial"/>
                <a:ea typeface="Arial"/>
                <a:cs typeface="Arial"/>
              </a:rPr>
              <a:t>Known Replacement per 10,000 residents</a:t>
            </a:r>
          </a:p>
        </p:txBody>
      </p:sp>
      <p:sp>
        <p:nvSpPr>
          <p:cNvPr id="13" name="y-true">
            <a:extLst xmlns:a="http://schemas.openxmlformats.org/drawingml/2006/main">
              <a:ext uri="{FF2B5EF4-FFF2-40B4-BE49-F238E27FC236}">
                <a16:creationId xmlns:a16="http://schemas.microsoft.com/office/drawing/2014/main" id="{F6DC59C6-896F-4401-9F74-176858B77CB7}"/>
              </a:ext>
            </a:extLst>
          </p:cNvPr>
          <p:cNvSpPr>
            <a:spLocks xmlns:a="http://schemas.openxmlformats.org/drawingml/2006/main" noGrp="1"/>
          </p:cNvSpPr>
          <p:nvPr/>
        </p:nvSpPr>
        <p:spPr>
          <a:xfrm xmlns:a="http://schemas.openxmlformats.org/drawingml/2006/main">
            <a:off x="6410325" y="20574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125" b="0">
                <a:solidFill>
                  <a:srgbClr val="52636E"/>
                </a:solidFill>
                <a:latin typeface="Arial"/>
                <a:ea typeface="Arial"/>
                <a:cs typeface="Arial"/>
              </a:defRPr>
            </a:pPr>
            <a:r>
              <a:rPr sz="1125" b="0">
                <a:solidFill>
                  <a:srgbClr val="52636E"/>
                </a:solidFill>
                <a:latin typeface="Arial"/>
                <a:ea typeface="Arial"/>
                <a:cs typeface="Arial"/>
              </a:rPr>
              <a:t>Y axis: Unknown per 10,000 residents</a:t>
            </a:r>
          </a:p>
        </p:txBody>
      </p:sp>
      <p:sp>
        <p:nvSpPr>
          <p:cNvPr id="14" name="overlap">
            <a:extLst xmlns:a="http://schemas.openxmlformats.org/drawingml/2006/main">
              <a:ext uri="{FF2B5EF4-FFF2-40B4-BE49-F238E27FC236}">
                <a16:creationId xmlns:a16="http://schemas.microsoft.com/office/drawing/2014/main" id="{1D2C8736-18DB-4EFA-8973-724DF3CA51FB}"/>
              </a:ext>
            </a:extLst>
          </p:cNvPr>
          <p:cNvSpPr>
            <a:spLocks xmlns:a="http://schemas.openxmlformats.org/drawingml/2006/main" noGrp="1"/>
          </p:cNvSpPr>
          <p:nvPr/>
        </p:nvSpPr>
        <p:spPr>
          <a:xfrm xmlns:a="http://schemas.openxmlformats.org/drawingml/2006/main">
            <a:off x="647700" y="528637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02A43"/>
                </a:solidFill>
                <a:latin typeface="Arial"/>
                <a:ea typeface="Arial"/>
                <a:cs typeface="Arial"/>
              </a:defRPr>
            </a:pPr>
            <a:r>
              <a:rPr sz="1725" b="1">
                <a:solidFill>
                  <a:srgbClr val="102A43"/>
                </a:solidFill>
                <a:latin typeface="Arial"/>
                <a:ea typeface="Arial"/>
                <a:cs typeface="Arial"/>
              </a:rPr>
              <a:t>Raw top 10 retained after population adjustment: 6/10 replacement; 3/10 Unknown.</a:t>
            </a:r>
          </a:p>
        </p:txBody>
      </p:sp>
      <p:sp>
        <p:nvSpPr>
          <p:cNvPr id="15" name="coverage-limit">
            <a:extLst xmlns:a="http://schemas.openxmlformats.org/drawingml/2006/main">
              <a:ext uri="{FF2B5EF4-FFF2-40B4-BE49-F238E27FC236}">
                <a16:creationId xmlns:a16="http://schemas.microsoft.com/office/drawing/2014/main" id="{7563FEAB-23B2-4F29-9F1A-95C3A83A8F4C}"/>
              </a:ext>
            </a:extLst>
          </p:cNvPr>
          <p:cNvSpPr>
            <a:spLocks xmlns:a="http://schemas.openxmlformats.org/drawingml/2006/main" noGrp="1"/>
          </p:cNvSpPr>
          <p:nvPr/>
        </p:nvSpPr>
        <p:spPr>
          <a:xfrm xmlns:a="http://schemas.openxmlformats.org/drawingml/2006/main">
            <a:off x="647700" y="57245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02A43"/>
                </a:solidFill>
                <a:latin typeface="Arial"/>
                <a:ea typeface="Arial"/>
                <a:cs typeface="Arial"/>
              </a:defRPr>
            </a:pPr>
            <a:r>
              <a:rPr sz="1575" b="0">
                <a:solidFill>
                  <a:srgbClr val="102A43"/>
                </a:solidFill>
                <a:latin typeface="Arial"/>
                <a:ea typeface="Arial"/>
                <a:cs typeface="Arial"/>
              </a:rPr>
              <a:t>New Hampshire: only 3 of 706 listed systems enter the sample. Low totals can reflect reporting gaps.</a:t>
            </a:r>
          </a:p>
        </p:txBody>
      </p:sp>
      <p:sp>
        <p:nvSpPr>
          <p:cNvPr id="16" name="rates-limit">
            <a:extLst xmlns:a="http://schemas.openxmlformats.org/drawingml/2006/main">
              <a:ext uri="{FF2B5EF4-FFF2-40B4-BE49-F238E27FC236}">
                <a16:creationId xmlns:a16="http://schemas.microsoft.com/office/drawing/2014/main" id="{53DDCB11-B9A6-42CD-887B-74A54661EEA2}"/>
              </a:ext>
            </a:extLst>
          </p:cNvPr>
          <p:cNvSpPr>
            <a:spLocks xmlns:a="http://schemas.openxmlformats.org/drawingml/2006/main" noGrp="1"/>
          </p:cNvSpPr>
          <p:nvPr/>
        </p:nvSpPr>
        <p:spPr>
          <a:xfrm xmlns:a="http://schemas.openxmlformats.org/drawingml/2006/main">
            <a:off x="647700" y="61150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36E"/>
                </a:solidFill>
                <a:latin typeface="Arial"/>
                <a:ea typeface="Arial"/>
                <a:cs typeface="Arial"/>
              </a:defRPr>
            </a:pPr>
            <a:r>
              <a:rPr sz="1275" b="0">
                <a:solidFill>
                  <a:srgbClr val="52636E"/>
                </a:solidFill>
                <a:latin typeface="Arial"/>
                <a:ea typeface="Arial"/>
                <a:cs typeface="Arial"/>
              </a:rPr>
              <a:t>System coverage is not line coverage. Population rates do not estimate affected residents.</a:t>
            </a:r>
          </a:p>
        </p:txBody>
      </p:sp>
    </p:spTree>
    <p:extLst>
      <p:ext uri="{BB962C8B-B14F-4D97-AF65-F5344CB8AC3E}">
        <p14:creationId xmlns:p14="http://schemas.microsoft.com/office/powerpoint/2010/main" val="1129794713"/>
      </p:ext>
    </p:extLst>
  </p:cSld>
</p:sld>
</file>

<file path=ppt/slides/slide5.xml><?xml version="1.0" encoding="utf-8"?>
<p:sld xmlns:p="http://schemas.openxmlformats.org/presentationml/2006/main" showMasterSp="1">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9" name="kicker-5">
            <a:extLst xmlns:a="http://schemas.openxmlformats.org/drawingml/2006/main">
              <a:ext uri="{FF2B5EF4-FFF2-40B4-BE49-F238E27FC236}">
                <a16:creationId xmlns:a16="http://schemas.microsoft.com/office/drawing/2014/main" id="{EBA4B8B7-C52B-42D8-97E7-A46E4D9980A9}"/>
              </a:ext>
            </a:extLst>
          </p:cNvPr>
          <p:cNvSpPr>
            <a:spLocks xmlns:a="http://schemas.openxmlformats.org/drawingml/2006/main" noGrp="1"/>
          </p:cNvSpPr>
          <p:nvPr/>
        </p:nvSpPr>
        <p:spPr>
          <a:xfrm xmlns:a="http://schemas.openxmlformats.org/drawingml/2006/main">
            <a:off x="647700" y="247650"/>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52636E"/>
                </a:solidFill>
                <a:latin typeface="Arial"/>
                <a:ea typeface="Arial"/>
                <a:cs typeface="Arial"/>
              </a:defRPr>
            </a:pPr>
            <a:r>
              <a:rPr sz="1050" b="1">
                <a:solidFill>
                  <a:srgbClr val="52636E"/>
                </a:solidFill>
                <a:latin typeface="Arial"/>
                <a:ea typeface="Arial"/>
                <a:cs typeface="Arial"/>
              </a:rPr>
              <a:t>PROPOSED NEXT ACTION</a:t>
            </a:r>
          </a:p>
        </p:txBody>
      </p:sp>
      <p:sp>
        <p:nvSpPr>
          <p:cNvPr id="2" name="title-5">
            <a:extLst xmlns:a="http://schemas.openxmlformats.org/drawingml/2006/main">
              <a:ext uri="{FF2B5EF4-FFF2-40B4-BE49-F238E27FC236}">
                <a16:creationId xmlns:a16="http://schemas.microsoft.com/office/drawing/2014/main" id="{3E06503A-3EEF-4E85-83F7-40ECA8F46919}"/>
              </a:ext>
            </a:extLst>
          </p:cNvPr>
          <p:cNvSpPr>
            <a:spLocks xmlns:a="http://schemas.openxmlformats.org/drawingml/2006/main" noGrp="1"/>
          </p:cNvSpPr>
          <p:nvPr/>
        </p:nvSpPr>
        <p:spPr>
          <a:xfrm xmlns:a="http://schemas.openxmlformats.org/drawingml/2006/main">
            <a:off x="647700" y="638175"/>
            <a:ext cx="108966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Utility screening should determine</a:t>
            </a:r>
          </a:p>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which pilots move forward</a:t>
            </a:r>
          </a:p>
        </p:txBody>
      </p:sp>
      <p:sp>
        <p:nvSpPr>
          <p:cNvPr id="3" name="">
            <a:extLst xmlns:a="http://schemas.openxmlformats.org/drawingml/2006/main">
              <a:ext uri="{FF2B5EF4-FFF2-40B4-BE49-F238E27FC236}">
                <a16:creationId xmlns:a16="http://schemas.microsoft.com/office/drawing/2014/main" id="{25D9F48D-C3D1-490D-AB40-898F8E6D7EDE}"/>
              </a:ext>
            </a:extLst>
          </p:cNvPr>
          <p:cNvSpPr>
            <a:spLocks xmlns:a="http://schemas.openxmlformats.org/drawingml/2006/main" noGrp="1"/>
          </p:cNvSpPr>
          <p:nvPr/>
        </p:nvSpPr>
        <p:spPr>
          <a:xfrm xmlns:a="http://schemas.openxmlformats.org/drawingml/2006/main">
            <a:off x="647700" y="641985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4" name="footer-5">
            <a:extLst xmlns:a="http://schemas.openxmlformats.org/drawingml/2006/main">
              <a:ext uri="{FF2B5EF4-FFF2-40B4-BE49-F238E27FC236}">
                <a16:creationId xmlns:a16="http://schemas.microsoft.com/office/drawing/2014/main" id="{88058303-B529-453C-BF4F-172F8F0F2E8E}"/>
              </a:ext>
            </a:extLst>
          </p:cNvPr>
          <p:cNvSpPr>
            <a:spLocks xmlns:a="http://schemas.openxmlformats.org/drawingml/2006/main" noGrp="1"/>
          </p:cNvSpPr>
          <p:nvPr/>
        </p:nvSpPr>
        <p:spPr>
          <a:xfrm xmlns:a="http://schemas.openxmlformats.org/drawingml/2006/main">
            <a:off x="647700" y="6572250"/>
            <a:ext cx="10382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Xylem capability sources: 2022 Asset Performance Optimization brochure pp 4–5; smart asset-management page.</a:t>
            </a:r>
          </a:p>
        </p:txBody>
      </p:sp>
      <p:sp>
        <p:nvSpPr>
          <p:cNvPr id="5" name="page-5">
            <a:extLst xmlns:a="http://schemas.openxmlformats.org/drawingml/2006/main">
              <a:ext uri="{FF2B5EF4-FFF2-40B4-BE49-F238E27FC236}">
                <a16:creationId xmlns:a16="http://schemas.microsoft.com/office/drawing/2014/main" id="{F6A11321-57FB-48CF-B28C-CEFB73CAE5CE}"/>
              </a:ext>
            </a:extLst>
          </p:cNvPr>
          <p:cNvSpPr>
            <a:spLocks xmlns:a="http://schemas.openxmlformats.org/drawingml/2006/main" noGrp="1"/>
          </p:cNvSpPr>
          <p:nvPr/>
        </p:nvSpPr>
        <p:spPr>
          <a:xfrm xmlns:a="http://schemas.openxmlformats.org/drawingml/2006/main">
            <a:off x="11363325" y="6572250"/>
            <a:ext cx="19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900" b="0">
                <a:solidFill>
                  <a:srgbClr val="52636E"/>
                </a:solidFill>
                <a:latin typeface="Arial"/>
                <a:ea typeface="Arial"/>
                <a:cs typeface="Arial"/>
              </a:defRPr>
            </a:pPr>
            <a:r>
              <a:rPr sz="900" b="0">
                <a:solidFill>
                  <a:srgbClr val="52636E"/>
                </a:solidFill>
                <a:latin typeface="Arial"/>
                <a:ea typeface="Arial"/>
                <a:cs typeface="Arial"/>
              </a:rPr>
              <a:t>5</a:t>
            </a:r>
          </a:p>
        </p:txBody>
      </p:sp>
      <p:sp>
        <p:nvSpPr>
          <p:cNvPr id="6" name="fit">
            <a:extLst xmlns:a="http://schemas.openxmlformats.org/drawingml/2006/main">
              <a:ext uri="{FF2B5EF4-FFF2-40B4-BE49-F238E27FC236}">
                <a16:creationId xmlns:a16="http://schemas.microsoft.com/office/drawing/2014/main" id="{BE35695A-56DC-42D5-875C-AB5EAAD907DD}"/>
              </a:ext>
            </a:extLst>
          </p:cNvPr>
          <p:cNvSpPr>
            <a:spLocks xmlns:a="http://schemas.openxmlformats.org/drawingml/2006/main" noGrp="1"/>
          </p:cNvSpPr>
          <p:nvPr/>
        </p:nvSpPr>
        <p:spPr>
          <a:xfrm xmlns:a="http://schemas.openxmlformats.org/drawingml/2006/main">
            <a:off x="647700" y="1790700"/>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Documented Xylem capabilities support the approach</a:t>
            </a:r>
          </a:p>
        </p:txBody>
      </p:sp>
      <p:sp>
        <p:nvSpPr>
          <p:cNvPr id="7" name="fit-detail">
            <a:extLst xmlns:a="http://schemas.openxmlformats.org/drawingml/2006/main">
              <a:ext uri="{FF2B5EF4-FFF2-40B4-BE49-F238E27FC236}">
                <a16:creationId xmlns:a16="http://schemas.microsoft.com/office/drawing/2014/main" id="{10A67A0F-D5A9-466A-BC95-C915D8D26A05}"/>
              </a:ext>
            </a:extLst>
          </p:cNvPr>
          <p:cNvSpPr>
            <a:spLocks xmlns:a="http://schemas.openxmlformats.org/drawingml/2006/main" noGrp="1"/>
          </p:cNvSpPr>
          <p:nvPr/>
        </p:nvSpPr>
        <p:spPr>
          <a:xfrm xmlns:a="http://schemas.openxmlformats.org/drawingml/2006/main">
            <a:off x="647700" y="2181225"/>
            <a:ext cx="106394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102A43"/>
                </a:solidFill>
                <a:latin typeface="Arial"/>
                <a:ea typeface="Arial"/>
                <a:cs typeface="Arial"/>
              </a:defRPr>
            </a:pPr>
            <a:r>
              <a:rPr sz="1725" b="0">
                <a:solidFill>
                  <a:srgbClr val="102A43"/>
                </a:solidFill>
                <a:latin typeface="Arial"/>
                <a:ea typeface="Arial"/>
                <a:cs typeface="Arial"/>
              </a:rPr>
              <a:t>Detection, inventory development, funding assistance and replacement planning.</a:t>
            </a:r>
          </a:p>
          <a:p xmlns:a="http://schemas.openxmlformats.org/drawingml/2006/main">
            <a:pPr algn="l">
              <a:defRPr sz="1725" b="0">
                <a:solidFill>
                  <a:srgbClr val="102A43"/>
                </a:solidFill>
                <a:latin typeface="Arial"/>
                <a:ea typeface="Arial"/>
                <a:cs typeface="Arial"/>
              </a:defRPr>
            </a:pPr>
            <a:r>
              <a:rPr sz="1725" b="0">
                <a:solidFill>
                  <a:srgbClr val="102A43"/>
                </a:solidFill>
                <a:latin typeface="Arial"/>
                <a:ea typeface="Arial"/>
                <a:cs typeface="Arial"/>
              </a:rPr>
              <a:t>Confirm current service scope with Xylem before designing an engagement.</a:t>
            </a:r>
          </a:p>
        </p:txBody>
      </p:sp>
      <p:sp>
        <p:nvSpPr>
          <p:cNvPr id="8" name="">
            <a:extLst xmlns:a="http://schemas.openxmlformats.org/drawingml/2006/main">
              <a:ext uri="{FF2B5EF4-FFF2-40B4-BE49-F238E27FC236}">
                <a16:creationId xmlns:a16="http://schemas.microsoft.com/office/drawing/2014/main" id="{2255D5C4-F050-44BF-B2DE-EE5BC0CC201C}"/>
              </a:ext>
            </a:extLst>
          </p:cNvPr>
          <p:cNvSpPr>
            <a:spLocks xmlns:a="http://schemas.openxmlformats.org/drawingml/2006/main" noGrp="1"/>
          </p:cNvSpPr>
          <p:nvPr/>
        </p:nvSpPr>
        <p:spPr>
          <a:xfrm xmlns:a="http://schemas.openxmlformats.org/drawingml/2006/main">
            <a:off x="647700" y="3009900"/>
            <a:ext cx="10896600" cy="0"/>
          </a:xfrm>
          <a:prstGeom xmlns:a="http://schemas.openxmlformats.org/drawingml/2006/main" prst="line">
            <a:avLst/>
          </a:prstGeom>
          <a:noFill xmlns:a="http://schemas.openxmlformats.org/drawingml/2006/main"/>
          <a:ln xmlns:a="http://schemas.openxmlformats.org/drawingml/2006/main" w="9525">
            <a:solidFill>
              <a:srgbClr val="DCE1E4"/>
            </a:solidFill>
          </a:ln>
        </p:spPr>
      </p:sp>
      <p:sp>
        <p:nvSpPr>
          <p:cNvPr id="9" name="step-number-0">
            <a:extLst xmlns:a="http://schemas.openxmlformats.org/drawingml/2006/main">
              <a:ext uri="{FF2B5EF4-FFF2-40B4-BE49-F238E27FC236}">
                <a16:creationId xmlns:a16="http://schemas.microsoft.com/office/drawing/2014/main" id="{3B6744E2-81AC-4BE4-8A2C-7E07CB173A84}"/>
              </a:ext>
            </a:extLst>
          </p:cNvPr>
          <p:cNvSpPr>
            <a:spLocks xmlns:a="http://schemas.openxmlformats.org/drawingml/2006/main" noGrp="1"/>
          </p:cNvSpPr>
          <p:nvPr/>
        </p:nvSpPr>
        <p:spPr>
          <a:xfrm xmlns:a="http://schemas.openxmlformats.org/drawingml/2006/main">
            <a:off x="647700" y="3286125"/>
            <a:ext cx="72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07C2B"/>
                </a:solidFill>
                <a:latin typeface="Arial"/>
                <a:ea typeface="Arial"/>
                <a:cs typeface="Arial"/>
              </a:defRPr>
            </a:pPr>
            <a:r>
              <a:rPr sz="2250" b="1">
                <a:solidFill>
                  <a:srgbClr val="F07C2B"/>
                </a:solidFill>
                <a:latin typeface="Arial"/>
                <a:ea typeface="Arial"/>
                <a:cs typeface="Arial"/>
              </a:rPr>
              <a:t>01</a:t>
            </a:r>
          </a:p>
        </p:txBody>
      </p:sp>
      <p:sp>
        <p:nvSpPr>
          <p:cNvPr id="10" name="step-title-0">
            <a:extLst xmlns:a="http://schemas.openxmlformats.org/drawingml/2006/main">
              <a:ext uri="{FF2B5EF4-FFF2-40B4-BE49-F238E27FC236}">
                <a16:creationId xmlns:a16="http://schemas.microsoft.com/office/drawing/2014/main" id="{0B4918EC-D4F6-45A9-9CBE-37B78F345A00}"/>
              </a:ext>
            </a:extLst>
          </p:cNvPr>
          <p:cNvSpPr>
            <a:spLocks xmlns:a="http://schemas.openxmlformats.org/drawingml/2006/main" noGrp="1"/>
          </p:cNvSpPr>
          <p:nvPr/>
        </p:nvSpPr>
        <p:spPr>
          <a:xfrm xmlns:a="http://schemas.openxmlformats.org/drawingml/2006/main">
            <a:off x="1600200" y="3286125"/>
            <a:ext cx="3400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02A43"/>
                </a:solidFill>
                <a:latin typeface="Arial"/>
                <a:ea typeface="Arial"/>
                <a:cs typeface="Arial"/>
              </a:defRPr>
            </a:pPr>
            <a:r>
              <a:rPr sz="2025" b="1">
                <a:solidFill>
                  <a:srgbClr val="102A43"/>
                </a:solidFill>
                <a:latin typeface="Arial"/>
                <a:ea typeface="Arial"/>
                <a:cs typeface="Arial"/>
              </a:rPr>
              <a:t>Screen utilities</a:t>
            </a:r>
          </a:p>
        </p:txBody>
      </p:sp>
      <p:sp>
        <p:nvSpPr>
          <p:cNvPr id="11" name="step-body-0">
            <a:extLst xmlns:a="http://schemas.openxmlformats.org/drawingml/2006/main">
              <a:ext uri="{FF2B5EF4-FFF2-40B4-BE49-F238E27FC236}">
                <a16:creationId xmlns:a16="http://schemas.microsoft.com/office/drawing/2014/main" id="{29FE5E62-7627-40AD-A2B8-3471ED1DC836}"/>
              </a:ext>
            </a:extLst>
          </p:cNvPr>
          <p:cNvSpPr>
            <a:spLocks xmlns:a="http://schemas.openxmlformats.org/drawingml/2006/main" noGrp="1"/>
          </p:cNvSpPr>
          <p:nvPr/>
        </p:nvSpPr>
        <p:spPr>
          <a:xfrm xmlns:a="http://schemas.openxmlformats.org/drawingml/2006/main">
            <a:off x="5619750" y="328612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Review material records and GIS.</a:t>
            </a:r>
          </a:p>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Assess funding, access and capacity.</a:t>
            </a:r>
          </a:p>
        </p:txBody>
      </p:sp>
      <p:sp>
        <p:nvSpPr>
          <p:cNvPr id="12" name="step-number-1">
            <a:extLst xmlns:a="http://schemas.openxmlformats.org/drawingml/2006/main">
              <a:ext uri="{FF2B5EF4-FFF2-40B4-BE49-F238E27FC236}">
                <a16:creationId xmlns:a16="http://schemas.microsoft.com/office/drawing/2014/main" id="{E0397C1E-A040-4C50-913F-2B4D2839B2B9}"/>
              </a:ext>
            </a:extLst>
          </p:cNvPr>
          <p:cNvSpPr>
            <a:spLocks xmlns:a="http://schemas.openxmlformats.org/drawingml/2006/main" noGrp="1"/>
          </p:cNvSpPr>
          <p:nvPr/>
        </p:nvSpPr>
        <p:spPr>
          <a:xfrm xmlns:a="http://schemas.openxmlformats.org/drawingml/2006/main">
            <a:off x="647700" y="4152900"/>
            <a:ext cx="72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3F73C7"/>
                </a:solidFill>
                <a:latin typeface="Arial"/>
                <a:ea typeface="Arial"/>
                <a:cs typeface="Arial"/>
              </a:defRPr>
            </a:pPr>
            <a:r>
              <a:rPr sz="2250" b="1">
                <a:solidFill>
                  <a:srgbClr val="3F73C7"/>
                </a:solidFill>
                <a:latin typeface="Arial"/>
                <a:ea typeface="Arial"/>
                <a:cs typeface="Arial"/>
              </a:rPr>
              <a:t>02</a:t>
            </a:r>
          </a:p>
        </p:txBody>
      </p:sp>
      <p:sp>
        <p:nvSpPr>
          <p:cNvPr id="13" name="step-title-1">
            <a:extLst xmlns:a="http://schemas.openxmlformats.org/drawingml/2006/main">
              <a:ext uri="{FF2B5EF4-FFF2-40B4-BE49-F238E27FC236}">
                <a16:creationId xmlns:a16="http://schemas.microsoft.com/office/drawing/2014/main" id="{089799C6-32E7-45D5-912F-81E82B304712}"/>
              </a:ext>
            </a:extLst>
          </p:cNvPr>
          <p:cNvSpPr>
            <a:spLocks xmlns:a="http://schemas.openxmlformats.org/drawingml/2006/main" noGrp="1"/>
          </p:cNvSpPr>
          <p:nvPr/>
        </p:nvSpPr>
        <p:spPr>
          <a:xfrm xmlns:a="http://schemas.openxmlformats.org/drawingml/2006/main">
            <a:off x="1600200" y="4152900"/>
            <a:ext cx="3400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02A43"/>
                </a:solidFill>
                <a:latin typeface="Arial"/>
                <a:ea typeface="Arial"/>
                <a:cs typeface="Arial"/>
              </a:defRPr>
            </a:pPr>
            <a:r>
              <a:rPr sz="2025" b="1">
                <a:solidFill>
                  <a:srgbClr val="102A43"/>
                </a:solidFill>
                <a:latin typeface="Arial"/>
                <a:ea typeface="Arial"/>
                <a:cs typeface="Arial"/>
              </a:rPr>
              <a:t>Define the pilot</a:t>
            </a:r>
          </a:p>
        </p:txBody>
      </p:sp>
      <p:sp>
        <p:nvSpPr>
          <p:cNvPr id="14" name="step-body-1">
            <a:extLst xmlns:a="http://schemas.openxmlformats.org/drawingml/2006/main">
              <a:ext uri="{FF2B5EF4-FFF2-40B4-BE49-F238E27FC236}">
                <a16:creationId xmlns:a16="http://schemas.microsoft.com/office/drawing/2014/main" id="{BA5144BB-778B-4365-9C05-E6A3826A6BFA}"/>
              </a:ext>
            </a:extLst>
          </p:cNvPr>
          <p:cNvSpPr>
            <a:spLocks xmlns:a="http://schemas.openxmlformats.org/drawingml/2006/main" noGrp="1"/>
          </p:cNvSpPr>
          <p:nvPr/>
        </p:nvSpPr>
        <p:spPr>
          <a:xfrm xmlns:a="http://schemas.openxmlformats.org/drawingml/2006/main">
            <a:off x="5619750" y="415290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Agree on scope and starting inventory.</a:t>
            </a:r>
          </a:p>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Set a baseline and targets with the utility.</a:t>
            </a:r>
          </a:p>
        </p:txBody>
      </p:sp>
      <p:sp>
        <p:nvSpPr>
          <p:cNvPr id="15" name="step-number-2">
            <a:extLst xmlns:a="http://schemas.openxmlformats.org/drawingml/2006/main">
              <a:ext uri="{FF2B5EF4-FFF2-40B4-BE49-F238E27FC236}">
                <a16:creationId xmlns:a16="http://schemas.microsoft.com/office/drawing/2014/main" id="{8C3C4B6A-49A6-46C1-99DB-B9D25AE10921}"/>
              </a:ext>
            </a:extLst>
          </p:cNvPr>
          <p:cNvSpPr>
            <a:spLocks xmlns:a="http://schemas.openxmlformats.org/drawingml/2006/main" noGrp="1"/>
          </p:cNvSpPr>
          <p:nvPr/>
        </p:nvSpPr>
        <p:spPr>
          <a:xfrm xmlns:a="http://schemas.openxmlformats.org/drawingml/2006/main">
            <a:off x="647700" y="5019675"/>
            <a:ext cx="723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3F73C7"/>
                </a:solidFill>
                <a:latin typeface="Arial"/>
                <a:ea typeface="Arial"/>
                <a:cs typeface="Arial"/>
              </a:defRPr>
            </a:pPr>
            <a:r>
              <a:rPr sz="2250" b="1">
                <a:solidFill>
                  <a:srgbClr val="3F73C7"/>
                </a:solidFill>
                <a:latin typeface="Arial"/>
                <a:ea typeface="Arial"/>
                <a:cs typeface="Arial"/>
              </a:rPr>
              <a:t>03</a:t>
            </a:r>
          </a:p>
        </p:txBody>
      </p:sp>
      <p:sp>
        <p:nvSpPr>
          <p:cNvPr id="16" name="step-title-2">
            <a:extLst xmlns:a="http://schemas.openxmlformats.org/drawingml/2006/main">
              <a:ext uri="{FF2B5EF4-FFF2-40B4-BE49-F238E27FC236}">
                <a16:creationId xmlns:a16="http://schemas.microsoft.com/office/drawing/2014/main" id="{160A6B0B-CB7D-4A0F-87F9-830ACE8B99D4}"/>
              </a:ext>
            </a:extLst>
          </p:cNvPr>
          <p:cNvSpPr>
            <a:spLocks xmlns:a="http://schemas.openxmlformats.org/drawingml/2006/main" noGrp="1"/>
          </p:cNvSpPr>
          <p:nvPr/>
        </p:nvSpPr>
        <p:spPr>
          <a:xfrm xmlns:a="http://schemas.openxmlformats.org/drawingml/2006/main">
            <a:off x="1600200" y="5019675"/>
            <a:ext cx="34004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102A43"/>
                </a:solidFill>
                <a:latin typeface="Arial"/>
                <a:ea typeface="Arial"/>
                <a:cs typeface="Arial"/>
              </a:defRPr>
            </a:pPr>
            <a:r>
              <a:rPr sz="2025" b="1">
                <a:solidFill>
                  <a:srgbClr val="102A43"/>
                </a:solidFill>
                <a:latin typeface="Arial"/>
                <a:ea typeface="Arial"/>
                <a:cs typeface="Arial"/>
              </a:rPr>
              <a:t>Evaluate results</a:t>
            </a:r>
          </a:p>
        </p:txBody>
      </p:sp>
      <p:sp>
        <p:nvSpPr>
          <p:cNvPr id="17" name="step-body-2">
            <a:extLst xmlns:a="http://schemas.openxmlformats.org/drawingml/2006/main">
              <a:ext uri="{FF2B5EF4-FFF2-40B4-BE49-F238E27FC236}">
                <a16:creationId xmlns:a16="http://schemas.microsoft.com/office/drawing/2014/main" id="{82171419-CB85-4FBA-BB7E-A0F77147C7D1}"/>
              </a:ext>
            </a:extLst>
          </p:cNvPr>
          <p:cNvSpPr>
            <a:spLocks xmlns:a="http://schemas.openxmlformats.org/drawingml/2006/main" noGrp="1"/>
          </p:cNvSpPr>
          <p:nvPr/>
        </p:nvSpPr>
        <p:spPr>
          <a:xfrm xmlns:a="http://schemas.openxmlformats.org/drawingml/2006/main">
            <a:off x="5619750" y="50196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Track classification and cost per verified line.</a:t>
            </a:r>
          </a:p>
          <a:p xmlns:a="http://schemas.openxmlformats.org/drawingml/2006/main">
            <a:pPr algn="l">
              <a:defRPr sz="1650" b="0">
                <a:solidFill>
                  <a:srgbClr val="102A43"/>
                </a:solidFill>
                <a:latin typeface="Arial"/>
                <a:ea typeface="Arial"/>
                <a:cs typeface="Arial"/>
              </a:defRPr>
            </a:pPr>
            <a:r>
              <a:rPr sz="1650" b="0">
                <a:solidFill>
                  <a:srgbClr val="102A43"/>
                </a:solidFill>
                <a:latin typeface="Arial"/>
                <a:ea typeface="Arial"/>
                <a:cs typeface="Arial"/>
              </a:rPr>
              <a:t>Review progress toward replacement plans.</a:t>
            </a:r>
          </a:p>
        </p:txBody>
      </p:sp>
      <p:sp>
        <p:nvSpPr>
          <p:cNvPr id="18" name="next-question">
            <a:extLst xmlns:a="http://schemas.openxmlformats.org/drawingml/2006/main">
              <a:ext uri="{FF2B5EF4-FFF2-40B4-BE49-F238E27FC236}">
                <a16:creationId xmlns:a16="http://schemas.microsoft.com/office/drawing/2014/main" id="{FD46E97E-F42B-45FF-B908-F2E3C0C481FC}"/>
              </a:ext>
            </a:extLst>
          </p:cNvPr>
          <p:cNvSpPr>
            <a:spLocks xmlns:a="http://schemas.openxmlformats.org/drawingml/2006/main" noGrp="1"/>
          </p:cNvSpPr>
          <p:nvPr/>
        </p:nvSpPr>
        <p:spPr>
          <a:xfrm xmlns:a="http://schemas.openxmlformats.org/drawingml/2006/main">
            <a:off x="647700" y="598170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02A43"/>
                </a:solidFill>
                <a:latin typeface="Arial"/>
                <a:ea typeface="Arial"/>
                <a:cs typeface="Arial"/>
              </a:defRPr>
            </a:pPr>
            <a:r>
              <a:rPr sz="1800" b="1">
                <a:solidFill>
                  <a:srgbClr val="102A43"/>
                </a:solidFill>
                <a:latin typeface="Arial"/>
                <a:ea typeface="Arial"/>
                <a:cs typeface="Arial"/>
              </a:rPr>
              <a:t>Which utilities have the inventory needs, data, funding and capacity to support a pilot?</a:t>
            </a:r>
          </a:p>
        </p:txBody>
      </p:sp>
    </p:spTree>
    <p:extLst>
      <p:ext uri="{BB962C8B-B14F-4D97-AF65-F5344CB8AC3E}">
        <p14:creationId xmlns:p14="http://schemas.microsoft.com/office/powerpoint/2010/main" val="1504394081"/>
      </p:ext>
    </p:extLst>
  </p:cSld>
</p:sld>
</file>

<file path=ppt/theme/theme1.xml><?xml version="1.0" encoding="utf-8"?>
<a:theme xmlns:a="http://schemas.openxmlformats.org/drawingml/2006/main"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a:ea typeface="Helvetica"/>
        <a:cs typeface="Helvetica"/>
      </a:majorFont>
      <a:minorFont>
        <a:latin typeface="Helvetica Neue"/>
        <a:ea typeface="Helvetica Neue"/>
        <a:cs typeface="Helvetica Neue"/>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2026-10-11T22:20:07.2370000Z</dcterms:created>
  <dcterms:modified xsi:type="dcterms:W3CDTF">2026-10-11T22:20:07.2370000Z</dcterms:modified>
</coreProperties>
</file>