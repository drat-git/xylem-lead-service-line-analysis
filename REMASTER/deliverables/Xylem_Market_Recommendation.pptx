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fde2f09bc434ad7" /><Relationship Type="http://schemas.openxmlformats.org/officeDocument/2006/relationships/extended-properties" Target="/docProps/app.xml" Id="R28c2e824f6954714" /><Relationship Type="http://schemas.openxmlformats.org/officeDocument/2006/relationships/officeDocument" Target="/ppt/presentation.xml" Id="Rc3628a6409ed4fe7" /></Relationships>
</file>

<file path=ppt/presentation.xml><?xml version="1.0" encoding="utf-8"?>
<p:presentation xmlns:p="http://schemas.openxmlformats.org/presentationml/2006/main">
  <p:sldMasterIdLst>
    <p:sldMasterId xmlns:r="http://schemas.openxmlformats.org/officeDocument/2006/relationships" id="2147483648" r:id="Rebb613b54c2a4481"/>
  </p:sldMasterIdLst>
  <p:notesMasterIdLst>
    <p:notesMasterId xmlns:r="http://schemas.openxmlformats.org/officeDocument/2006/relationships" r:id="Ref81cace017d4231"/>
  </p:notesMasterIdLst>
  <p:sldIdLst>
    <p:sldId xmlns:r="http://schemas.openxmlformats.org/officeDocument/2006/relationships" id="256" r:id="R927124dfcbfd442a"/>
    <p:sldId xmlns:r="http://schemas.openxmlformats.org/officeDocument/2006/relationships" id="257" r:id="R64e327c58df247d5"/>
    <p:sldId xmlns:r="http://schemas.openxmlformats.org/officeDocument/2006/relationships" id="258" r:id="R67a781bead5a4bab"/>
    <p:sldId xmlns:r="http://schemas.openxmlformats.org/officeDocument/2006/relationships" id="259" r:id="R8926919eb7854666"/>
    <p:sldId xmlns:r="http://schemas.openxmlformats.org/officeDocument/2006/relationships" id="260" r:id="R312ea6507b2443b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6e7cb240d34821" /><Relationship Type="http://schemas.openxmlformats.org/officeDocument/2006/relationships/slideMaster" Target="/ppt/slideMasters/slideMaster1.xml" Id="Rebb613b54c2a4481" /><Relationship Type="http://schemas.openxmlformats.org/officeDocument/2006/relationships/notesMaster" Target="/ppt/notesMasters/notesMaster1.xml" Id="Ref81cace017d4231" /><Relationship Type="http://schemas.openxmlformats.org/officeDocument/2006/relationships/presProps" Target="/ppt/presProps.xml" Id="Rf036b619a5a34949" /><Relationship Type="http://schemas.openxmlformats.org/officeDocument/2006/relationships/tableStyles" Target="/ppt/tableStyles.xml" Id="R2235718ab4a14de9" /><Relationship Type="http://schemas.openxmlformats.org/officeDocument/2006/relationships/slide" Target="/ppt/slides/slide1.xml" Id="R927124dfcbfd442a" /><Relationship Type="http://schemas.openxmlformats.org/officeDocument/2006/relationships/slide" Target="/ppt/slides/slide2.xml" Id="R64e327c58df247d5" /><Relationship Type="http://schemas.openxmlformats.org/officeDocument/2006/relationships/slide" Target="/ppt/slides/slide3.xml" Id="R67a781bead5a4bab" /><Relationship Type="http://schemas.openxmlformats.org/officeDocument/2006/relationships/slide" Target="/ppt/slides/slide4.xml" Id="R8926919eb7854666" /><Relationship Type="http://schemas.openxmlformats.org/officeDocument/2006/relationships/slide" Target="/ppt/slides/slide5.xml" Id="R312ea6507b2443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3f414d66e845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24711d42164f74" /><Relationship Type="http://schemas.openxmlformats.org/officeDocument/2006/relationships/notesMaster" Target="/ppt/notesMasters/notesMaster1.xml" Id="R3ab42bd6ceea4c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f4936b85274a57" /><Relationship Type="http://schemas.openxmlformats.org/officeDocument/2006/relationships/notesMaster" Target="/ppt/notesMasters/notesMaster1.xml" Id="R019202fa0cf644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172834b6904df4" /><Relationship Type="http://schemas.openxmlformats.org/officeDocument/2006/relationships/notesMaster" Target="/ppt/notesMasters/notesMaster1.xml" Id="R47c7bdaa5a2f45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9782872164d4f24" /><Relationship Type="http://schemas.openxmlformats.org/officeDocument/2006/relationships/notesMaster" Target="/ppt/notesMasters/notesMaster1.xml" Id="R466a4eb92ed64b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cdf13e7cf741d7" /><Relationship Type="http://schemas.openxmlformats.org/officeDocument/2006/relationships/notesMaster" Target="/ppt/notesMasters/notesMaster1.xml" Id="R0272c6cd702c4b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follows the analytical question, national inventory finding, contrasting state examples, a proposed service approach, and utility screening. The original research question asks where reported lead service line infrastructure needs are greatest. The business application asks how Xylem could tailor services to the inventory mix. The sample uses the original complete-report filter. These are distinct workloads that can proceed in parallel. Unknown material may ultimately be nonlead.</a:t>
            </a:r>
          </a:p>
          <a:p xmlns:a="http://schemas.openxmlformats.org/drawingml/2006/main">
            <a:r>
              <a:t/>
            </a:r>
          </a:p>
          <a:p xmlns:a="http://schemas.openxmlformats.org/drawingml/2006/main">
            <a:r>
              <a:t>Source: https://sdwis.epa.gov/ords/sfdw_pub/r/sfdw/sdwis_fed_reports_public/service-line-inventory</a:t>
            </a:r>
          </a:p>
          <a:p xmlns:a="http://schemas.openxmlformats.org/drawingml/2006/main">
            <a:r>
              <a:t>Analysis: REMASTER/Lead_Service_Line_Analysis.ipynb and results/facts.json. EPA 2026 Q2, 43,993 complete-report Community Water Systems across state/DC primacy agencies. Counts are the sample, not a complete national estimate. Unknown does not mean lead. Known replacement inventory = Lead + Galvanized Requiring Replacement (GRR). No cost, water-quality, exposure, revenue or readiness estimate is implied.</a:t>
            </a:r>
          </a:p>
          <a:p xmlns:a="http://schemas.openxmlformats.org/drawingml/2006/main">
            <a:r>
              <a:t>Darsh Rathi, Xylem / IBM SkillsBuild portfolio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Unknown 21,589,524; known replacement 3,115,308 = lead 2,179,217 + GRR 936,091. Ratio 6.930141096803269. Unknown exceeds known replacement in 49 of 51 jurisdictions. Identification has a larger reported line count, but line counts do not imply higher revenue, cost or effort. Known replacement planning can proceed while Unknown lines are classified.</a:t>
            </a:r>
          </a:p>
          <a:p xmlns:a="http://schemas.openxmlformats.org/drawingml/2006/main">
            <a:r>
              <a:t/>
            </a:r>
          </a:p>
          <a:p xmlns:a="http://schemas.openxmlformats.org/drawingml/2006/main">
            <a:r>
              <a:t>Source: https://sdwis.epa.gov/ords/sfdw_pub/r/sfdw/sdwis_fed_reports_public/service-line-inventory</a:t>
            </a:r>
          </a:p>
          <a:p xmlns:a="http://schemas.openxmlformats.org/drawingml/2006/main">
            <a:r>
              <a:t>Analysis: REMASTER/Lead_Service_Line_Analysis.ipynb and results/facts.json. EPA 2026 Q2, 43,993 complete-report Community Water Systems across state/DC primacy agencies. Counts are the sample, not a complete national estimate. Unknown does not mean lead. Known replacement inventory = Lead + Galvanized Requiring Replacement (GRR). No cost, water-quality, exposure, revenue or readiness estimate is implied.</a:t>
            </a:r>
          </a:p>
          <a:p xmlns:a="http://schemas.openxmlformats.org/drawingml/2006/main">
            <a:r>
              <a:t>Darsh Rathi, Xylem / IBM SkillsBuild portfolio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Texas and Pennsylvania have the largest Unknown inventories across the sample, and Illinois the largest known replacement inventory. Ohio and New York rank in the top ten on both measures. The five examples illustrate service emphases rather than formal segments. All five states have both workloads. Florida has the third-largest Unknown inventory and belongs in broader screening. Raw counts indicate scale. Population adjustment changes top-ten membership: six replacement states and three Unknown states remain. See the notebook for all 51 jurisdictions and population-adjusted comparisons. Population source: https://www.census.gov/data/datasets/time-series/demo/popest/2020s-national-detail.html. Rates do not measure affected residents.</a:t>
            </a:r>
          </a:p>
          <a:p xmlns:a="http://schemas.openxmlformats.org/drawingml/2006/main">
            <a:r>
              <a:t/>
            </a:r>
          </a:p>
          <a:p xmlns:a="http://schemas.openxmlformats.org/drawingml/2006/main">
            <a:r>
              <a:t>Source: https://sdwis.epa.gov/ords/sfdw_pub/r/sfdw/sdwis_fed_reports_public/service-line-inventory</a:t>
            </a:r>
          </a:p>
          <a:p xmlns:a="http://schemas.openxmlformats.org/drawingml/2006/main">
            <a:r>
              <a:t>Analysis: REMASTER/Lead_Service_Line_Analysis.ipynb and results/facts.json. EPA 2026 Q2, 43,993 complete-report Community Water Systems across state/DC primacy agencies. Counts are the sample, not a complete national estimate. Unknown does not mean lead. Known replacement inventory = Lead + Galvanized Requiring Replacement (GRR). No cost, water-quality, exposure, revenue or readiness estimate is implied.</a:t>
            </a:r>
          </a:p>
          <a:p xmlns:a="http://schemas.openxmlformats.org/drawingml/2006/main">
            <a:r>
              <a:t>Darsh Rathi, Xylem / IBM SkillsBuild portfolio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recommendation is an analytical interpretation, not an observed commercial outcome. The states are illustrative candidates and no exclusive segment membership or automatic classification is asserted. Planning already-known replacement work can proceed in identification-focused states too. Xylem capability evidence: https://www.xylem.com/siteassets/brand/decision-intelligence/resources/brochures/dis_brochure_apo_full_09082022_en_us.pdf (2022), pages 4–5, documents service-line detection, inventory development, funding assistance and replacement planning. https://www.xylem.com/en-us/applications/smart-asset-management/ describes integrated asset and inspection data to support investment planning. Sources reviewed October 11, 2026. Current scope must be confirmed. No historical regulatory deadlines, costs or performance claims are adopted.</a:t>
            </a:r>
          </a:p>
          <a:p xmlns:a="http://schemas.openxmlformats.org/drawingml/2006/main">
            <a:r>
              <a:t/>
            </a:r>
          </a:p>
          <a:p xmlns:a="http://schemas.openxmlformats.org/drawingml/2006/main">
            <a:r>
              <a:t>Source: https://sdwis.epa.gov/ords/sfdw_pub/r/sfdw/sdwis_fed_reports_public/service-line-inventory</a:t>
            </a:r>
          </a:p>
          <a:p xmlns:a="http://schemas.openxmlformats.org/drawingml/2006/main">
            <a:r>
              <a:t>Analysis: REMASTER/Lead_Service_Line_Analysis.ipynb and results/facts.json. EPA 2026 Q2, 43,993 complete-report Community Water Systems across state/DC primacy agencies. Counts are the sample, not a complete national estimate. Unknown does not mean lead. Known replacement inventory = Lead + Galvanized Requiring Replacement (GRR). No cost, water-quality, exposure, revenue or readiness estimate is implied.</a:t>
            </a:r>
          </a:p>
          <a:p xmlns:a="http://schemas.openxmlformats.org/drawingml/2006/main">
            <a:r>
              <a:t>Darsh Rathi, Xylem / IBM SkillsBuild portfolio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process, not a completed utility shortlist or pilot. Establish baselines and numerical targets with each utility. Pilot metrics can include newly classified lines divided by starting Unknown lines in scope, cost per verified line, and the share of known replacement lines with verified locations and agreed project scope, funding path and schedule. Coverage in the five examples ranges from 91.4% in Texas to 98.3% in New York. Coverage counts included systems divided by all listed Community Water Systems for the same state/DC primacy agency. It does not measure the percentage of all service lines. New Hampshire includes 3 of 706 listed systems, and Kansas 64 of 854, showing why low totals need scrutiny. State patterns cannot establish utility readiness, demand, cost or return on investment.</a:t>
            </a:r>
          </a:p>
          <a:p xmlns:a="http://schemas.openxmlformats.org/drawingml/2006/main">
            <a:r>
              <a:t/>
            </a:r>
          </a:p>
          <a:p xmlns:a="http://schemas.openxmlformats.org/drawingml/2006/main">
            <a:r>
              <a:t>Source: https://sdwis.epa.gov/ords/sfdw_pub/r/sfdw/sdwis_fed_reports_public/service-line-inventory</a:t>
            </a:r>
          </a:p>
          <a:p xmlns:a="http://schemas.openxmlformats.org/drawingml/2006/main">
            <a:r>
              <a:t>Analysis: REMASTER/Lead_Service_Line_Analysis.ipynb and results/facts.json. EPA 2026 Q2, 43,993 complete-report Community Water Systems across state/DC primacy agencies. Counts are the sample, not a complete national estimate. Unknown does not mean lead. Known replacement inventory = Lead + Galvanized Requiring Replacement (GRR). No cost, water-quality, exposure, revenue or readiness estimate is implied.</a:t>
            </a:r>
          </a:p>
          <a:p xmlns:a="http://schemas.openxmlformats.org/drawingml/2006/main">
            <a:r>
              <a:t>Darsh Rathi, Xylem / IBM SkillsBuild portfolio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a405616ab84d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aa093a29ee497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94346cdcbf640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d15d0a05d340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59bea5a594a4ab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ec81121d0e4b6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DC485E-2883-416D-859A-6B77F185D15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FA3340-41D4-4791-A727-2ABB1757521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223B025-0638-4849-A149-0BF4E3C05B0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8BDD40-09F7-467B-96DE-C165760F43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91F88D-35CC-4E28-9B9E-A521E6A40F7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69D8E59-7B3A-45A0-963F-5F66C3B69E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237130-0E19-40F7-822C-D9D12CB882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9769827-483F-421D-AE97-BF84B0D5091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A5FC33A-5B9C-4D87-B0C3-545E6F13EC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3EEB74-406A-4C83-829D-C3E0B173D4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9ec85ed0ad4fe7" /><Relationship Type="http://schemas.openxmlformats.org/officeDocument/2006/relationships/slideLayout" Target="/ppt/slideLayouts/slideLayout1.xml" Id="R4acde7e2d2f84c42" /><Relationship Type="http://schemas.openxmlformats.org/officeDocument/2006/relationships/slideLayout" Target="/ppt/slideLayouts/slideLayout2.xml" Id="Rdf6921aa029f470a" /><Relationship Type="http://schemas.openxmlformats.org/officeDocument/2006/relationships/slideLayout" Target="/ppt/slideLayouts/slideLayout3.xml" Id="Rf2de5be5ff3147c1" /><Relationship Type="http://schemas.openxmlformats.org/officeDocument/2006/relationships/slideLayout" Target="/ppt/slideLayouts/slideLayout4.xml" Id="R0a67a001cb024017" /><Relationship Type="http://schemas.openxmlformats.org/officeDocument/2006/relationships/slideLayout" Target="/ppt/slideLayouts/slideLayout5.xml" Id="Rca8bfccbf4894d8f" /><Relationship Type="http://schemas.openxmlformats.org/officeDocument/2006/relationships/slideLayout" Target="/ppt/slideLayouts/slideLayout6.xml" Id="R7b522a65df7343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cde7e2d2f84c42"/>
    <p:sldLayoutId xmlns:r="http://schemas.openxmlformats.org/officeDocument/2006/relationships" id="2147483650" r:id="Rdf6921aa029f470a"/>
    <p:sldLayoutId xmlns:r="http://schemas.openxmlformats.org/officeDocument/2006/relationships" id="2147483651" r:id="Rf2de5be5ff3147c1"/>
    <p:sldLayoutId xmlns:r="http://schemas.openxmlformats.org/officeDocument/2006/relationships" id="2147483652" r:id="R0a67a001cb024017"/>
    <p:sldLayoutId xmlns:r="http://schemas.openxmlformats.org/officeDocument/2006/relationships" id="2147483653" r:id="Rca8bfccbf4894d8f"/>
    <p:sldLayoutId xmlns:r="http://schemas.openxmlformats.org/officeDocument/2006/relationships" id="2147483654" r:id="R7b522a65df7343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9796dd46364748" /><Relationship Type="http://schemas.openxmlformats.org/officeDocument/2006/relationships/notesSlide" Target="/ppt/notesSlides/notesSlide1.xml" Id="Rfcd7d35ddb1949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9be57585c44968" /><Relationship Type="http://schemas.openxmlformats.org/officeDocument/2006/relationships/chart" Target="/ppt/slides/charts/chart1.xml" Id="R8d8665abeccd4b3b" /><Relationship Type="http://schemas.openxmlformats.org/officeDocument/2006/relationships/notesSlide" Target="/ppt/notesSlides/notesSlide2.xml" Id="Rea0611bc84b54e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e15b2a268ff4459" /><Relationship Type="http://schemas.openxmlformats.org/officeDocument/2006/relationships/chart" Target="/ppt/slides/charts/chart2.xml" Id="Rede0abeda7cf4f02" /><Relationship Type="http://schemas.openxmlformats.org/officeDocument/2006/relationships/notesSlide" Target="/ppt/notesSlides/notesSlide3.xml" Id="Rf8e24ccfc5224b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9c9bb7578454343" /><Relationship Type="http://schemas.openxmlformats.org/officeDocument/2006/relationships/notesSlide" Target="/ppt/notesSlides/notesSlide4.xml" Id="R1660d3630c4a473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fb3f54c78db47d9" /><Relationship Type="http://schemas.openxmlformats.org/officeDocument/2006/relationships/notesSlide" Target="/ppt/notesSlides/notesSlide5.xml" Id="Ra53443d7b93e498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Reported lines</c:v>
          </c:tx>
          <c:spPr>
            <a:solidFill xmlns:a="http://schemas.openxmlformats.org/drawingml/2006/main">
              <a:srgbClr val="D96A20"/>
            </a:solidFill>
          </c:spPr>
          <c:invertIfNegative val="0"/>
          <c:dPt>
            <c:idx val="0"/>
            <c:invertIfNegative val="0"/>
            <c:spPr>
              <a:solidFill xmlns:a="http://schemas.openxmlformats.org/drawingml/2006/main">
                <a:srgbClr val="3F73C7"/>
              </a:solidFill>
            </c:spPr>
          </c:dPt>
          <c:dPt>
            <c:idx val="1"/>
            <c:invertIfNegative val="0"/>
            <c:spPr>
              <a:solidFill xmlns:a="http://schemas.openxmlformats.org/drawingml/2006/main">
                <a:srgbClr val="D96A20"/>
              </a:solidFill>
            </c:spPr>
          </c:dPt>
          <c:cat>
            <c:strRef>
              <c:f>'Chart Data'!$A$2:$A$3</c:f>
              <c:strCache>
                <c:ptCount val="2"/>
                <c:pt idx="0">
                  <c:v>Lead + GRR</c:v>
                </c:pt>
                <c:pt idx="1">
                  <c:v>Unknown</c:v>
                </c:pt>
              </c:strCache>
            </c:strRef>
          </c:cat>
          <c:val>
            <c:numRef>
              <c:f>'Chart Data'!$B$2:$B$3</c:f>
              <c:numCache>
                <c:formatCode>0.00"M"</c:formatCode>
                <c:ptCount val="2"/>
                <c:pt idx="0">
                  <c:v>3.115308</c:v>
                </c:pt>
                <c:pt idx="1">
                  <c:v>21.589524</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102A43"/>
                  </a:solidFill>
                  <a:latin typeface="Arial"/>
                  <a:ea typeface="Arial"/>
                  <a:cs typeface="Arial"/>
                </a:defRPr>
              </a:pPr>
            </a:p>
          </c:txPr>
          <c:dLblPos val="outEnd"/>
          <c:showLegendKey val="0"/>
          <c:showVal val="1"/>
          <c:showCatName val="0"/>
          <c:showSerName val="0"/>
          <c:showPercent val="0"/>
          <c:showBubbleSize val="0"/>
          <c:showLeaderLines val="0"/>
        </c:dLbls>
        <c:gapWidth val="10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CE1E4"/>
            </a:solidFill>
          </a:ln>
        </c:spPr>
        <c:txPr>
          <a:bodyPr xmlns:a="http://schemas.openxmlformats.org/drawingml/2006/main" anchorCtr="1"/>
          <a:lstStyle xmlns:a="http://schemas.openxmlformats.org/drawingml/2006/main"/>
          <a:p xmlns:a="http://schemas.openxmlformats.org/drawingml/2006/main">
            <a:pPr>
              <a:defRPr sz="1500">
                <a:solidFill>
                  <a:srgbClr val="52636E"/>
                </a:solidFill>
                <a:latin typeface="Arial"/>
                <a:ea typeface="Arial"/>
                <a:cs typeface="Arial"/>
              </a:defRPr>
            </a:pPr>
          </a:p>
        </c:txPr>
        <c:crossAx val="48672768"/>
      </c:catAx>
      <c:valAx>
        <c:axId val="48672768"/>
        <c:scaling>
          <c:orientation val="minMax"/>
          <c:max val="25"/>
          <c:min val="0"/>
        </c:scaling>
        <c:delete val="0"/>
        <c:axPos val="b"/>
        <c:majorGridlines>
          <c:spPr>
            <a:ln xmlns:a="http://schemas.openxmlformats.org/drawingml/2006/main" w="9525">
              <a:solidFill>
                <a:srgbClr val="DCE1E4"/>
              </a:solidFill>
            </a:ln>
          </c:spPr>
        </c:majorGridlines>
        <c:numFmt formatCode="0"/>
        <c:majorTickMark val="none"/>
        <c:minorTickMark val="none"/>
        <c:spPr>
          <a:ln xmlns:a="http://schemas.openxmlformats.org/drawingml/2006/main" w="9525">
            <a:solidFill>
              <a:srgbClr val="DCE1E4"/>
            </a:solidFill>
          </a:ln>
        </c:spPr>
        <c:txPr>
          <a:bodyPr xmlns:a="http://schemas.openxmlformats.org/drawingml/2006/main" anchorCtr="1"/>
          <a:lstStyle xmlns:a="http://schemas.openxmlformats.org/drawingml/2006/main"/>
          <a:p xmlns:a="http://schemas.openxmlformats.org/drawingml/2006/main">
            <a:pPr>
              <a:defRPr sz="1500">
                <a:solidFill>
                  <a:srgbClr val="52636E"/>
                </a:solidFill>
                <a:latin typeface="Arial"/>
                <a:ea typeface="Arial"/>
                <a:cs typeface="Arial"/>
              </a:defRPr>
            </a:pPr>
          </a:p>
        </c:txPr>
        <c:crossAx val="48650112"/>
        <c:crossBetween val="between"/>
        <c:majorUnit val="5"/>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Known replacement</c:v>
          </c:tx>
          <c:spPr>
            <a:solidFill xmlns:a="http://schemas.openxmlformats.org/drawingml/2006/main">
              <a:srgbClr val="3F73C7"/>
            </a:solidFill>
          </c:spPr>
          <c:invertIfNegative val="0"/>
          <c:cat>
            <c:strRef>
              <c:f>'Chart Data'!$A$2:$A$6</c:f>
              <c:strCache>
                <c:ptCount val="5"/>
                <c:pt idx="0">
                  <c:v>New York</c:v>
                </c:pt>
                <c:pt idx="1">
                  <c:v>Ohio</c:v>
                </c:pt>
                <c:pt idx="2">
                  <c:v>Illinois</c:v>
                </c:pt>
                <c:pt idx="3">
                  <c:v>Pennsylvania</c:v>
                </c:pt>
                <c:pt idx="4">
                  <c:v>Texas</c:v>
                </c:pt>
              </c:strCache>
            </c:strRef>
          </c:cat>
          <c:val>
            <c:numRef>
              <c:f>'Chart Data'!$B$2:$B$6</c:f>
              <c:numCache>
                <c:formatCode>0.00</c:formatCode>
                <c:ptCount val="5"/>
                <c:pt idx="0">
                  <c:v>0.289055</c:v>
                </c:pt>
                <c:pt idx="1">
                  <c:v>0.321502</c:v>
                </c:pt>
                <c:pt idx="2">
                  <c:v>0.67221</c:v>
                </c:pt>
                <c:pt idx="3">
                  <c:v>0.113717</c:v>
                </c:pt>
                <c:pt idx="4">
                  <c:v>0.114501</c:v>
                </c:pt>
              </c:numCache>
            </c:numRef>
          </c:val>
        </c:ser>
        <c:ser>
          <c:idx val="1"/>
          <c:order val="1"/>
          <c:tx>
            <c:v>Unknown</c:v>
          </c:tx>
          <c:spPr>
            <a:solidFill xmlns:a="http://schemas.openxmlformats.org/drawingml/2006/main">
              <a:srgbClr val="D96A20"/>
            </a:solidFill>
          </c:spPr>
          <c:invertIfNegative val="0"/>
          <c:cat>
            <c:strRef>
              <c:f>'Chart Data'!$C$2:$C$6</c:f>
              <c:strCache>
                <c:ptCount val="5"/>
                <c:pt idx="0">
                  <c:v>New York</c:v>
                </c:pt>
                <c:pt idx="1">
                  <c:v>Ohio</c:v>
                </c:pt>
                <c:pt idx="2">
                  <c:v>Illinois</c:v>
                </c:pt>
                <c:pt idx="3">
                  <c:v>Pennsylvania</c:v>
                </c:pt>
                <c:pt idx="4">
                  <c:v>Texas</c:v>
                </c:pt>
              </c:strCache>
            </c:strRef>
          </c:cat>
          <c:val>
            <c:numRef>
              <c:f>'Chart Data'!$D$2:$D$6</c:f>
              <c:numCache>
                <c:formatCode>0.00</c:formatCode>
                <c:ptCount val="5"/>
                <c:pt idx="0">
                  <c:v>0.951163</c:v>
                </c:pt>
                <c:pt idx="1">
                  <c:v>0.878788</c:v>
                </c:pt>
                <c:pt idx="2">
                  <c:v>0.529706</c:v>
                </c:pt>
                <c:pt idx="3">
                  <c:v>2.055512</c:v>
                </c:pt>
                <c:pt idx="4">
                  <c:v>2.178881</c:v>
                </c:pt>
              </c:numCache>
            </c:numRef>
          </c:val>
        </c:ser>
        <c:dLbls>
          <c:txPr>
            <a:bodyPr xmlns:a="http://schemas.openxmlformats.org/drawingml/2006/main" anchorCtr="1"/>
            <a:lstStyle xmlns:a="http://schemas.openxmlformats.org/drawingml/2006/main"/>
            <a:p xmlns:a="http://schemas.openxmlformats.org/drawingml/2006/main">
              <a:pPr>
                <a:defRPr sz="1500">
                  <a:solidFill>
                    <a:srgbClr val="102A43"/>
                  </a:solidFill>
                  <a:latin typeface="Arial"/>
                  <a:ea typeface="Arial"/>
                  <a:cs typeface="Arial"/>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CE1E4"/>
            </a:solidFill>
          </a:ln>
        </c:spPr>
        <c:txPr>
          <a:bodyPr xmlns:a="http://schemas.openxmlformats.org/drawingml/2006/main" anchorCtr="1"/>
          <a:lstStyle xmlns:a="http://schemas.openxmlformats.org/drawingml/2006/main"/>
          <a:p xmlns:a="http://schemas.openxmlformats.org/drawingml/2006/main">
            <a:pPr>
              <a:defRPr sz="1725">
                <a:solidFill>
                  <a:srgbClr val="102A43"/>
                </a:solidFill>
                <a:latin typeface="Arial"/>
                <a:ea typeface="Arial"/>
                <a:cs typeface="Arial"/>
              </a:defRPr>
            </a:pPr>
          </a:p>
        </c:txPr>
        <c:crossAx val="48672768"/>
      </c:catAx>
      <c:valAx>
        <c:axId val="48672768"/>
        <c:scaling>
          <c:orientation val="minMax"/>
          <c:max val="2.5"/>
          <c:min val="0"/>
        </c:scaling>
        <c:delete val="0"/>
        <c:axPos val="b"/>
        <c:majorGridlines>
          <c:spPr>
            <a:ln xmlns:a="http://schemas.openxmlformats.org/drawingml/2006/main" w="9525">
              <a:solidFill>
                <a:srgbClr val="DCE1E4"/>
              </a:solidFill>
            </a:ln>
          </c:spPr>
        </c:majorGridlines>
        <c:numFmt formatCode="0.0"/>
        <c:majorTickMark val="none"/>
        <c:minorTickMark val="none"/>
        <c:spPr>
          <a:ln xmlns:a="http://schemas.openxmlformats.org/drawingml/2006/main" w="9525">
            <a:solidFill>
              <a:srgbClr val="DCE1E4"/>
            </a:solidFill>
          </a:ln>
        </c:spPr>
        <c:txPr>
          <a:bodyPr xmlns:a="http://schemas.openxmlformats.org/drawingml/2006/main" anchorCtr="1"/>
          <a:lstStyle xmlns:a="http://schemas.openxmlformats.org/drawingml/2006/main"/>
          <a:p xmlns:a="http://schemas.openxmlformats.org/drawingml/2006/main">
            <a:pPr>
              <a:defRPr sz="1500">
                <a:solidFill>
                  <a:srgbClr val="52636E"/>
                </a:solidFill>
                <a:latin typeface="Arial"/>
                <a:ea typeface="Arial"/>
                <a:cs typeface="Arial"/>
              </a:defRPr>
            </a:pPr>
          </a:p>
        </c:txPr>
        <c:crossAx val="48650112"/>
        <c:crossBetween val="between"/>
        <c:majorUnit val="0.5"/>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60F07549-3D3C-45C2-8A6F-C8BFA8BA2F04}"/>
              </a:ext>
            </a:extLst>
          </p:cNvPr>
          <p:cNvSpPr>
            <a:spLocks xmlns:a="http://schemas.openxmlformats.org/drawingml/2006/main" noGrp="1"/>
          </p:cNvSpPr>
          <p:nvPr/>
        </p:nvSpPr>
        <p:spPr>
          <a:xfrm xmlns:a="http://schemas.openxmlformats.org/drawingml/2006/main">
            <a:off x="685800" y="5524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02A43"/>
                </a:solidFill>
                <a:latin typeface="Arial"/>
                <a:ea typeface="Arial"/>
                <a:cs typeface="Arial"/>
              </a:defRPr>
            </a:defPPr>
            <a:lvl1pPr algn="l">
              <a:defRPr sz="3300" b="1">
                <a:solidFill>
                  <a:srgbClr val="102A43"/>
                </a:solidFill>
                <a:latin typeface="Arial"/>
                <a:ea typeface="Arial"/>
                <a:cs typeface="Arial"/>
              </a:defRPr>
            </a:lvl1pPr>
            <a:lvl2pPr algn="l">
              <a:defRPr sz="3300" b="1">
                <a:solidFill>
                  <a:srgbClr val="102A43"/>
                </a:solidFill>
                <a:latin typeface="Arial"/>
                <a:ea typeface="Arial"/>
                <a:cs typeface="Arial"/>
              </a:defRPr>
            </a:lvl2pPr>
            <a:lvl3pPr algn="l">
              <a:defRPr sz="3300" b="1">
                <a:solidFill>
                  <a:srgbClr val="102A43"/>
                </a:solidFill>
                <a:latin typeface="Arial"/>
                <a:ea typeface="Arial"/>
                <a:cs typeface="Arial"/>
              </a:defRPr>
            </a:lvl3pPr>
            <a:lvl4pPr algn="l">
              <a:defRPr sz="3300" b="1">
                <a:solidFill>
                  <a:srgbClr val="102A43"/>
                </a:solidFill>
                <a:latin typeface="Arial"/>
                <a:ea typeface="Arial"/>
                <a:cs typeface="Arial"/>
              </a:defRPr>
            </a:lvl4pPr>
            <a:lvl5pPr algn="l">
              <a:defRPr sz="3300" b="1">
                <a:solidFill>
                  <a:srgbClr val="102A43"/>
                </a:solidFill>
                <a:latin typeface="Arial"/>
                <a:ea typeface="Arial"/>
                <a:cs typeface="Arial"/>
              </a:defRPr>
            </a:lvl5pPr>
            <a:lvl6pPr algn="l">
              <a:defRPr sz="3300" b="1">
                <a:solidFill>
                  <a:srgbClr val="102A43"/>
                </a:solidFill>
                <a:latin typeface="Arial"/>
                <a:ea typeface="Arial"/>
                <a:cs typeface="Arial"/>
              </a:defRPr>
            </a:lvl6pPr>
            <a:lvl7pPr algn="l">
              <a:defRPr sz="3300" b="1">
                <a:solidFill>
                  <a:srgbClr val="102A43"/>
                </a:solidFill>
                <a:latin typeface="Arial"/>
                <a:ea typeface="Arial"/>
                <a:cs typeface="Arial"/>
              </a:defRPr>
            </a:lvl7pPr>
            <a:lvl8pPr algn="l">
              <a:defRPr sz="3300" b="1">
                <a:solidFill>
                  <a:srgbClr val="102A43"/>
                </a:solidFill>
                <a:latin typeface="Arial"/>
                <a:ea typeface="Arial"/>
                <a:cs typeface="Arial"/>
              </a:defRPr>
            </a:lvl8pPr>
            <a:lvl9pPr algn="l">
              <a:defRPr sz="3300" b="1">
                <a:solidFill>
                  <a:srgbClr val="102A43"/>
                </a:solidFill>
                <a:latin typeface="Arial"/>
                <a:ea typeface="Arial"/>
                <a:cs typeface="Arial"/>
              </a:defRPr>
            </a:lvl9pPr>
          </a:lstStyle>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Where should Xylem focus</a:t>
            </a:r>
          </a:p>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its lead service line services?</a:t>
            </a:r>
          </a:p>
        </p:txBody>
      </p:sp>
      <p:sp>
        <p:nvSpPr>
          <p:cNvPr id="2" name="source">
            <a:extLst xmlns:a="http://schemas.openxmlformats.org/drawingml/2006/main">
              <a:ext uri="{FF2B5EF4-FFF2-40B4-BE49-F238E27FC236}">
                <a16:creationId xmlns:a16="http://schemas.microsoft.com/office/drawing/2014/main" id="{11D53A80-1927-44FC-B6BA-266FEF7F4B95}"/>
              </a:ext>
            </a:extLst>
          </p:cNvPr>
          <p:cNvSpPr>
            <a:spLocks xmlns:a="http://schemas.openxmlformats.org/drawingml/2006/main" noGrp="1"/>
          </p:cNvSpPr>
          <p:nvPr/>
        </p:nvSpPr>
        <p:spPr>
          <a:xfrm xmlns:a="http://schemas.openxmlformats.org/drawingml/2006/main">
            <a:off x="685800" y="63817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Darsh Rathi   /   Xylem / IBM SkillsBuild project   /   EPA 2026 Q2 inventory</a:t>
            </a:r>
          </a:p>
        </p:txBody>
      </p:sp>
      <p:sp>
        <p:nvSpPr>
          <p:cNvPr id="3" name="page">
            <a:extLst xmlns:a="http://schemas.openxmlformats.org/drawingml/2006/main">
              <a:ext uri="{FF2B5EF4-FFF2-40B4-BE49-F238E27FC236}">
                <a16:creationId xmlns:a16="http://schemas.microsoft.com/office/drawing/2014/main" id="{415F1EB6-1620-43C1-86FD-A15FC1DCAD1A}"/>
              </a:ext>
            </a:extLst>
          </p:cNvPr>
          <p:cNvSpPr>
            <a:spLocks xmlns:a="http://schemas.openxmlformats.org/drawingml/2006/main" noGrp="1"/>
          </p:cNvSpPr>
          <p:nvPr/>
        </p:nvSpPr>
        <p:spPr>
          <a:xfrm xmlns:a="http://schemas.openxmlformats.org/drawingml/2006/main">
            <a:off x="1120140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01</a:t>
            </a:r>
          </a:p>
        </p:txBody>
      </p:sp>
      <p:sp>
        <p:nvSpPr>
          <p:cNvPr id="4" name="scope">
            <a:extLst xmlns:a="http://schemas.openxmlformats.org/drawingml/2006/main">
              <a:ext uri="{FF2B5EF4-FFF2-40B4-BE49-F238E27FC236}">
                <a16:creationId xmlns:a16="http://schemas.microsoft.com/office/drawing/2014/main" id="{C8EE066C-FA31-4F48-AF55-ED54035CE59C}"/>
              </a:ext>
            </a:extLst>
          </p:cNvPr>
          <p:cNvSpPr>
            <a:spLocks xmlns:a="http://schemas.openxmlformats.org/drawingml/2006/main" noGrp="1"/>
          </p:cNvSpPr>
          <p:nvPr/>
        </p:nvSpPr>
        <p:spPr>
          <a:xfrm xmlns:a="http://schemas.openxmlformats.org/drawingml/2006/main">
            <a:off x="685800" y="19526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52636E"/>
                </a:solidFill>
                <a:latin typeface="Arial"/>
                <a:ea typeface="Arial"/>
                <a:cs typeface="Arial"/>
              </a:defRPr>
            </a:defPPr>
            <a:lvl1pPr algn="l">
              <a:defRPr sz="1950" b="0">
                <a:solidFill>
                  <a:srgbClr val="52636E"/>
                </a:solidFill>
                <a:latin typeface="Arial"/>
                <a:ea typeface="Arial"/>
                <a:cs typeface="Arial"/>
              </a:defRPr>
            </a:lvl1pPr>
            <a:lvl2pPr algn="l">
              <a:defRPr sz="1950" b="0">
                <a:solidFill>
                  <a:srgbClr val="52636E"/>
                </a:solidFill>
                <a:latin typeface="Arial"/>
                <a:ea typeface="Arial"/>
                <a:cs typeface="Arial"/>
              </a:defRPr>
            </a:lvl2pPr>
            <a:lvl3pPr algn="l">
              <a:defRPr sz="1950" b="0">
                <a:solidFill>
                  <a:srgbClr val="52636E"/>
                </a:solidFill>
                <a:latin typeface="Arial"/>
                <a:ea typeface="Arial"/>
                <a:cs typeface="Arial"/>
              </a:defRPr>
            </a:lvl3pPr>
            <a:lvl4pPr algn="l">
              <a:defRPr sz="1950" b="0">
                <a:solidFill>
                  <a:srgbClr val="52636E"/>
                </a:solidFill>
                <a:latin typeface="Arial"/>
                <a:ea typeface="Arial"/>
                <a:cs typeface="Arial"/>
              </a:defRPr>
            </a:lvl4pPr>
            <a:lvl5pPr algn="l">
              <a:defRPr sz="1950" b="0">
                <a:solidFill>
                  <a:srgbClr val="52636E"/>
                </a:solidFill>
                <a:latin typeface="Arial"/>
                <a:ea typeface="Arial"/>
                <a:cs typeface="Arial"/>
              </a:defRPr>
            </a:lvl5pPr>
            <a:lvl6pPr algn="l">
              <a:defRPr sz="1950" b="0">
                <a:solidFill>
                  <a:srgbClr val="52636E"/>
                </a:solidFill>
                <a:latin typeface="Arial"/>
                <a:ea typeface="Arial"/>
                <a:cs typeface="Arial"/>
              </a:defRPr>
            </a:lvl6pPr>
            <a:lvl7pPr algn="l">
              <a:defRPr sz="1950" b="0">
                <a:solidFill>
                  <a:srgbClr val="52636E"/>
                </a:solidFill>
                <a:latin typeface="Arial"/>
                <a:ea typeface="Arial"/>
                <a:cs typeface="Arial"/>
              </a:defRPr>
            </a:lvl7pPr>
            <a:lvl8pPr algn="l">
              <a:defRPr sz="1950" b="0">
                <a:solidFill>
                  <a:srgbClr val="52636E"/>
                </a:solidFill>
                <a:latin typeface="Arial"/>
                <a:ea typeface="Arial"/>
                <a:cs typeface="Arial"/>
              </a:defRPr>
            </a:lvl8pPr>
            <a:lvl9pPr algn="l">
              <a:defRPr sz="1950" b="0">
                <a:solidFill>
                  <a:srgbClr val="52636E"/>
                </a:solidFill>
                <a:latin typeface="Arial"/>
                <a:ea typeface="Arial"/>
                <a:cs typeface="Arial"/>
              </a:defRPr>
            </a:lvl9pPr>
          </a:lstStyle>
          <a:p xmlns:a="http://schemas.openxmlformats.org/drawingml/2006/main">
            <a:pPr algn="l">
              <a:defRPr sz="1950" b="0">
                <a:solidFill>
                  <a:srgbClr val="52636E"/>
                </a:solidFill>
                <a:latin typeface="Arial"/>
                <a:ea typeface="Arial"/>
                <a:cs typeface="Arial"/>
              </a:defRPr>
            </a:pPr>
            <a:r>
              <a:rPr sz="1950" b="0">
                <a:solidFill>
                  <a:srgbClr val="52636E"/>
                </a:solidFill>
                <a:latin typeface="Arial"/>
                <a:ea typeface="Arial"/>
                <a:cs typeface="Arial"/>
              </a:rPr>
              <a:t>Analysis of 43,993 Community Water Systems across 50 states and DC</a:t>
            </a:r>
          </a:p>
        </p:txBody>
      </p:sp>
      <p:sp>
        <p:nvSpPr>
          <p:cNvPr id="5" name="setup">
            <a:extLst xmlns:a="http://schemas.openxmlformats.org/drawingml/2006/main">
              <a:ext uri="{FF2B5EF4-FFF2-40B4-BE49-F238E27FC236}">
                <a16:creationId xmlns:a16="http://schemas.microsoft.com/office/drawing/2014/main" id="{410689DA-F1F9-4F10-8BF6-FDC26C1A01FE}"/>
              </a:ext>
            </a:extLst>
          </p:cNvPr>
          <p:cNvSpPr>
            <a:spLocks xmlns:a="http://schemas.openxmlformats.org/drawingml/2006/main" noGrp="1"/>
          </p:cNvSpPr>
          <p:nvPr/>
        </p:nvSpPr>
        <p:spPr>
          <a:xfrm xmlns:a="http://schemas.openxmlformats.org/drawingml/2006/main">
            <a:off x="685800" y="28575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102A43"/>
                </a:solidFill>
                <a:latin typeface="Arial"/>
                <a:ea typeface="Arial"/>
                <a:cs typeface="Arial"/>
              </a:defRPr>
            </a:defPPr>
            <a:lvl1pPr algn="l">
              <a:defRPr sz="2400" b="1">
                <a:solidFill>
                  <a:srgbClr val="102A43"/>
                </a:solidFill>
                <a:latin typeface="Arial"/>
                <a:ea typeface="Arial"/>
                <a:cs typeface="Arial"/>
              </a:defRPr>
            </a:lvl1pPr>
            <a:lvl2pPr algn="l">
              <a:defRPr sz="2400" b="1">
                <a:solidFill>
                  <a:srgbClr val="102A43"/>
                </a:solidFill>
                <a:latin typeface="Arial"/>
                <a:ea typeface="Arial"/>
                <a:cs typeface="Arial"/>
              </a:defRPr>
            </a:lvl2pPr>
            <a:lvl3pPr algn="l">
              <a:defRPr sz="2400" b="1">
                <a:solidFill>
                  <a:srgbClr val="102A43"/>
                </a:solidFill>
                <a:latin typeface="Arial"/>
                <a:ea typeface="Arial"/>
                <a:cs typeface="Arial"/>
              </a:defRPr>
            </a:lvl3pPr>
            <a:lvl4pPr algn="l">
              <a:defRPr sz="2400" b="1">
                <a:solidFill>
                  <a:srgbClr val="102A43"/>
                </a:solidFill>
                <a:latin typeface="Arial"/>
                <a:ea typeface="Arial"/>
                <a:cs typeface="Arial"/>
              </a:defRPr>
            </a:lvl4pPr>
            <a:lvl5pPr algn="l">
              <a:defRPr sz="2400" b="1">
                <a:solidFill>
                  <a:srgbClr val="102A43"/>
                </a:solidFill>
                <a:latin typeface="Arial"/>
                <a:ea typeface="Arial"/>
                <a:cs typeface="Arial"/>
              </a:defRPr>
            </a:lvl5pPr>
            <a:lvl6pPr algn="l">
              <a:defRPr sz="2400" b="1">
                <a:solidFill>
                  <a:srgbClr val="102A43"/>
                </a:solidFill>
                <a:latin typeface="Arial"/>
                <a:ea typeface="Arial"/>
                <a:cs typeface="Arial"/>
              </a:defRPr>
            </a:lvl6pPr>
            <a:lvl7pPr algn="l">
              <a:defRPr sz="2400" b="1">
                <a:solidFill>
                  <a:srgbClr val="102A43"/>
                </a:solidFill>
                <a:latin typeface="Arial"/>
                <a:ea typeface="Arial"/>
                <a:cs typeface="Arial"/>
              </a:defRPr>
            </a:lvl7pPr>
            <a:lvl8pPr algn="l">
              <a:defRPr sz="2400" b="1">
                <a:solidFill>
                  <a:srgbClr val="102A43"/>
                </a:solidFill>
                <a:latin typeface="Arial"/>
                <a:ea typeface="Arial"/>
                <a:cs typeface="Arial"/>
              </a:defRPr>
            </a:lvl8pPr>
            <a:lvl9pPr algn="l">
              <a:defRPr sz="2400" b="1">
                <a:solidFill>
                  <a:srgbClr val="102A43"/>
                </a:solidFill>
                <a:latin typeface="Arial"/>
                <a:ea typeface="Arial"/>
                <a:cs typeface="Arial"/>
              </a:defRPr>
            </a:lvl9pPr>
          </a:lstStyle>
          <a:p xmlns:a="http://schemas.openxmlformats.org/drawingml/2006/main">
            <a:pPr algn="l">
              <a:defRPr sz="2400" b="1">
                <a:solidFill>
                  <a:srgbClr val="102A43"/>
                </a:solidFill>
                <a:latin typeface="Arial"/>
                <a:ea typeface="Arial"/>
                <a:cs typeface="Arial"/>
              </a:defRPr>
            </a:pPr>
            <a:r>
              <a:rPr sz="2400" b="1">
                <a:solidFill>
                  <a:srgbClr val="102A43"/>
                </a:solidFill>
                <a:latin typeface="Arial"/>
                <a:ea typeface="Arial"/>
                <a:cs typeface="Arial"/>
              </a:rPr>
              <a:t>The inventory points to two types of work</a:t>
            </a:r>
          </a:p>
        </p:txBody>
      </p:sp>
      <p:sp>
        <p:nvSpPr>
          <p:cNvPr id="6" name="unknown">
            <a:extLst xmlns:a="http://schemas.openxmlformats.org/drawingml/2006/main">
              <a:ext uri="{FF2B5EF4-FFF2-40B4-BE49-F238E27FC236}">
                <a16:creationId xmlns:a16="http://schemas.microsoft.com/office/drawing/2014/main" id="{378D8E2A-596B-4EA5-BFF3-F285C5DFC3B7}"/>
              </a:ext>
            </a:extLst>
          </p:cNvPr>
          <p:cNvSpPr>
            <a:spLocks xmlns:a="http://schemas.openxmlformats.org/drawingml/2006/main" noGrp="1"/>
          </p:cNvSpPr>
          <p:nvPr/>
        </p:nvSpPr>
        <p:spPr>
          <a:xfrm xmlns:a="http://schemas.openxmlformats.org/drawingml/2006/main">
            <a:off x="685800" y="36480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D96A20"/>
                </a:solidFill>
                <a:latin typeface="Arial"/>
                <a:ea typeface="Arial"/>
                <a:cs typeface="Arial"/>
              </a:defRPr>
            </a:defPPr>
            <a:lvl1pPr algn="l">
              <a:defRPr sz="2250" b="1">
                <a:solidFill>
                  <a:srgbClr val="D96A20"/>
                </a:solidFill>
                <a:latin typeface="Arial"/>
                <a:ea typeface="Arial"/>
                <a:cs typeface="Arial"/>
              </a:defRPr>
            </a:lvl1pPr>
            <a:lvl2pPr algn="l">
              <a:defRPr sz="2250" b="1">
                <a:solidFill>
                  <a:srgbClr val="D96A20"/>
                </a:solidFill>
                <a:latin typeface="Arial"/>
                <a:ea typeface="Arial"/>
                <a:cs typeface="Arial"/>
              </a:defRPr>
            </a:lvl2pPr>
            <a:lvl3pPr algn="l">
              <a:defRPr sz="2250" b="1">
                <a:solidFill>
                  <a:srgbClr val="D96A20"/>
                </a:solidFill>
                <a:latin typeface="Arial"/>
                <a:ea typeface="Arial"/>
                <a:cs typeface="Arial"/>
              </a:defRPr>
            </a:lvl3pPr>
            <a:lvl4pPr algn="l">
              <a:defRPr sz="2250" b="1">
                <a:solidFill>
                  <a:srgbClr val="D96A20"/>
                </a:solidFill>
                <a:latin typeface="Arial"/>
                <a:ea typeface="Arial"/>
                <a:cs typeface="Arial"/>
              </a:defRPr>
            </a:lvl4pPr>
            <a:lvl5pPr algn="l">
              <a:defRPr sz="2250" b="1">
                <a:solidFill>
                  <a:srgbClr val="D96A20"/>
                </a:solidFill>
                <a:latin typeface="Arial"/>
                <a:ea typeface="Arial"/>
                <a:cs typeface="Arial"/>
              </a:defRPr>
            </a:lvl5pPr>
            <a:lvl6pPr algn="l">
              <a:defRPr sz="2250" b="1">
                <a:solidFill>
                  <a:srgbClr val="D96A20"/>
                </a:solidFill>
                <a:latin typeface="Arial"/>
                <a:ea typeface="Arial"/>
                <a:cs typeface="Arial"/>
              </a:defRPr>
            </a:lvl6pPr>
            <a:lvl7pPr algn="l">
              <a:defRPr sz="2250" b="1">
                <a:solidFill>
                  <a:srgbClr val="D96A20"/>
                </a:solidFill>
                <a:latin typeface="Arial"/>
                <a:ea typeface="Arial"/>
                <a:cs typeface="Arial"/>
              </a:defRPr>
            </a:lvl7pPr>
            <a:lvl8pPr algn="l">
              <a:defRPr sz="2250" b="1">
                <a:solidFill>
                  <a:srgbClr val="D96A20"/>
                </a:solidFill>
                <a:latin typeface="Arial"/>
                <a:ea typeface="Arial"/>
                <a:cs typeface="Arial"/>
              </a:defRPr>
            </a:lvl8pPr>
            <a:lvl9pPr algn="l">
              <a:defRPr sz="2250" b="1">
                <a:solidFill>
                  <a:srgbClr val="D96A20"/>
                </a:solidFill>
                <a:latin typeface="Arial"/>
                <a:ea typeface="Arial"/>
                <a:cs typeface="Arial"/>
              </a:defRPr>
            </a:lvl9pPr>
          </a:lstStyle>
          <a:p xmlns:a="http://schemas.openxmlformats.org/drawingml/2006/main">
            <a:pPr algn="l">
              <a:defRPr sz="2250" b="1">
                <a:solidFill>
                  <a:srgbClr val="D96A20"/>
                </a:solidFill>
                <a:latin typeface="Arial"/>
                <a:ea typeface="Arial"/>
                <a:cs typeface="Arial"/>
              </a:defRPr>
            </a:pPr>
            <a:r>
              <a:rPr sz="2250" b="1">
                <a:solidFill>
                  <a:srgbClr val="D96A20"/>
                </a:solidFill>
                <a:latin typeface="Arial"/>
                <a:ea typeface="Arial"/>
                <a:cs typeface="Arial"/>
              </a:rPr>
              <a:t>Identification</a:t>
            </a:r>
          </a:p>
        </p:txBody>
      </p:sp>
      <p:sp>
        <p:nvSpPr>
          <p:cNvPr id="7" name="unknown-detail">
            <a:extLst xmlns:a="http://schemas.openxmlformats.org/drawingml/2006/main">
              <a:ext uri="{FF2B5EF4-FFF2-40B4-BE49-F238E27FC236}">
                <a16:creationId xmlns:a16="http://schemas.microsoft.com/office/drawing/2014/main" id="{A5278879-B904-464C-96B0-C7BC0A600684}"/>
              </a:ext>
            </a:extLst>
          </p:cNvPr>
          <p:cNvSpPr>
            <a:spLocks xmlns:a="http://schemas.openxmlformats.org/drawingml/2006/main" noGrp="1"/>
          </p:cNvSpPr>
          <p:nvPr/>
        </p:nvSpPr>
        <p:spPr>
          <a:xfrm xmlns:a="http://schemas.openxmlformats.org/drawingml/2006/main">
            <a:off x="685800" y="416242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02A43"/>
                </a:solidFill>
                <a:latin typeface="Arial"/>
                <a:ea typeface="Arial"/>
                <a:cs typeface="Arial"/>
              </a:defRPr>
            </a:defPPr>
            <a:lvl1pPr algn="l">
              <a:defRPr sz="2025" b="0">
                <a:solidFill>
                  <a:srgbClr val="102A43"/>
                </a:solidFill>
                <a:latin typeface="Arial"/>
                <a:ea typeface="Arial"/>
                <a:cs typeface="Arial"/>
              </a:defRPr>
            </a:lvl1pPr>
            <a:lvl2pPr algn="l">
              <a:defRPr sz="2025" b="0">
                <a:solidFill>
                  <a:srgbClr val="102A43"/>
                </a:solidFill>
                <a:latin typeface="Arial"/>
                <a:ea typeface="Arial"/>
                <a:cs typeface="Arial"/>
              </a:defRPr>
            </a:lvl2pPr>
            <a:lvl3pPr algn="l">
              <a:defRPr sz="2025" b="0">
                <a:solidFill>
                  <a:srgbClr val="102A43"/>
                </a:solidFill>
                <a:latin typeface="Arial"/>
                <a:ea typeface="Arial"/>
                <a:cs typeface="Arial"/>
              </a:defRPr>
            </a:lvl3pPr>
            <a:lvl4pPr algn="l">
              <a:defRPr sz="2025" b="0">
                <a:solidFill>
                  <a:srgbClr val="102A43"/>
                </a:solidFill>
                <a:latin typeface="Arial"/>
                <a:ea typeface="Arial"/>
                <a:cs typeface="Arial"/>
              </a:defRPr>
            </a:lvl4pPr>
            <a:lvl5pPr algn="l">
              <a:defRPr sz="2025" b="0">
                <a:solidFill>
                  <a:srgbClr val="102A43"/>
                </a:solidFill>
                <a:latin typeface="Arial"/>
                <a:ea typeface="Arial"/>
                <a:cs typeface="Arial"/>
              </a:defRPr>
            </a:lvl5pPr>
            <a:lvl6pPr algn="l">
              <a:defRPr sz="2025" b="0">
                <a:solidFill>
                  <a:srgbClr val="102A43"/>
                </a:solidFill>
                <a:latin typeface="Arial"/>
                <a:ea typeface="Arial"/>
                <a:cs typeface="Arial"/>
              </a:defRPr>
            </a:lvl6pPr>
            <a:lvl7pPr algn="l">
              <a:defRPr sz="2025" b="0">
                <a:solidFill>
                  <a:srgbClr val="102A43"/>
                </a:solidFill>
                <a:latin typeface="Arial"/>
                <a:ea typeface="Arial"/>
                <a:cs typeface="Arial"/>
              </a:defRPr>
            </a:lvl7pPr>
            <a:lvl8pPr algn="l">
              <a:defRPr sz="2025" b="0">
                <a:solidFill>
                  <a:srgbClr val="102A43"/>
                </a:solidFill>
                <a:latin typeface="Arial"/>
                <a:ea typeface="Arial"/>
                <a:cs typeface="Arial"/>
              </a:defRPr>
            </a:lvl8pPr>
            <a:lvl9pPr algn="l">
              <a:defRPr sz="2025" b="0">
                <a:solidFill>
                  <a:srgbClr val="102A43"/>
                </a:solidFill>
                <a:latin typeface="Arial"/>
                <a:ea typeface="Arial"/>
                <a:cs typeface="Arial"/>
              </a:defRPr>
            </a:lvl9pPr>
          </a:lstStyle>
          <a:p xmlns:a="http://schemas.openxmlformats.org/drawingml/2006/main">
            <a:pPr algn="l">
              <a:defRPr sz="2025" b="0">
                <a:solidFill>
                  <a:srgbClr val="102A43"/>
                </a:solidFill>
                <a:latin typeface="Arial"/>
                <a:ea typeface="Arial"/>
                <a:cs typeface="Arial"/>
              </a:defRPr>
            </a:pPr>
            <a:r>
              <a:rPr sz="2025" b="0">
                <a:solidFill>
                  <a:srgbClr val="102A43"/>
                </a:solidFill>
                <a:latin typeface="Arial"/>
                <a:ea typeface="Arial"/>
                <a:cs typeface="Arial"/>
              </a:rPr>
              <a:t>Determine the material of lines</a:t>
            </a:r>
          </a:p>
          <a:p xmlns:a="http://schemas.openxmlformats.org/drawingml/2006/main">
            <a:pPr algn="l">
              <a:defRPr sz="2025" b="0">
                <a:solidFill>
                  <a:srgbClr val="102A43"/>
                </a:solidFill>
                <a:latin typeface="Arial"/>
                <a:ea typeface="Arial"/>
                <a:cs typeface="Arial"/>
              </a:defRPr>
            </a:pPr>
            <a:r>
              <a:rPr sz="2025" b="0">
                <a:solidFill>
                  <a:srgbClr val="102A43"/>
                </a:solidFill>
                <a:latin typeface="Arial"/>
                <a:ea typeface="Arial"/>
                <a:cs typeface="Arial"/>
              </a:rPr>
              <a:t>reported as Unknown.</a:t>
            </a:r>
          </a:p>
        </p:txBody>
      </p:sp>
      <p:sp>
        <p:nvSpPr>
          <p:cNvPr id="8" name="replacement">
            <a:extLst xmlns:a="http://schemas.openxmlformats.org/drawingml/2006/main">
              <a:ext uri="{FF2B5EF4-FFF2-40B4-BE49-F238E27FC236}">
                <a16:creationId xmlns:a16="http://schemas.microsoft.com/office/drawing/2014/main" id="{6E8C4CBD-61F4-45CE-87D8-2862B0DE0E97}"/>
              </a:ext>
            </a:extLst>
          </p:cNvPr>
          <p:cNvSpPr>
            <a:spLocks xmlns:a="http://schemas.openxmlformats.org/drawingml/2006/main" noGrp="1"/>
          </p:cNvSpPr>
          <p:nvPr/>
        </p:nvSpPr>
        <p:spPr>
          <a:xfrm xmlns:a="http://schemas.openxmlformats.org/drawingml/2006/main">
            <a:off x="6572250" y="3648075"/>
            <a:ext cx="4933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3F73C7"/>
                </a:solidFill>
                <a:latin typeface="Arial"/>
                <a:ea typeface="Arial"/>
                <a:cs typeface="Arial"/>
              </a:defRPr>
            </a:defPPr>
            <a:lvl1pPr algn="l">
              <a:defRPr sz="2250" b="1">
                <a:solidFill>
                  <a:srgbClr val="3F73C7"/>
                </a:solidFill>
                <a:latin typeface="Arial"/>
                <a:ea typeface="Arial"/>
                <a:cs typeface="Arial"/>
              </a:defRPr>
            </a:lvl1pPr>
            <a:lvl2pPr algn="l">
              <a:defRPr sz="2250" b="1">
                <a:solidFill>
                  <a:srgbClr val="3F73C7"/>
                </a:solidFill>
                <a:latin typeface="Arial"/>
                <a:ea typeface="Arial"/>
                <a:cs typeface="Arial"/>
              </a:defRPr>
            </a:lvl2pPr>
            <a:lvl3pPr algn="l">
              <a:defRPr sz="2250" b="1">
                <a:solidFill>
                  <a:srgbClr val="3F73C7"/>
                </a:solidFill>
                <a:latin typeface="Arial"/>
                <a:ea typeface="Arial"/>
                <a:cs typeface="Arial"/>
              </a:defRPr>
            </a:lvl3pPr>
            <a:lvl4pPr algn="l">
              <a:defRPr sz="2250" b="1">
                <a:solidFill>
                  <a:srgbClr val="3F73C7"/>
                </a:solidFill>
                <a:latin typeface="Arial"/>
                <a:ea typeface="Arial"/>
                <a:cs typeface="Arial"/>
              </a:defRPr>
            </a:lvl4pPr>
            <a:lvl5pPr algn="l">
              <a:defRPr sz="2250" b="1">
                <a:solidFill>
                  <a:srgbClr val="3F73C7"/>
                </a:solidFill>
                <a:latin typeface="Arial"/>
                <a:ea typeface="Arial"/>
                <a:cs typeface="Arial"/>
              </a:defRPr>
            </a:lvl5pPr>
            <a:lvl6pPr algn="l">
              <a:defRPr sz="2250" b="1">
                <a:solidFill>
                  <a:srgbClr val="3F73C7"/>
                </a:solidFill>
                <a:latin typeface="Arial"/>
                <a:ea typeface="Arial"/>
                <a:cs typeface="Arial"/>
              </a:defRPr>
            </a:lvl6pPr>
            <a:lvl7pPr algn="l">
              <a:defRPr sz="2250" b="1">
                <a:solidFill>
                  <a:srgbClr val="3F73C7"/>
                </a:solidFill>
                <a:latin typeface="Arial"/>
                <a:ea typeface="Arial"/>
                <a:cs typeface="Arial"/>
              </a:defRPr>
            </a:lvl7pPr>
            <a:lvl8pPr algn="l">
              <a:defRPr sz="2250" b="1">
                <a:solidFill>
                  <a:srgbClr val="3F73C7"/>
                </a:solidFill>
                <a:latin typeface="Arial"/>
                <a:ea typeface="Arial"/>
                <a:cs typeface="Arial"/>
              </a:defRPr>
            </a:lvl8pPr>
            <a:lvl9pPr algn="l">
              <a:defRPr sz="2250" b="1">
                <a:solidFill>
                  <a:srgbClr val="3F73C7"/>
                </a:solidFill>
                <a:latin typeface="Arial"/>
                <a:ea typeface="Arial"/>
                <a:cs typeface="Arial"/>
              </a:defRPr>
            </a:lvl9pPr>
          </a:lstStyle>
          <a:p xmlns:a="http://schemas.openxmlformats.org/drawingml/2006/main">
            <a:pPr algn="l">
              <a:defRPr sz="2250" b="1">
                <a:solidFill>
                  <a:srgbClr val="3F73C7"/>
                </a:solidFill>
                <a:latin typeface="Arial"/>
                <a:ea typeface="Arial"/>
                <a:cs typeface="Arial"/>
              </a:defRPr>
            </a:pPr>
            <a:r>
              <a:rPr sz="2250" b="1">
                <a:solidFill>
                  <a:srgbClr val="3F73C7"/>
                </a:solidFill>
                <a:latin typeface="Arial"/>
                <a:ea typeface="Arial"/>
                <a:cs typeface="Arial"/>
              </a:rPr>
              <a:t>Replacement planning</a:t>
            </a:r>
          </a:p>
        </p:txBody>
      </p:sp>
      <p:sp>
        <p:nvSpPr>
          <p:cNvPr id="9" name="replacement-detail">
            <a:extLst xmlns:a="http://schemas.openxmlformats.org/drawingml/2006/main">
              <a:ext uri="{FF2B5EF4-FFF2-40B4-BE49-F238E27FC236}">
                <a16:creationId xmlns:a16="http://schemas.microsoft.com/office/drawing/2014/main" id="{E3D7A9DF-CDE0-4299-B718-EC1F91294A85}"/>
              </a:ext>
            </a:extLst>
          </p:cNvPr>
          <p:cNvSpPr>
            <a:spLocks xmlns:a="http://schemas.openxmlformats.org/drawingml/2006/main" noGrp="1"/>
          </p:cNvSpPr>
          <p:nvPr/>
        </p:nvSpPr>
        <p:spPr>
          <a:xfrm xmlns:a="http://schemas.openxmlformats.org/drawingml/2006/main">
            <a:off x="6572250" y="4162425"/>
            <a:ext cx="49339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02A43"/>
                </a:solidFill>
                <a:latin typeface="Arial"/>
                <a:ea typeface="Arial"/>
                <a:cs typeface="Arial"/>
              </a:defRPr>
            </a:defPPr>
            <a:lvl1pPr algn="l">
              <a:defRPr sz="2025" b="0">
                <a:solidFill>
                  <a:srgbClr val="102A43"/>
                </a:solidFill>
                <a:latin typeface="Arial"/>
                <a:ea typeface="Arial"/>
                <a:cs typeface="Arial"/>
              </a:defRPr>
            </a:lvl1pPr>
            <a:lvl2pPr algn="l">
              <a:defRPr sz="2025" b="0">
                <a:solidFill>
                  <a:srgbClr val="102A43"/>
                </a:solidFill>
                <a:latin typeface="Arial"/>
                <a:ea typeface="Arial"/>
                <a:cs typeface="Arial"/>
              </a:defRPr>
            </a:lvl2pPr>
            <a:lvl3pPr algn="l">
              <a:defRPr sz="2025" b="0">
                <a:solidFill>
                  <a:srgbClr val="102A43"/>
                </a:solidFill>
                <a:latin typeface="Arial"/>
                <a:ea typeface="Arial"/>
                <a:cs typeface="Arial"/>
              </a:defRPr>
            </a:lvl3pPr>
            <a:lvl4pPr algn="l">
              <a:defRPr sz="2025" b="0">
                <a:solidFill>
                  <a:srgbClr val="102A43"/>
                </a:solidFill>
                <a:latin typeface="Arial"/>
                <a:ea typeface="Arial"/>
                <a:cs typeface="Arial"/>
              </a:defRPr>
            </a:lvl4pPr>
            <a:lvl5pPr algn="l">
              <a:defRPr sz="2025" b="0">
                <a:solidFill>
                  <a:srgbClr val="102A43"/>
                </a:solidFill>
                <a:latin typeface="Arial"/>
                <a:ea typeface="Arial"/>
                <a:cs typeface="Arial"/>
              </a:defRPr>
            </a:lvl5pPr>
            <a:lvl6pPr algn="l">
              <a:defRPr sz="2025" b="0">
                <a:solidFill>
                  <a:srgbClr val="102A43"/>
                </a:solidFill>
                <a:latin typeface="Arial"/>
                <a:ea typeface="Arial"/>
                <a:cs typeface="Arial"/>
              </a:defRPr>
            </a:lvl6pPr>
            <a:lvl7pPr algn="l">
              <a:defRPr sz="2025" b="0">
                <a:solidFill>
                  <a:srgbClr val="102A43"/>
                </a:solidFill>
                <a:latin typeface="Arial"/>
                <a:ea typeface="Arial"/>
                <a:cs typeface="Arial"/>
              </a:defRPr>
            </a:lvl7pPr>
            <a:lvl8pPr algn="l">
              <a:defRPr sz="2025" b="0">
                <a:solidFill>
                  <a:srgbClr val="102A43"/>
                </a:solidFill>
                <a:latin typeface="Arial"/>
                <a:ea typeface="Arial"/>
                <a:cs typeface="Arial"/>
              </a:defRPr>
            </a:lvl8pPr>
            <a:lvl9pPr algn="l">
              <a:defRPr sz="2025" b="0">
                <a:solidFill>
                  <a:srgbClr val="102A43"/>
                </a:solidFill>
                <a:latin typeface="Arial"/>
                <a:ea typeface="Arial"/>
                <a:cs typeface="Arial"/>
              </a:defRPr>
            </a:lvl9pPr>
          </a:lstStyle>
          <a:p xmlns:a="http://schemas.openxmlformats.org/drawingml/2006/main">
            <a:pPr algn="l">
              <a:defRPr sz="2025" b="0">
                <a:solidFill>
                  <a:srgbClr val="102A43"/>
                </a:solidFill>
                <a:latin typeface="Arial"/>
                <a:ea typeface="Arial"/>
                <a:cs typeface="Arial"/>
              </a:defRPr>
            </a:pPr>
            <a:r>
              <a:rPr sz="2025" b="0">
                <a:solidFill>
                  <a:srgbClr val="102A43"/>
                </a:solidFill>
                <a:latin typeface="Arial"/>
                <a:ea typeface="Arial"/>
                <a:cs typeface="Arial"/>
              </a:rPr>
              <a:t>Plan work for known lead lines and</a:t>
            </a:r>
          </a:p>
          <a:p xmlns:a="http://schemas.openxmlformats.org/drawingml/2006/main">
            <a:pPr algn="l">
              <a:defRPr sz="2025" b="0">
                <a:solidFill>
                  <a:srgbClr val="102A43"/>
                </a:solidFill>
                <a:latin typeface="Arial"/>
                <a:ea typeface="Arial"/>
                <a:cs typeface="Arial"/>
              </a:defRPr>
            </a:pPr>
            <a:r>
              <a:rPr sz="2025" b="0">
                <a:solidFill>
                  <a:srgbClr val="102A43"/>
                </a:solidFill>
                <a:latin typeface="Arial"/>
                <a:ea typeface="Arial"/>
                <a:cs typeface="Arial"/>
              </a:rPr>
              <a:t>galvanized lines requiring replacement.</a:t>
            </a:r>
          </a:p>
        </p:txBody>
      </p:sp>
      <p:sp>
        <p:nvSpPr>
          <p:cNvPr id="10" name="bridge">
            <a:extLst xmlns:a="http://schemas.openxmlformats.org/drawingml/2006/main">
              <a:ext uri="{FF2B5EF4-FFF2-40B4-BE49-F238E27FC236}">
                <a16:creationId xmlns:a16="http://schemas.microsoft.com/office/drawing/2014/main" id="{42A2E296-709D-4AEF-96A8-4DBF00F2AFFA}"/>
              </a:ext>
            </a:extLst>
          </p:cNvPr>
          <p:cNvSpPr>
            <a:spLocks xmlns:a="http://schemas.openxmlformats.org/drawingml/2006/main" noGrp="1"/>
          </p:cNvSpPr>
          <p:nvPr/>
        </p:nvSpPr>
        <p:spPr>
          <a:xfrm xmlns:a="http://schemas.openxmlformats.org/drawingml/2006/main">
            <a:off x="685800" y="5457825"/>
            <a:ext cx="10820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02A43"/>
                </a:solidFill>
                <a:latin typeface="Arial"/>
                <a:ea typeface="Arial"/>
                <a:cs typeface="Arial"/>
              </a:defRPr>
            </a:defPPr>
            <a:lvl1pPr algn="l">
              <a:defRPr sz="2100" b="1">
                <a:solidFill>
                  <a:srgbClr val="102A43"/>
                </a:solidFill>
                <a:latin typeface="Arial"/>
                <a:ea typeface="Arial"/>
                <a:cs typeface="Arial"/>
              </a:defRPr>
            </a:lvl1pPr>
            <a:lvl2pPr algn="l">
              <a:defRPr sz="2100" b="1">
                <a:solidFill>
                  <a:srgbClr val="102A43"/>
                </a:solidFill>
                <a:latin typeface="Arial"/>
                <a:ea typeface="Arial"/>
                <a:cs typeface="Arial"/>
              </a:defRPr>
            </a:lvl2pPr>
            <a:lvl3pPr algn="l">
              <a:defRPr sz="2100" b="1">
                <a:solidFill>
                  <a:srgbClr val="102A43"/>
                </a:solidFill>
                <a:latin typeface="Arial"/>
                <a:ea typeface="Arial"/>
                <a:cs typeface="Arial"/>
              </a:defRPr>
            </a:lvl3pPr>
            <a:lvl4pPr algn="l">
              <a:defRPr sz="2100" b="1">
                <a:solidFill>
                  <a:srgbClr val="102A43"/>
                </a:solidFill>
                <a:latin typeface="Arial"/>
                <a:ea typeface="Arial"/>
                <a:cs typeface="Arial"/>
              </a:defRPr>
            </a:lvl4pPr>
            <a:lvl5pPr algn="l">
              <a:defRPr sz="2100" b="1">
                <a:solidFill>
                  <a:srgbClr val="102A43"/>
                </a:solidFill>
                <a:latin typeface="Arial"/>
                <a:ea typeface="Arial"/>
                <a:cs typeface="Arial"/>
              </a:defRPr>
            </a:lvl5pPr>
            <a:lvl6pPr algn="l">
              <a:defRPr sz="2100" b="1">
                <a:solidFill>
                  <a:srgbClr val="102A43"/>
                </a:solidFill>
                <a:latin typeface="Arial"/>
                <a:ea typeface="Arial"/>
                <a:cs typeface="Arial"/>
              </a:defRPr>
            </a:lvl6pPr>
            <a:lvl7pPr algn="l">
              <a:defRPr sz="2100" b="1">
                <a:solidFill>
                  <a:srgbClr val="102A43"/>
                </a:solidFill>
                <a:latin typeface="Arial"/>
                <a:ea typeface="Arial"/>
                <a:cs typeface="Arial"/>
              </a:defRPr>
            </a:lvl7pPr>
            <a:lvl8pPr algn="l">
              <a:defRPr sz="2100" b="1">
                <a:solidFill>
                  <a:srgbClr val="102A43"/>
                </a:solidFill>
                <a:latin typeface="Arial"/>
                <a:ea typeface="Arial"/>
                <a:cs typeface="Arial"/>
              </a:defRPr>
            </a:lvl8pPr>
            <a:lvl9pPr algn="l">
              <a:defRPr sz="2100" b="1">
                <a:solidFill>
                  <a:srgbClr val="102A43"/>
                </a:solidFill>
                <a:latin typeface="Arial"/>
                <a:ea typeface="Arial"/>
                <a:cs typeface="Arial"/>
              </a:defRPr>
            </a:lvl9pPr>
          </a:lstStyle>
          <a:p xmlns:a="http://schemas.openxmlformats.org/drawingml/2006/main">
            <a:pPr algn="l">
              <a:defRPr sz="2100" b="1">
                <a:solidFill>
                  <a:srgbClr val="102A43"/>
                </a:solidFill>
                <a:latin typeface="Arial"/>
                <a:ea typeface="Arial"/>
                <a:cs typeface="Arial"/>
              </a:defRPr>
            </a:pPr>
            <a:r>
              <a:rPr sz="2100" b="1">
                <a:solidFill>
                  <a:srgbClr val="102A43"/>
                </a:solidFill>
                <a:latin typeface="Arial"/>
                <a:ea typeface="Arial"/>
                <a:cs typeface="Arial"/>
              </a:rPr>
              <a:t>The business question: which service emphasis fits each market?</a:t>
            </a:r>
          </a:p>
        </p:txBody>
      </p:sp>
    </p:spTree>
    <p:extLst>
      <p:ext uri="{BB962C8B-B14F-4D97-AF65-F5344CB8AC3E}">
        <p14:creationId xmlns:p14="http://schemas.microsoft.com/office/powerpoint/2010/main" val="2006691297"/>
      </p:ext>
    </p:extLst>
  </p:cSld>
</p:sld>
</file>

<file path=ppt/slides/slide2.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EA51CB68-8407-40E3-858C-B7519165618B}"/>
              </a:ext>
            </a:extLst>
          </p:cNvPr>
          <p:cNvSpPr>
            <a:spLocks xmlns:a="http://schemas.openxmlformats.org/drawingml/2006/main" noGrp="1"/>
          </p:cNvSpPr>
          <p:nvPr/>
        </p:nvSpPr>
        <p:spPr>
          <a:xfrm xmlns:a="http://schemas.openxmlformats.org/drawingml/2006/main">
            <a:off x="685800" y="5524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02A43"/>
                </a:solidFill>
                <a:latin typeface="Arial"/>
                <a:ea typeface="Arial"/>
                <a:cs typeface="Arial"/>
              </a:defRPr>
            </a:defPPr>
            <a:lvl1pPr algn="l">
              <a:defRPr sz="3300" b="1">
                <a:solidFill>
                  <a:srgbClr val="102A43"/>
                </a:solidFill>
                <a:latin typeface="Arial"/>
                <a:ea typeface="Arial"/>
                <a:cs typeface="Arial"/>
              </a:defRPr>
            </a:lvl1pPr>
            <a:lvl2pPr algn="l">
              <a:defRPr sz="3300" b="1">
                <a:solidFill>
                  <a:srgbClr val="102A43"/>
                </a:solidFill>
                <a:latin typeface="Arial"/>
                <a:ea typeface="Arial"/>
                <a:cs typeface="Arial"/>
              </a:defRPr>
            </a:lvl2pPr>
            <a:lvl3pPr algn="l">
              <a:defRPr sz="3300" b="1">
                <a:solidFill>
                  <a:srgbClr val="102A43"/>
                </a:solidFill>
                <a:latin typeface="Arial"/>
                <a:ea typeface="Arial"/>
                <a:cs typeface="Arial"/>
              </a:defRPr>
            </a:lvl3pPr>
            <a:lvl4pPr algn="l">
              <a:defRPr sz="3300" b="1">
                <a:solidFill>
                  <a:srgbClr val="102A43"/>
                </a:solidFill>
                <a:latin typeface="Arial"/>
                <a:ea typeface="Arial"/>
                <a:cs typeface="Arial"/>
              </a:defRPr>
            </a:lvl4pPr>
            <a:lvl5pPr algn="l">
              <a:defRPr sz="3300" b="1">
                <a:solidFill>
                  <a:srgbClr val="102A43"/>
                </a:solidFill>
                <a:latin typeface="Arial"/>
                <a:ea typeface="Arial"/>
                <a:cs typeface="Arial"/>
              </a:defRPr>
            </a:lvl5pPr>
            <a:lvl6pPr algn="l">
              <a:defRPr sz="3300" b="1">
                <a:solidFill>
                  <a:srgbClr val="102A43"/>
                </a:solidFill>
                <a:latin typeface="Arial"/>
                <a:ea typeface="Arial"/>
                <a:cs typeface="Arial"/>
              </a:defRPr>
            </a:lvl6pPr>
            <a:lvl7pPr algn="l">
              <a:defRPr sz="3300" b="1">
                <a:solidFill>
                  <a:srgbClr val="102A43"/>
                </a:solidFill>
                <a:latin typeface="Arial"/>
                <a:ea typeface="Arial"/>
                <a:cs typeface="Arial"/>
              </a:defRPr>
            </a:lvl7pPr>
            <a:lvl8pPr algn="l">
              <a:defRPr sz="3300" b="1">
                <a:solidFill>
                  <a:srgbClr val="102A43"/>
                </a:solidFill>
                <a:latin typeface="Arial"/>
                <a:ea typeface="Arial"/>
                <a:cs typeface="Arial"/>
              </a:defRPr>
            </a:lvl8pPr>
            <a:lvl9pPr algn="l">
              <a:defRPr sz="3300" b="1">
                <a:solidFill>
                  <a:srgbClr val="102A43"/>
                </a:solidFill>
                <a:latin typeface="Arial"/>
                <a:ea typeface="Arial"/>
                <a:cs typeface="Arial"/>
              </a:defRPr>
            </a:lvl9pPr>
          </a:lstStyle>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Unknown lines outnumber known</a:t>
            </a:r>
          </a:p>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replacement lines by 6.9 to 1</a:t>
            </a:r>
          </a:p>
        </p:txBody>
      </p:sp>
      <p:sp>
        <p:nvSpPr>
          <p:cNvPr id="2" name="source">
            <a:extLst xmlns:a="http://schemas.openxmlformats.org/drawingml/2006/main">
              <a:ext uri="{FF2B5EF4-FFF2-40B4-BE49-F238E27FC236}">
                <a16:creationId xmlns:a16="http://schemas.microsoft.com/office/drawing/2014/main" id="{91D7BA0C-1F9E-4438-971E-14219C26BEC3}"/>
              </a:ext>
            </a:extLst>
          </p:cNvPr>
          <p:cNvSpPr>
            <a:spLocks xmlns:a="http://schemas.openxmlformats.org/drawingml/2006/main" noGrp="1"/>
          </p:cNvSpPr>
          <p:nvPr/>
        </p:nvSpPr>
        <p:spPr>
          <a:xfrm xmlns:a="http://schemas.openxmlformats.org/drawingml/2006/main">
            <a:off x="685800" y="63817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Source: EPA 2026 Q2. Reported inventory in the analytical sample.</a:t>
            </a:r>
          </a:p>
        </p:txBody>
      </p:sp>
      <p:sp>
        <p:nvSpPr>
          <p:cNvPr id="3" name="page">
            <a:extLst xmlns:a="http://schemas.openxmlformats.org/drawingml/2006/main">
              <a:ext uri="{FF2B5EF4-FFF2-40B4-BE49-F238E27FC236}">
                <a16:creationId xmlns:a16="http://schemas.microsoft.com/office/drawing/2014/main" id="{73DE2749-497B-4EB6-86F2-FA5C8EA577F2}"/>
              </a:ext>
            </a:extLst>
          </p:cNvPr>
          <p:cNvSpPr>
            <a:spLocks xmlns:a="http://schemas.openxmlformats.org/drawingml/2006/main" noGrp="1"/>
          </p:cNvSpPr>
          <p:nvPr/>
        </p:nvSpPr>
        <p:spPr>
          <a:xfrm xmlns:a="http://schemas.openxmlformats.org/drawingml/2006/main">
            <a:off x="1120140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02</a:t>
            </a:r>
          </a:p>
        </p:txBody>
      </p:sp>
      <p:sp>
        <p:nvSpPr>
          <p:cNvPr id="4" name="units">
            <a:extLst xmlns:a="http://schemas.openxmlformats.org/drawingml/2006/main">
              <a:ext uri="{FF2B5EF4-FFF2-40B4-BE49-F238E27FC236}">
                <a16:creationId xmlns:a16="http://schemas.microsoft.com/office/drawing/2014/main" id="{D9590C4C-C728-47B4-A87D-51495597BC6C}"/>
              </a:ext>
            </a:extLst>
          </p:cNvPr>
          <p:cNvSpPr>
            <a:spLocks xmlns:a="http://schemas.openxmlformats.org/drawingml/2006/main" noGrp="1"/>
          </p:cNvSpPr>
          <p:nvPr/>
        </p:nvSpPr>
        <p:spPr>
          <a:xfrm xmlns:a="http://schemas.openxmlformats.org/drawingml/2006/main">
            <a:off x="685800" y="1857375"/>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2636E"/>
                </a:solidFill>
                <a:latin typeface="Arial"/>
                <a:ea typeface="Arial"/>
                <a:cs typeface="Arial"/>
              </a:defRPr>
            </a:defPPr>
            <a:lvl1pPr algn="l">
              <a:defRPr sz="1725" b="0">
                <a:solidFill>
                  <a:srgbClr val="52636E"/>
                </a:solidFill>
                <a:latin typeface="Arial"/>
                <a:ea typeface="Arial"/>
                <a:cs typeface="Arial"/>
              </a:defRPr>
            </a:lvl1pPr>
            <a:lvl2pPr algn="l">
              <a:defRPr sz="1725" b="0">
                <a:solidFill>
                  <a:srgbClr val="52636E"/>
                </a:solidFill>
                <a:latin typeface="Arial"/>
                <a:ea typeface="Arial"/>
                <a:cs typeface="Arial"/>
              </a:defRPr>
            </a:lvl2pPr>
            <a:lvl3pPr algn="l">
              <a:defRPr sz="1725" b="0">
                <a:solidFill>
                  <a:srgbClr val="52636E"/>
                </a:solidFill>
                <a:latin typeface="Arial"/>
                <a:ea typeface="Arial"/>
                <a:cs typeface="Arial"/>
              </a:defRPr>
            </a:lvl3pPr>
            <a:lvl4pPr algn="l">
              <a:defRPr sz="1725" b="0">
                <a:solidFill>
                  <a:srgbClr val="52636E"/>
                </a:solidFill>
                <a:latin typeface="Arial"/>
                <a:ea typeface="Arial"/>
                <a:cs typeface="Arial"/>
              </a:defRPr>
            </a:lvl4pPr>
            <a:lvl5pPr algn="l">
              <a:defRPr sz="1725" b="0">
                <a:solidFill>
                  <a:srgbClr val="52636E"/>
                </a:solidFill>
                <a:latin typeface="Arial"/>
                <a:ea typeface="Arial"/>
                <a:cs typeface="Arial"/>
              </a:defRPr>
            </a:lvl5pPr>
            <a:lvl6pPr algn="l">
              <a:defRPr sz="1725" b="0">
                <a:solidFill>
                  <a:srgbClr val="52636E"/>
                </a:solidFill>
                <a:latin typeface="Arial"/>
                <a:ea typeface="Arial"/>
                <a:cs typeface="Arial"/>
              </a:defRPr>
            </a:lvl6pPr>
            <a:lvl7pPr algn="l">
              <a:defRPr sz="1725" b="0">
                <a:solidFill>
                  <a:srgbClr val="52636E"/>
                </a:solidFill>
                <a:latin typeface="Arial"/>
                <a:ea typeface="Arial"/>
                <a:cs typeface="Arial"/>
              </a:defRPr>
            </a:lvl7pPr>
            <a:lvl8pPr algn="l">
              <a:defRPr sz="1725" b="0">
                <a:solidFill>
                  <a:srgbClr val="52636E"/>
                </a:solidFill>
                <a:latin typeface="Arial"/>
                <a:ea typeface="Arial"/>
                <a:cs typeface="Arial"/>
              </a:defRPr>
            </a:lvl8pPr>
            <a:lvl9pPr algn="l">
              <a:defRPr sz="1725" b="0">
                <a:solidFill>
                  <a:srgbClr val="52636E"/>
                </a:solidFill>
                <a:latin typeface="Arial"/>
                <a:ea typeface="Arial"/>
                <a:cs typeface="Arial"/>
              </a:defRPr>
            </a:lvl9pPr>
          </a:lstStyle>
          <a:p xmlns:a="http://schemas.openxmlformats.org/drawingml/2006/main">
            <a:pPr algn="l">
              <a:defRPr sz="1725" b="0">
                <a:solidFill>
                  <a:srgbClr val="52636E"/>
                </a:solidFill>
                <a:latin typeface="Arial"/>
                <a:ea typeface="Arial"/>
                <a:cs typeface="Arial"/>
              </a:defRPr>
            </a:pPr>
            <a:r>
              <a:rPr sz="1725" b="0">
                <a:solidFill>
                  <a:srgbClr val="52636E"/>
                </a:solidFill>
                <a:latin typeface="Arial"/>
                <a:ea typeface="Arial"/>
                <a:cs typeface="Arial"/>
              </a:rPr>
              <a:t>Reported service lines, millions</a:t>
            </a:r>
          </a:p>
        </p:txBody>
      </p:sp>
      <p:graphicFrame>
        <p:nvGraphicFramePr>
          <p:cNvPr id="5" name="Chart">
            <a:extLst xmlns:a="http://schemas.openxmlformats.org/drawingml/2006/main">
              <a:ext uri="{FF2B5EF4-FFF2-40B4-BE49-F238E27FC236}">
                <a16:creationId xmlns:a16="http://schemas.microsoft.com/office/drawing/2014/main" id="{8D130C6E-BC5F-432F-984C-5E2887810467}"/>
              </a:ext>
            </a:extLst>
          </p:cNvPr>
          <p:cNvGraphicFramePr/>
          <p:nvPr/>
        </p:nvGraphicFramePr>
        <p:xfrm>
          <a:off xmlns:a="http://schemas.openxmlformats.org/drawingml/2006/main" x="685800" y="2428875"/>
          <a:ext xmlns:a="http://schemas.openxmlformats.org/drawingml/2006/main" cx="7905750" cy="2809875"/>
        </p:xfrm>
        <a:graphic xmlns:a="http://schemas.openxmlformats.org/drawingml/2006/main">
          <a:graphicData uri="http://schemas.openxmlformats.org/drawingml/2006/chart">
            <c:chart xmlns:r="http://schemas.openxmlformats.org/officeDocument/2006/relationships" xmlns:c="http://schemas.openxmlformats.org/drawingml/2006/chart" r:id="R8d8665abeccd4b3b"/>
          </a:graphicData>
        </a:graphic>
      </p:graphicFrame>
      <p:sp>
        <p:nvSpPr>
          <p:cNvPr id="6" name="states">
            <a:extLst xmlns:a="http://schemas.openxmlformats.org/drawingml/2006/main">
              <a:ext uri="{FF2B5EF4-FFF2-40B4-BE49-F238E27FC236}">
                <a16:creationId xmlns:a16="http://schemas.microsoft.com/office/drawing/2014/main" id="{63D7256E-5BA9-458C-B19E-CACB1EAD163C}"/>
              </a:ext>
            </a:extLst>
          </p:cNvPr>
          <p:cNvSpPr>
            <a:spLocks xmlns:a="http://schemas.openxmlformats.org/drawingml/2006/main" noGrp="1"/>
          </p:cNvSpPr>
          <p:nvPr/>
        </p:nvSpPr>
        <p:spPr>
          <a:xfrm xmlns:a="http://schemas.openxmlformats.org/drawingml/2006/main">
            <a:off x="9144000" y="2619375"/>
            <a:ext cx="2333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102A43"/>
                </a:solidFill>
                <a:latin typeface="Arial"/>
                <a:ea typeface="Arial"/>
                <a:cs typeface="Arial"/>
              </a:defRPr>
            </a:defPPr>
            <a:lvl1pPr algn="l">
              <a:defRPr sz="3600" b="1">
                <a:solidFill>
                  <a:srgbClr val="102A43"/>
                </a:solidFill>
                <a:latin typeface="Arial"/>
                <a:ea typeface="Arial"/>
                <a:cs typeface="Arial"/>
              </a:defRPr>
            </a:lvl1pPr>
            <a:lvl2pPr algn="l">
              <a:defRPr sz="3600" b="1">
                <a:solidFill>
                  <a:srgbClr val="102A43"/>
                </a:solidFill>
                <a:latin typeface="Arial"/>
                <a:ea typeface="Arial"/>
                <a:cs typeface="Arial"/>
              </a:defRPr>
            </a:lvl2pPr>
            <a:lvl3pPr algn="l">
              <a:defRPr sz="3600" b="1">
                <a:solidFill>
                  <a:srgbClr val="102A43"/>
                </a:solidFill>
                <a:latin typeface="Arial"/>
                <a:ea typeface="Arial"/>
                <a:cs typeface="Arial"/>
              </a:defRPr>
            </a:lvl3pPr>
            <a:lvl4pPr algn="l">
              <a:defRPr sz="3600" b="1">
                <a:solidFill>
                  <a:srgbClr val="102A43"/>
                </a:solidFill>
                <a:latin typeface="Arial"/>
                <a:ea typeface="Arial"/>
                <a:cs typeface="Arial"/>
              </a:defRPr>
            </a:lvl4pPr>
            <a:lvl5pPr algn="l">
              <a:defRPr sz="3600" b="1">
                <a:solidFill>
                  <a:srgbClr val="102A43"/>
                </a:solidFill>
                <a:latin typeface="Arial"/>
                <a:ea typeface="Arial"/>
                <a:cs typeface="Arial"/>
              </a:defRPr>
            </a:lvl5pPr>
            <a:lvl6pPr algn="l">
              <a:defRPr sz="3600" b="1">
                <a:solidFill>
                  <a:srgbClr val="102A43"/>
                </a:solidFill>
                <a:latin typeface="Arial"/>
                <a:ea typeface="Arial"/>
                <a:cs typeface="Arial"/>
              </a:defRPr>
            </a:lvl6pPr>
            <a:lvl7pPr algn="l">
              <a:defRPr sz="3600" b="1">
                <a:solidFill>
                  <a:srgbClr val="102A43"/>
                </a:solidFill>
                <a:latin typeface="Arial"/>
                <a:ea typeface="Arial"/>
                <a:cs typeface="Arial"/>
              </a:defRPr>
            </a:lvl7pPr>
            <a:lvl8pPr algn="l">
              <a:defRPr sz="3600" b="1">
                <a:solidFill>
                  <a:srgbClr val="102A43"/>
                </a:solidFill>
                <a:latin typeface="Arial"/>
                <a:ea typeface="Arial"/>
                <a:cs typeface="Arial"/>
              </a:defRPr>
            </a:lvl8pPr>
            <a:lvl9pPr algn="l">
              <a:defRPr sz="3600" b="1">
                <a:solidFill>
                  <a:srgbClr val="102A43"/>
                </a:solidFill>
                <a:latin typeface="Arial"/>
                <a:ea typeface="Arial"/>
                <a:cs typeface="Arial"/>
              </a:defRPr>
            </a:lvl9pPr>
          </a:lstStyle>
          <a:p xmlns:a="http://schemas.openxmlformats.org/drawingml/2006/main">
            <a:pPr algn="l">
              <a:defRPr sz="3600" b="1">
                <a:solidFill>
                  <a:srgbClr val="102A43"/>
                </a:solidFill>
                <a:latin typeface="Arial"/>
                <a:ea typeface="Arial"/>
                <a:cs typeface="Arial"/>
              </a:defRPr>
            </a:pPr>
            <a:r>
              <a:rPr sz="3600" b="1">
                <a:solidFill>
                  <a:srgbClr val="102A43"/>
                </a:solidFill>
                <a:latin typeface="Arial"/>
                <a:ea typeface="Arial"/>
                <a:cs typeface="Arial"/>
              </a:rPr>
              <a:t>49 of 51</a:t>
            </a:r>
          </a:p>
        </p:txBody>
      </p:sp>
      <p:sp>
        <p:nvSpPr>
          <p:cNvPr id="7" name="states-detail">
            <a:extLst xmlns:a="http://schemas.openxmlformats.org/drawingml/2006/main">
              <a:ext uri="{FF2B5EF4-FFF2-40B4-BE49-F238E27FC236}">
                <a16:creationId xmlns:a16="http://schemas.microsoft.com/office/drawing/2014/main" id="{12B90F50-3D1F-47AE-9F0D-C6E843556795}"/>
              </a:ext>
            </a:extLst>
          </p:cNvPr>
          <p:cNvSpPr>
            <a:spLocks xmlns:a="http://schemas.openxmlformats.org/drawingml/2006/main" noGrp="1"/>
          </p:cNvSpPr>
          <p:nvPr/>
        </p:nvSpPr>
        <p:spPr>
          <a:xfrm xmlns:a="http://schemas.openxmlformats.org/drawingml/2006/main">
            <a:off x="9144000" y="3400425"/>
            <a:ext cx="23622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02A43"/>
                </a:solidFill>
                <a:latin typeface="Arial"/>
                <a:ea typeface="Arial"/>
                <a:cs typeface="Arial"/>
              </a:defRPr>
            </a:defPPr>
            <a:lvl1pPr algn="l">
              <a:defRPr sz="1875" b="0">
                <a:solidFill>
                  <a:srgbClr val="102A43"/>
                </a:solidFill>
                <a:latin typeface="Arial"/>
                <a:ea typeface="Arial"/>
                <a:cs typeface="Arial"/>
              </a:defRPr>
            </a:lvl1pPr>
            <a:lvl2pPr algn="l">
              <a:defRPr sz="1875" b="0">
                <a:solidFill>
                  <a:srgbClr val="102A43"/>
                </a:solidFill>
                <a:latin typeface="Arial"/>
                <a:ea typeface="Arial"/>
                <a:cs typeface="Arial"/>
              </a:defRPr>
            </a:lvl2pPr>
            <a:lvl3pPr algn="l">
              <a:defRPr sz="1875" b="0">
                <a:solidFill>
                  <a:srgbClr val="102A43"/>
                </a:solidFill>
                <a:latin typeface="Arial"/>
                <a:ea typeface="Arial"/>
                <a:cs typeface="Arial"/>
              </a:defRPr>
            </a:lvl3pPr>
            <a:lvl4pPr algn="l">
              <a:defRPr sz="1875" b="0">
                <a:solidFill>
                  <a:srgbClr val="102A43"/>
                </a:solidFill>
                <a:latin typeface="Arial"/>
                <a:ea typeface="Arial"/>
                <a:cs typeface="Arial"/>
              </a:defRPr>
            </a:lvl4pPr>
            <a:lvl5pPr algn="l">
              <a:defRPr sz="1875" b="0">
                <a:solidFill>
                  <a:srgbClr val="102A43"/>
                </a:solidFill>
                <a:latin typeface="Arial"/>
                <a:ea typeface="Arial"/>
                <a:cs typeface="Arial"/>
              </a:defRPr>
            </a:lvl5pPr>
            <a:lvl6pPr algn="l">
              <a:defRPr sz="1875" b="0">
                <a:solidFill>
                  <a:srgbClr val="102A43"/>
                </a:solidFill>
                <a:latin typeface="Arial"/>
                <a:ea typeface="Arial"/>
                <a:cs typeface="Arial"/>
              </a:defRPr>
            </a:lvl6pPr>
            <a:lvl7pPr algn="l">
              <a:defRPr sz="1875" b="0">
                <a:solidFill>
                  <a:srgbClr val="102A43"/>
                </a:solidFill>
                <a:latin typeface="Arial"/>
                <a:ea typeface="Arial"/>
                <a:cs typeface="Arial"/>
              </a:defRPr>
            </a:lvl7pPr>
            <a:lvl8pPr algn="l">
              <a:defRPr sz="1875" b="0">
                <a:solidFill>
                  <a:srgbClr val="102A43"/>
                </a:solidFill>
                <a:latin typeface="Arial"/>
                <a:ea typeface="Arial"/>
                <a:cs typeface="Arial"/>
              </a:defRPr>
            </a:lvl8pPr>
            <a:lvl9pPr algn="l">
              <a:defRPr sz="1875" b="0">
                <a:solidFill>
                  <a:srgbClr val="102A43"/>
                </a:solidFill>
                <a:latin typeface="Arial"/>
                <a:ea typeface="Arial"/>
                <a:cs typeface="Arial"/>
              </a:defRPr>
            </a:lvl9pPr>
          </a:lstStyle>
          <a:p xmlns:a="http://schemas.openxmlformats.org/drawingml/2006/main">
            <a:pPr algn="l">
              <a:defRPr sz="1875" b="0">
                <a:solidFill>
                  <a:srgbClr val="102A43"/>
                </a:solidFill>
                <a:latin typeface="Arial"/>
                <a:ea typeface="Arial"/>
                <a:cs typeface="Arial"/>
              </a:defRPr>
            </a:pPr>
            <a:r>
              <a:rPr sz="1875" b="0">
                <a:solidFill>
                  <a:srgbClr val="102A43"/>
                </a:solidFill>
                <a:latin typeface="Arial"/>
                <a:ea typeface="Arial"/>
                <a:cs typeface="Arial"/>
              </a:rPr>
              <a:t>jurisdictions have</a:t>
            </a:r>
          </a:p>
          <a:p xmlns:a="http://schemas.openxmlformats.org/drawingml/2006/main">
            <a:pPr algn="l">
              <a:defRPr sz="1875" b="0">
                <a:solidFill>
                  <a:srgbClr val="102A43"/>
                </a:solidFill>
                <a:latin typeface="Arial"/>
                <a:ea typeface="Arial"/>
                <a:cs typeface="Arial"/>
              </a:defRPr>
            </a:pPr>
            <a:r>
              <a:rPr sz="1875" b="0">
                <a:solidFill>
                  <a:srgbClr val="102A43"/>
                </a:solidFill>
                <a:latin typeface="Arial"/>
                <a:ea typeface="Arial"/>
                <a:cs typeface="Arial"/>
              </a:rPr>
              <a:t>more Unknown than</a:t>
            </a:r>
          </a:p>
          <a:p xmlns:a="http://schemas.openxmlformats.org/drawingml/2006/main">
            <a:pPr algn="l">
              <a:defRPr sz="1875" b="0">
                <a:solidFill>
                  <a:srgbClr val="102A43"/>
                </a:solidFill>
                <a:latin typeface="Arial"/>
                <a:ea typeface="Arial"/>
                <a:cs typeface="Arial"/>
              </a:defRPr>
            </a:pPr>
            <a:r>
              <a:rPr sz="1875" b="0">
                <a:solidFill>
                  <a:srgbClr val="102A43"/>
                </a:solidFill>
                <a:latin typeface="Arial"/>
                <a:ea typeface="Arial"/>
                <a:cs typeface="Arial"/>
              </a:rPr>
              <a:t>known replacement</a:t>
            </a:r>
          </a:p>
          <a:p xmlns:a="http://schemas.openxmlformats.org/drawingml/2006/main">
            <a:pPr algn="l">
              <a:defRPr sz="1875" b="0">
                <a:solidFill>
                  <a:srgbClr val="102A43"/>
                </a:solidFill>
                <a:latin typeface="Arial"/>
                <a:ea typeface="Arial"/>
                <a:cs typeface="Arial"/>
              </a:defRPr>
            </a:pPr>
            <a:r>
              <a:rPr sz="1875" b="0">
                <a:solidFill>
                  <a:srgbClr val="102A43"/>
                </a:solidFill>
                <a:latin typeface="Arial"/>
                <a:ea typeface="Arial"/>
                <a:cs typeface="Arial"/>
              </a:rPr>
              <a:t>lines.</a:t>
            </a:r>
          </a:p>
        </p:txBody>
      </p:sp>
      <p:sp>
        <p:nvSpPr>
          <p:cNvPr id="8" name="implication">
            <a:extLst xmlns:a="http://schemas.openxmlformats.org/drawingml/2006/main">
              <a:ext uri="{FF2B5EF4-FFF2-40B4-BE49-F238E27FC236}">
                <a16:creationId xmlns:a16="http://schemas.microsoft.com/office/drawing/2014/main" id="{AFDC7DA5-C4D7-4B11-9625-A78766A61F84}"/>
              </a:ext>
            </a:extLst>
          </p:cNvPr>
          <p:cNvSpPr>
            <a:spLocks xmlns:a="http://schemas.openxmlformats.org/drawingml/2006/main" noGrp="1"/>
          </p:cNvSpPr>
          <p:nvPr/>
        </p:nvSpPr>
        <p:spPr>
          <a:xfrm xmlns:a="http://schemas.openxmlformats.org/drawingml/2006/main">
            <a:off x="685800" y="55530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02A43"/>
                </a:solidFill>
                <a:latin typeface="Arial"/>
                <a:ea typeface="Arial"/>
                <a:cs typeface="Arial"/>
              </a:defRPr>
            </a:defPPr>
            <a:lvl1pPr algn="l">
              <a:defRPr sz="2175" b="1">
                <a:solidFill>
                  <a:srgbClr val="102A43"/>
                </a:solidFill>
                <a:latin typeface="Arial"/>
                <a:ea typeface="Arial"/>
                <a:cs typeface="Arial"/>
              </a:defRPr>
            </a:lvl1pPr>
            <a:lvl2pPr algn="l">
              <a:defRPr sz="2175" b="1">
                <a:solidFill>
                  <a:srgbClr val="102A43"/>
                </a:solidFill>
                <a:latin typeface="Arial"/>
                <a:ea typeface="Arial"/>
                <a:cs typeface="Arial"/>
              </a:defRPr>
            </a:lvl2pPr>
            <a:lvl3pPr algn="l">
              <a:defRPr sz="2175" b="1">
                <a:solidFill>
                  <a:srgbClr val="102A43"/>
                </a:solidFill>
                <a:latin typeface="Arial"/>
                <a:ea typeface="Arial"/>
                <a:cs typeface="Arial"/>
              </a:defRPr>
            </a:lvl3pPr>
            <a:lvl4pPr algn="l">
              <a:defRPr sz="2175" b="1">
                <a:solidFill>
                  <a:srgbClr val="102A43"/>
                </a:solidFill>
                <a:latin typeface="Arial"/>
                <a:ea typeface="Arial"/>
                <a:cs typeface="Arial"/>
              </a:defRPr>
            </a:lvl4pPr>
            <a:lvl5pPr algn="l">
              <a:defRPr sz="2175" b="1">
                <a:solidFill>
                  <a:srgbClr val="102A43"/>
                </a:solidFill>
                <a:latin typeface="Arial"/>
                <a:ea typeface="Arial"/>
                <a:cs typeface="Arial"/>
              </a:defRPr>
            </a:lvl5pPr>
            <a:lvl6pPr algn="l">
              <a:defRPr sz="2175" b="1">
                <a:solidFill>
                  <a:srgbClr val="102A43"/>
                </a:solidFill>
                <a:latin typeface="Arial"/>
                <a:ea typeface="Arial"/>
                <a:cs typeface="Arial"/>
              </a:defRPr>
            </a:lvl6pPr>
            <a:lvl7pPr algn="l">
              <a:defRPr sz="2175" b="1">
                <a:solidFill>
                  <a:srgbClr val="102A43"/>
                </a:solidFill>
                <a:latin typeface="Arial"/>
                <a:ea typeface="Arial"/>
                <a:cs typeface="Arial"/>
              </a:defRPr>
            </a:lvl7pPr>
            <a:lvl8pPr algn="l">
              <a:defRPr sz="2175" b="1">
                <a:solidFill>
                  <a:srgbClr val="102A43"/>
                </a:solidFill>
                <a:latin typeface="Arial"/>
                <a:ea typeface="Arial"/>
                <a:cs typeface="Arial"/>
              </a:defRPr>
            </a:lvl8pPr>
            <a:lvl9pPr algn="l">
              <a:defRPr sz="2175" b="1">
                <a:solidFill>
                  <a:srgbClr val="102A43"/>
                </a:solidFill>
                <a:latin typeface="Arial"/>
                <a:ea typeface="Arial"/>
                <a:cs typeface="Arial"/>
              </a:defRPr>
            </a:lvl9pPr>
          </a:lstStyle>
          <a:p xmlns:a="http://schemas.openxmlformats.org/drawingml/2006/main">
            <a:pPr algn="l">
              <a:defRPr sz="2175" b="1">
                <a:solidFill>
                  <a:srgbClr val="102A43"/>
                </a:solidFill>
                <a:latin typeface="Arial"/>
                <a:ea typeface="Arial"/>
                <a:cs typeface="Arial"/>
              </a:defRPr>
            </a:pPr>
            <a:r>
              <a:rPr sz="2175" b="1">
                <a:solidFill>
                  <a:srgbClr val="102A43"/>
                </a:solidFill>
                <a:latin typeface="Arial"/>
                <a:ea typeface="Arial"/>
                <a:cs typeface="Arial"/>
              </a:rPr>
              <a:t>Identification deserves a central role in the proposed offering.</a:t>
            </a:r>
          </a:p>
        </p:txBody>
      </p:sp>
      <p:sp>
        <p:nvSpPr>
          <p:cNvPr id="9" name="definition">
            <a:extLst xmlns:a="http://schemas.openxmlformats.org/drawingml/2006/main">
              <a:ext uri="{FF2B5EF4-FFF2-40B4-BE49-F238E27FC236}">
                <a16:creationId xmlns:a16="http://schemas.microsoft.com/office/drawing/2014/main" id="{125E2692-5E86-42FF-A988-E7C5ADAD1E0F}"/>
              </a:ext>
            </a:extLst>
          </p:cNvPr>
          <p:cNvSpPr>
            <a:spLocks xmlns:a="http://schemas.openxmlformats.org/drawingml/2006/main" noGrp="1"/>
          </p:cNvSpPr>
          <p:nvPr/>
        </p:nvSpPr>
        <p:spPr>
          <a:xfrm xmlns:a="http://schemas.openxmlformats.org/drawingml/2006/main">
            <a:off x="685800" y="60007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0">
                <a:solidFill>
                  <a:srgbClr val="52636E"/>
                </a:solidFill>
                <a:latin typeface="Arial"/>
                <a:ea typeface="Arial"/>
                <a:cs typeface="Arial"/>
              </a:defRPr>
            </a:defPPr>
            <a:lvl1pPr algn="l">
              <a:defRPr sz="1350" b="0">
                <a:solidFill>
                  <a:srgbClr val="52636E"/>
                </a:solidFill>
                <a:latin typeface="Arial"/>
                <a:ea typeface="Arial"/>
                <a:cs typeface="Arial"/>
              </a:defRPr>
            </a:lvl1pPr>
            <a:lvl2pPr algn="l">
              <a:defRPr sz="1350" b="0">
                <a:solidFill>
                  <a:srgbClr val="52636E"/>
                </a:solidFill>
                <a:latin typeface="Arial"/>
                <a:ea typeface="Arial"/>
                <a:cs typeface="Arial"/>
              </a:defRPr>
            </a:lvl2pPr>
            <a:lvl3pPr algn="l">
              <a:defRPr sz="1350" b="0">
                <a:solidFill>
                  <a:srgbClr val="52636E"/>
                </a:solidFill>
                <a:latin typeface="Arial"/>
                <a:ea typeface="Arial"/>
                <a:cs typeface="Arial"/>
              </a:defRPr>
            </a:lvl3pPr>
            <a:lvl4pPr algn="l">
              <a:defRPr sz="1350" b="0">
                <a:solidFill>
                  <a:srgbClr val="52636E"/>
                </a:solidFill>
                <a:latin typeface="Arial"/>
                <a:ea typeface="Arial"/>
                <a:cs typeface="Arial"/>
              </a:defRPr>
            </a:lvl4pPr>
            <a:lvl5pPr algn="l">
              <a:defRPr sz="1350" b="0">
                <a:solidFill>
                  <a:srgbClr val="52636E"/>
                </a:solidFill>
                <a:latin typeface="Arial"/>
                <a:ea typeface="Arial"/>
                <a:cs typeface="Arial"/>
              </a:defRPr>
            </a:lvl5pPr>
            <a:lvl6pPr algn="l">
              <a:defRPr sz="1350" b="0">
                <a:solidFill>
                  <a:srgbClr val="52636E"/>
                </a:solidFill>
                <a:latin typeface="Arial"/>
                <a:ea typeface="Arial"/>
                <a:cs typeface="Arial"/>
              </a:defRPr>
            </a:lvl6pPr>
            <a:lvl7pPr algn="l">
              <a:defRPr sz="1350" b="0">
                <a:solidFill>
                  <a:srgbClr val="52636E"/>
                </a:solidFill>
                <a:latin typeface="Arial"/>
                <a:ea typeface="Arial"/>
                <a:cs typeface="Arial"/>
              </a:defRPr>
            </a:lvl7pPr>
            <a:lvl8pPr algn="l">
              <a:defRPr sz="1350" b="0">
                <a:solidFill>
                  <a:srgbClr val="52636E"/>
                </a:solidFill>
                <a:latin typeface="Arial"/>
                <a:ea typeface="Arial"/>
                <a:cs typeface="Arial"/>
              </a:defRPr>
            </a:lvl8pPr>
            <a:lvl9pPr algn="l">
              <a:defRPr sz="1350" b="0">
                <a:solidFill>
                  <a:srgbClr val="52636E"/>
                </a:solidFill>
                <a:latin typeface="Arial"/>
                <a:ea typeface="Arial"/>
                <a:cs typeface="Arial"/>
              </a:defRPr>
            </a:lvl9pPr>
          </a:lstStyle>
          <a:p xmlns:a="http://schemas.openxmlformats.org/drawingml/2006/main">
            <a:pPr algn="l">
              <a:defRPr sz="1350" b="0">
                <a:solidFill>
                  <a:srgbClr val="52636E"/>
                </a:solidFill>
                <a:latin typeface="Arial"/>
                <a:ea typeface="Arial"/>
                <a:cs typeface="Arial"/>
              </a:defRPr>
            </a:pPr>
            <a:r>
              <a:rPr sz="1350" b="0">
                <a:solidFill>
                  <a:srgbClr val="52636E"/>
                </a:solidFill>
                <a:latin typeface="Arial"/>
                <a:ea typeface="Arial"/>
                <a:cs typeface="Arial"/>
              </a:rPr>
              <a:t>Unknown does not mean lead. GRR = Galvanized Requiring Replacement.</a:t>
            </a:r>
          </a:p>
        </p:txBody>
      </p:sp>
    </p:spTree>
    <p:extLst>
      <p:ext uri="{BB962C8B-B14F-4D97-AF65-F5344CB8AC3E}">
        <p14:creationId xmlns:p14="http://schemas.microsoft.com/office/powerpoint/2010/main" val="1891337756"/>
      </p:ext>
    </p:extLst>
  </p:cSld>
</p:sld>
</file>

<file path=ppt/slides/slide3.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AB046AEA-FC17-45A5-AC94-FE514523C964}"/>
              </a:ext>
            </a:extLst>
          </p:cNvPr>
          <p:cNvSpPr>
            <a:spLocks xmlns:a="http://schemas.openxmlformats.org/drawingml/2006/main" noGrp="1"/>
          </p:cNvSpPr>
          <p:nvPr/>
        </p:nvSpPr>
        <p:spPr>
          <a:xfrm xmlns:a="http://schemas.openxmlformats.org/drawingml/2006/main">
            <a:off x="685800" y="5524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02A43"/>
                </a:solidFill>
                <a:latin typeface="Arial"/>
                <a:ea typeface="Arial"/>
                <a:cs typeface="Arial"/>
              </a:defRPr>
            </a:defPPr>
            <a:lvl1pPr algn="l">
              <a:defRPr sz="3300" b="1">
                <a:solidFill>
                  <a:srgbClr val="102A43"/>
                </a:solidFill>
                <a:latin typeface="Arial"/>
                <a:ea typeface="Arial"/>
                <a:cs typeface="Arial"/>
              </a:defRPr>
            </a:lvl1pPr>
            <a:lvl2pPr algn="l">
              <a:defRPr sz="3300" b="1">
                <a:solidFill>
                  <a:srgbClr val="102A43"/>
                </a:solidFill>
                <a:latin typeface="Arial"/>
                <a:ea typeface="Arial"/>
                <a:cs typeface="Arial"/>
              </a:defRPr>
            </a:lvl2pPr>
            <a:lvl3pPr algn="l">
              <a:defRPr sz="3300" b="1">
                <a:solidFill>
                  <a:srgbClr val="102A43"/>
                </a:solidFill>
                <a:latin typeface="Arial"/>
                <a:ea typeface="Arial"/>
                <a:cs typeface="Arial"/>
              </a:defRPr>
            </a:lvl3pPr>
            <a:lvl4pPr algn="l">
              <a:defRPr sz="3300" b="1">
                <a:solidFill>
                  <a:srgbClr val="102A43"/>
                </a:solidFill>
                <a:latin typeface="Arial"/>
                <a:ea typeface="Arial"/>
                <a:cs typeface="Arial"/>
              </a:defRPr>
            </a:lvl4pPr>
            <a:lvl5pPr algn="l">
              <a:defRPr sz="3300" b="1">
                <a:solidFill>
                  <a:srgbClr val="102A43"/>
                </a:solidFill>
                <a:latin typeface="Arial"/>
                <a:ea typeface="Arial"/>
                <a:cs typeface="Arial"/>
              </a:defRPr>
            </a:lvl5pPr>
            <a:lvl6pPr algn="l">
              <a:defRPr sz="3300" b="1">
                <a:solidFill>
                  <a:srgbClr val="102A43"/>
                </a:solidFill>
                <a:latin typeface="Arial"/>
                <a:ea typeface="Arial"/>
                <a:cs typeface="Arial"/>
              </a:defRPr>
            </a:lvl6pPr>
            <a:lvl7pPr algn="l">
              <a:defRPr sz="3300" b="1">
                <a:solidFill>
                  <a:srgbClr val="102A43"/>
                </a:solidFill>
                <a:latin typeface="Arial"/>
                <a:ea typeface="Arial"/>
                <a:cs typeface="Arial"/>
              </a:defRPr>
            </a:lvl7pPr>
            <a:lvl8pPr algn="l">
              <a:defRPr sz="3300" b="1">
                <a:solidFill>
                  <a:srgbClr val="102A43"/>
                </a:solidFill>
                <a:latin typeface="Arial"/>
                <a:ea typeface="Arial"/>
                <a:cs typeface="Arial"/>
              </a:defRPr>
            </a:lvl8pPr>
            <a:lvl9pPr algn="l">
              <a:defRPr sz="3300" b="1">
                <a:solidFill>
                  <a:srgbClr val="102A43"/>
                </a:solidFill>
                <a:latin typeface="Arial"/>
                <a:ea typeface="Arial"/>
                <a:cs typeface="Arial"/>
              </a:defRPr>
            </a:lvl9pPr>
          </a:lstStyle>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The balance of work differs by state</a:t>
            </a:r>
          </a:p>
        </p:txBody>
      </p:sp>
      <p:sp>
        <p:nvSpPr>
          <p:cNvPr id="2" name="source">
            <a:extLst xmlns:a="http://schemas.openxmlformats.org/drawingml/2006/main">
              <a:ext uri="{FF2B5EF4-FFF2-40B4-BE49-F238E27FC236}">
                <a16:creationId xmlns:a16="http://schemas.microsoft.com/office/drawing/2014/main" id="{3F3DE3CC-B61D-4FC1-ADF8-A7751406852C}"/>
              </a:ext>
            </a:extLst>
          </p:cNvPr>
          <p:cNvSpPr>
            <a:spLocks xmlns:a="http://schemas.openxmlformats.org/drawingml/2006/main" noGrp="1"/>
          </p:cNvSpPr>
          <p:nvPr/>
        </p:nvSpPr>
        <p:spPr>
          <a:xfrm xmlns:a="http://schemas.openxmlformats.org/drawingml/2006/main">
            <a:off x="685800" y="63817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Source: EPA 2026 Q2. Five illustrative markets, not an exhaustive shortlist.</a:t>
            </a:r>
          </a:p>
        </p:txBody>
      </p:sp>
      <p:sp>
        <p:nvSpPr>
          <p:cNvPr id="3" name="page">
            <a:extLst xmlns:a="http://schemas.openxmlformats.org/drawingml/2006/main">
              <a:ext uri="{FF2B5EF4-FFF2-40B4-BE49-F238E27FC236}">
                <a16:creationId xmlns:a16="http://schemas.microsoft.com/office/drawing/2014/main" id="{1EFA36E1-1CF6-4C83-8E28-B94F216A230D}"/>
              </a:ext>
            </a:extLst>
          </p:cNvPr>
          <p:cNvSpPr>
            <a:spLocks xmlns:a="http://schemas.openxmlformats.org/drawingml/2006/main" noGrp="1"/>
          </p:cNvSpPr>
          <p:nvPr/>
        </p:nvSpPr>
        <p:spPr>
          <a:xfrm xmlns:a="http://schemas.openxmlformats.org/drawingml/2006/main">
            <a:off x="1120140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03</a:t>
            </a:r>
          </a:p>
        </p:txBody>
      </p:sp>
      <p:sp>
        <p:nvSpPr>
          <p:cNvPr id="4" name="units">
            <a:extLst xmlns:a="http://schemas.openxmlformats.org/drawingml/2006/main">
              <a:ext uri="{FF2B5EF4-FFF2-40B4-BE49-F238E27FC236}">
                <a16:creationId xmlns:a16="http://schemas.microsoft.com/office/drawing/2014/main" id="{645A181A-5A7F-4D98-8B41-E013A0DCEC49}"/>
              </a:ext>
            </a:extLst>
          </p:cNvPr>
          <p:cNvSpPr>
            <a:spLocks xmlns:a="http://schemas.openxmlformats.org/drawingml/2006/main" noGrp="1"/>
          </p:cNvSpPr>
          <p:nvPr/>
        </p:nvSpPr>
        <p:spPr>
          <a:xfrm xmlns:a="http://schemas.openxmlformats.org/drawingml/2006/main">
            <a:off x="685800" y="1409700"/>
            <a:ext cx="590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2636E"/>
                </a:solidFill>
                <a:latin typeface="Arial"/>
                <a:ea typeface="Arial"/>
                <a:cs typeface="Arial"/>
              </a:defRPr>
            </a:defPPr>
            <a:lvl1pPr algn="l">
              <a:defRPr sz="1725" b="0">
                <a:solidFill>
                  <a:srgbClr val="52636E"/>
                </a:solidFill>
                <a:latin typeface="Arial"/>
                <a:ea typeface="Arial"/>
                <a:cs typeface="Arial"/>
              </a:defRPr>
            </a:lvl1pPr>
            <a:lvl2pPr algn="l">
              <a:defRPr sz="1725" b="0">
                <a:solidFill>
                  <a:srgbClr val="52636E"/>
                </a:solidFill>
                <a:latin typeface="Arial"/>
                <a:ea typeface="Arial"/>
                <a:cs typeface="Arial"/>
              </a:defRPr>
            </a:lvl2pPr>
            <a:lvl3pPr algn="l">
              <a:defRPr sz="1725" b="0">
                <a:solidFill>
                  <a:srgbClr val="52636E"/>
                </a:solidFill>
                <a:latin typeface="Arial"/>
                <a:ea typeface="Arial"/>
                <a:cs typeface="Arial"/>
              </a:defRPr>
            </a:lvl3pPr>
            <a:lvl4pPr algn="l">
              <a:defRPr sz="1725" b="0">
                <a:solidFill>
                  <a:srgbClr val="52636E"/>
                </a:solidFill>
                <a:latin typeface="Arial"/>
                <a:ea typeface="Arial"/>
                <a:cs typeface="Arial"/>
              </a:defRPr>
            </a:lvl4pPr>
            <a:lvl5pPr algn="l">
              <a:defRPr sz="1725" b="0">
                <a:solidFill>
                  <a:srgbClr val="52636E"/>
                </a:solidFill>
                <a:latin typeface="Arial"/>
                <a:ea typeface="Arial"/>
                <a:cs typeface="Arial"/>
              </a:defRPr>
            </a:lvl5pPr>
            <a:lvl6pPr algn="l">
              <a:defRPr sz="1725" b="0">
                <a:solidFill>
                  <a:srgbClr val="52636E"/>
                </a:solidFill>
                <a:latin typeface="Arial"/>
                <a:ea typeface="Arial"/>
                <a:cs typeface="Arial"/>
              </a:defRPr>
            </a:lvl6pPr>
            <a:lvl7pPr algn="l">
              <a:defRPr sz="1725" b="0">
                <a:solidFill>
                  <a:srgbClr val="52636E"/>
                </a:solidFill>
                <a:latin typeface="Arial"/>
                <a:ea typeface="Arial"/>
                <a:cs typeface="Arial"/>
              </a:defRPr>
            </a:lvl7pPr>
            <a:lvl8pPr algn="l">
              <a:defRPr sz="1725" b="0">
                <a:solidFill>
                  <a:srgbClr val="52636E"/>
                </a:solidFill>
                <a:latin typeface="Arial"/>
                <a:ea typeface="Arial"/>
                <a:cs typeface="Arial"/>
              </a:defRPr>
            </a:lvl8pPr>
            <a:lvl9pPr algn="l">
              <a:defRPr sz="1725" b="0">
                <a:solidFill>
                  <a:srgbClr val="52636E"/>
                </a:solidFill>
                <a:latin typeface="Arial"/>
                <a:ea typeface="Arial"/>
                <a:cs typeface="Arial"/>
              </a:defRPr>
            </a:lvl9pPr>
          </a:lstStyle>
          <a:p xmlns:a="http://schemas.openxmlformats.org/drawingml/2006/main">
            <a:pPr algn="l">
              <a:defRPr sz="1725" b="0">
                <a:solidFill>
                  <a:srgbClr val="52636E"/>
                </a:solidFill>
                <a:latin typeface="Arial"/>
                <a:ea typeface="Arial"/>
                <a:cs typeface="Arial"/>
              </a:defRPr>
            </a:pPr>
            <a:r>
              <a:rPr sz="1725" b="0">
                <a:solidFill>
                  <a:srgbClr val="52636E"/>
                </a:solidFill>
                <a:latin typeface="Arial"/>
                <a:ea typeface="Arial"/>
                <a:cs typeface="Arial"/>
              </a:rPr>
              <a:t>Reported service lines, millions</a:t>
            </a:r>
          </a:p>
        </p:txBody>
      </p:sp>
      <p:sp>
        <p:nvSpPr>
          <p:cNvPr id="5" name="legend-known">
            <a:extLst xmlns:a="http://schemas.openxmlformats.org/drawingml/2006/main">
              <a:ext uri="{FF2B5EF4-FFF2-40B4-BE49-F238E27FC236}">
                <a16:creationId xmlns:a16="http://schemas.microsoft.com/office/drawing/2014/main" id="{17332ED3-FEE3-4846-B509-42228F0CD744}"/>
              </a:ext>
            </a:extLst>
          </p:cNvPr>
          <p:cNvSpPr>
            <a:spLocks xmlns:a="http://schemas.openxmlformats.org/drawingml/2006/main" noGrp="1"/>
          </p:cNvSpPr>
          <p:nvPr/>
        </p:nvSpPr>
        <p:spPr>
          <a:xfrm xmlns:a="http://schemas.openxmlformats.org/drawingml/2006/main">
            <a:off x="685800" y="19716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3F73C7"/>
                </a:solidFill>
                <a:latin typeface="Arial"/>
                <a:ea typeface="Arial"/>
                <a:cs typeface="Arial"/>
              </a:defRPr>
            </a:defPPr>
            <a:lvl1pPr algn="l">
              <a:defRPr sz="1800" b="1">
                <a:solidFill>
                  <a:srgbClr val="3F73C7"/>
                </a:solidFill>
                <a:latin typeface="Arial"/>
                <a:ea typeface="Arial"/>
                <a:cs typeface="Arial"/>
              </a:defRPr>
            </a:lvl1pPr>
            <a:lvl2pPr algn="l">
              <a:defRPr sz="1800" b="1">
                <a:solidFill>
                  <a:srgbClr val="3F73C7"/>
                </a:solidFill>
                <a:latin typeface="Arial"/>
                <a:ea typeface="Arial"/>
                <a:cs typeface="Arial"/>
              </a:defRPr>
            </a:lvl2pPr>
            <a:lvl3pPr algn="l">
              <a:defRPr sz="1800" b="1">
                <a:solidFill>
                  <a:srgbClr val="3F73C7"/>
                </a:solidFill>
                <a:latin typeface="Arial"/>
                <a:ea typeface="Arial"/>
                <a:cs typeface="Arial"/>
              </a:defRPr>
            </a:lvl3pPr>
            <a:lvl4pPr algn="l">
              <a:defRPr sz="1800" b="1">
                <a:solidFill>
                  <a:srgbClr val="3F73C7"/>
                </a:solidFill>
                <a:latin typeface="Arial"/>
                <a:ea typeface="Arial"/>
                <a:cs typeface="Arial"/>
              </a:defRPr>
            </a:lvl4pPr>
            <a:lvl5pPr algn="l">
              <a:defRPr sz="1800" b="1">
                <a:solidFill>
                  <a:srgbClr val="3F73C7"/>
                </a:solidFill>
                <a:latin typeface="Arial"/>
                <a:ea typeface="Arial"/>
                <a:cs typeface="Arial"/>
              </a:defRPr>
            </a:lvl5pPr>
            <a:lvl6pPr algn="l">
              <a:defRPr sz="1800" b="1">
                <a:solidFill>
                  <a:srgbClr val="3F73C7"/>
                </a:solidFill>
                <a:latin typeface="Arial"/>
                <a:ea typeface="Arial"/>
                <a:cs typeface="Arial"/>
              </a:defRPr>
            </a:lvl6pPr>
            <a:lvl7pPr algn="l">
              <a:defRPr sz="1800" b="1">
                <a:solidFill>
                  <a:srgbClr val="3F73C7"/>
                </a:solidFill>
                <a:latin typeface="Arial"/>
                <a:ea typeface="Arial"/>
                <a:cs typeface="Arial"/>
              </a:defRPr>
            </a:lvl7pPr>
            <a:lvl8pPr algn="l">
              <a:defRPr sz="1800" b="1">
                <a:solidFill>
                  <a:srgbClr val="3F73C7"/>
                </a:solidFill>
                <a:latin typeface="Arial"/>
                <a:ea typeface="Arial"/>
                <a:cs typeface="Arial"/>
              </a:defRPr>
            </a:lvl8pPr>
            <a:lvl9pPr algn="l">
              <a:defRPr sz="1800" b="1">
                <a:solidFill>
                  <a:srgbClr val="3F73C7"/>
                </a:solidFill>
                <a:latin typeface="Arial"/>
                <a:ea typeface="Arial"/>
                <a:cs typeface="Arial"/>
              </a:defRPr>
            </a:lvl9pPr>
          </a:lstStyle>
          <a:p xmlns:a="http://schemas.openxmlformats.org/drawingml/2006/main">
            <a:pPr algn="l">
              <a:defRPr sz="1800" b="1">
                <a:solidFill>
                  <a:srgbClr val="3F73C7"/>
                </a:solidFill>
                <a:latin typeface="Arial"/>
                <a:ea typeface="Arial"/>
                <a:cs typeface="Arial"/>
              </a:defRPr>
            </a:pPr>
            <a:r>
              <a:rPr sz="1800" b="1">
                <a:solidFill>
                  <a:srgbClr val="3F73C7"/>
                </a:solidFill>
                <a:latin typeface="Arial"/>
                <a:ea typeface="Arial"/>
                <a:cs typeface="Arial"/>
              </a:rPr>
              <a:t>Known replacement (Lead + GRR)</a:t>
            </a:r>
          </a:p>
        </p:txBody>
      </p:sp>
      <p:sp>
        <p:nvSpPr>
          <p:cNvPr id="6" name="legend-unknown">
            <a:extLst xmlns:a="http://schemas.openxmlformats.org/drawingml/2006/main">
              <a:ext uri="{FF2B5EF4-FFF2-40B4-BE49-F238E27FC236}">
                <a16:creationId xmlns:a16="http://schemas.microsoft.com/office/drawing/2014/main" id="{B3AC2105-24CD-45D1-BED2-081B90FC7054}"/>
              </a:ext>
            </a:extLst>
          </p:cNvPr>
          <p:cNvSpPr>
            <a:spLocks xmlns:a="http://schemas.openxmlformats.org/drawingml/2006/main" noGrp="1"/>
          </p:cNvSpPr>
          <p:nvPr/>
        </p:nvSpPr>
        <p:spPr>
          <a:xfrm xmlns:a="http://schemas.openxmlformats.org/drawingml/2006/main">
            <a:off x="6477000" y="1971675"/>
            <a:ext cx="428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D96A20"/>
                </a:solidFill>
                <a:latin typeface="Arial"/>
                <a:ea typeface="Arial"/>
                <a:cs typeface="Arial"/>
              </a:defRPr>
            </a:defPPr>
            <a:lvl1pPr algn="l">
              <a:defRPr sz="1800" b="1">
                <a:solidFill>
                  <a:srgbClr val="D96A20"/>
                </a:solidFill>
                <a:latin typeface="Arial"/>
                <a:ea typeface="Arial"/>
                <a:cs typeface="Arial"/>
              </a:defRPr>
            </a:lvl1pPr>
            <a:lvl2pPr algn="l">
              <a:defRPr sz="1800" b="1">
                <a:solidFill>
                  <a:srgbClr val="D96A20"/>
                </a:solidFill>
                <a:latin typeface="Arial"/>
                <a:ea typeface="Arial"/>
                <a:cs typeface="Arial"/>
              </a:defRPr>
            </a:lvl2pPr>
            <a:lvl3pPr algn="l">
              <a:defRPr sz="1800" b="1">
                <a:solidFill>
                  <a:srgbClr val="D96A20"/>
                </a:solidFill>
                <a:latin typeface="Arial"/>
                <a:ea typeface="Arial"/>
                <a:cs typeface="Arial"/>
              </a:defRPr>
            </a:lvl3pPr>
            <a:lvl4pPr algn="l">
              <a:defRPr sz="1800" b="1">
                <a:solidFill>
                  <a:srgbClr val="D96A20"/>
                </a:solidFill>
                <a:latin typeface="Arial"/>
                <a:ea typeface="Arial"/>
                <a:cs typeface="Arial"/>
              </a:defRPr>
            </a:lvl4pPr>
            <a:lvl5pPr algn="l">
              <a:defRPr sz="1800" b="1">
                <a:solidFill>
                  <a:srgbClr val="D96A20"/>
                </a:solidFill>
                <a:latin typeface="Arial"/>
                <a:ea typeface="Arial"/>
                <a:cs typeface="Arial"/>
              </a:defRPr>
            </a:lvl5pPr>
            <a:lvl6pPr algn="l">
              <a:defRPr sz="1800" b="1">
                <a:solidFill>
                  <a:srgbClr val="D96A20"/>
                </a:solidFill>
                <a:latin typeface="Arial"/>
                <a:ea typeface="Arial"/>
                <a:cs typeface="Arial"/>
              </a:defRPr>
            </a:lvl6pPr>
            <a:lvl7pPr algn="l">
              <a:defRPr sz="1800" b="1">
                <a:solidFill>
                  <a:srgbClr val="D96A20"/>
                </a:solidFill>
                <a:latin typeface="Arial"/>
                <a:ea typeface="Arial"/>
                <a:cs typeface="Arial"/>
              </a:defRPr>
            </a:lvl7pPr>
            <a:lvl8pPr algn="l">
              <a:defRPr sz="1800" b="1">
                <a:solidFill>
                  <a:srgbClr val="D96A20"/>
                </a:solidFill>
                <a:latin typeface="Arial"/>
                <a:ea typeface="Arial"/>
                <a:cs typeface="Arial"/>
              </a:defRPr>
            </a:lvl8pPr>
            <a:lvl9pPr algn="l">
              <a:defRPr sz="1800" b="1">
                <a:solidFill>
                  <a:srgbClr val="D96A20"/>
                </a:solidFill>
                <a:latin typeface="Arial"/>
                <a:ea typeface="Arial"/>
                <a:cs typeface="Arial"/>
              </a:defRPr>
            </a:lvl9pPr>
          </a:lstStyle>
          <a:p xmlns:a="http://schemas.openxmlformats.org/drawingml/2006/main">
            <a:pPr algn="l">
              <a:defRPr sz="1800" b="1">
                <a:solidFill>
                  <a:srgbClr val="D96A20"/>
                </a:solidFill>
                <a:latin typeface="Arial"/>
                <a:ea typeface="Arial"/>
                <a:cs typeface="Arial"/>
              </a:defRPr>
            </a:pPr>
            <a:r>
              <a:rPr sz="1800" b="1">
                <a:solidFill>
                  <a:srgbClr val="D96A20"/>
                </a:solidFill>
                <a:latin typeface="Arial"/>
                <a:ea typeface="Arial"/>
                <a:cs typeface="Arial"/>
              </a:rPr>
              <a:t>Unknown</a:t>
            </a:r>
          </a:p>
        </p:txBody>
      </p:sp>
      <p:graphicFrame>
        <p:nvGraphicFramePr>
          <p:cNvPr id="7" name="Chart">
            <a:extLst xmlns:a="http://schemas.openxmlformats.org/drawingml/2006/main">
              <a:ext uri="{FF2B5EF4-FFF2-40B4-BE49-F238E27FC236}">
                <a16:creationId xmlns:a16="http://schemas.microsoft.com/office/drawing/2014/main" id="{AE6F7A39-90B3-45BB-96F1-B60C27C1A6E9}"/>
              </a:ext>
            </a:extLst>
          </p:cNvPr>
          <p:cNvGraphicFramePr/>
          <p:nvPr/>
        </p:nvGraphicFramePr>
        <p:xfrm>
          <a:off xmlns:a="http://schemas.openxmlformats.org/drawingml/2006/main" x="685800" y="2514600"/>
          <a:ext xmlns:a="http://schemas.openxmlformats.org/drawingml/2006/main" cx="10715625" cy="3048000"/>
        </p:xfrm>
        <a:graphic xmlns:a="http://schemas.openxmlformats.org/drawingml/2006/main">
          <a:graphicData uri="http://schemas.openxmlformats.org/drawingml/2006/chart">
            <c:chart xmlns:r="http://schemas.openxmlformats.org/officeDocument/2006/relationships" xmlns:c="http://schemas.openxmlformats.org/drawingml/2006/chart" r:id="Rede0abeda7cf4f02"/>
          </a:graphicData>
        </a:graphic>
      </p:graphicFrame>
      <p:sp>
        <p:nvSpPr>
          <p:cNvPr id="8" name="takeaway">
            <a:extLst xmlns:a="http://schemas.openxmlformats.org/drawingml/2006/main">
              <a:ext uri="{FF2B5EF4-FFF2-40B4-BE49-F238E27FC236}">
                <a16:creationId xmlns:a16="http://schemas.microsoft.com/office/drawing/2014/main" id="{7D0D95BA-C139-42E3-A29C-0803B6EDBF59}"/>
              </a:ext>
            </a:extLst>
          </p:cNvPr>
          <p:cNvSpPr>
            <a:spLocks xmlns:a="http://schemas.openxmlformats.org/drawingml/2006/main" noGrp="1"/>
          </p:cNvSpPr>
          <p:nvPr/>
        </p:nvSpPr>
        <p:spPr>
          <a:xfrm xmlns:a="http://schemas.openxmlformats.org/drawingml/2006/main">
            <a:off x="685800" y="5810250"/>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102A43"/>
                </a:solidFill>
                <a:latin typeface="Arial"/>
                <a:ea typeface="Arial"/>
                <a:cs typeface="Arial"/>
              </a:defRPr>
            </a:defPPr>
            <a:lvl1pPr algn="l">
              <a:defRPr sz="1875" b="1">
                <a:solidFill>
                  <a:srgbClr val="102A43"/>
                </a:solidFill>
                <a:latin typeface="Arial"/>
                <a:ea typeface="Arial"/>
                <a:cs typeface="Arial"/>
              </a:defRPr>
            </a:lvl1pPr>
            <a:lvl2pPr algn="l">
              <a:defRPr sz="1875" b="1">
                <a:solidFill>
                  <a:srgbClr val="102A43"/>
                </a:solidFill>
                <a:latin typeface="Arial"/>
                <a:ea typeface="Arial"/>
                <a:cs typeface="Arial"/>
              </a:defRPr>
            </a:lvl2pPr>
            <a:lvl3pPr algn="l">
              <a:defRPr sz="1875" b="1">
                <a:solidFill>
                  <a:srgbClr val="102A43"/>
                </a:solidFill>
                <a:latin typeface="Arial"/>
                <a:ea typeface="Arial"/>
                <a:cs typeface="Arial"/>
              </a:defRPr>
            </a:lvl3pPr>
            <a:lvl4pPr algn="l">
              <a:defRPr sz="1875" b="1">
                <a:solidFill>
                  <a:srgbClr val="102A43"/>
                </a:solidFill>
                <a:latin typeface="Arial"/>
                <a:ea typeface="Arial"/>
                <a:cs typeface="Arial"/>
              </a:defRPr>
            </a:lvl4pPr>
            <a:lvl5pPr algn="l">
              <a:defRPr sz="1875" b="1">
                <a:solidFill>
                  <a:srgbClr val="102A43"/>
                </a:solidFill>
                <a:latin typeface="Arial"/>
                <a:ea typeface="Arial"/>
                <a:cs typeface="Arial"/>
              </a:defRPr>
            </a:lvl5pPr>
            <a:lvl6pPr algn="l">
              <a:defRPr sz="1875" b="1">
                <a:solidFill>
                  <a:srgbClr val="102A43"/>
                </a:solidFill>
                <a:latin typeface="Arial"/>
                <a:ea typeface="Arial"/>
                <a:cs typeface="Arial"/>
              </a:defRPr>
            </a:lvl6pPr>
            <a:lvl7pPr algn="l">
              <a:defRPr sz="1875" b="1">
                <a:solidFill>
                  <a:srgbClr val="102A43"/>
                </a:solidFill>
                <a:latin typeface="Arial"/>
                <a:ea typeface="Arial"/>
                <a:cs typeface="Arial"/>
              </a:defRPr>
            </a:lvl7pPr>
            <a:lvl8pPr algn="l">
              <a:defRPr sz="1875" b="1">
                <a:solidFill>
                  <a:srgbClr val="102A43"/>
                </a:solidFill>
                <a:latin typeface="Arial"/>
                <a:ea typeface="Arial"/>
                <a:cs typeface="Arial"/>
              </a:defRPr>
            </a:lvl8pPr>
            <a:lvl9pPr algn="l">
              <a:defRPr sz="1875" b="1">
                <a:solidFill>
                  <a:srgbClr val="102A43"/>
                </a:solidFill>
                <a:latin typeface="Arial"/>
                <a:ea typeface="Arial"/>
                <a:cs typeface="Arial"/>
              </a:defRPr>
            </a:lvl9pPr>
          </a:lstStyle>
          <a:p xmlns:a="http://schemas.openxmlformats.org/drawingml/2006/main">
            <a:pPr algn="l">
              <a:defRPr sz="1875" b="1">
                <a:solidFill>
                  <a:srgbClr val="102A43"/>
                </a:solidFill>
                <a:latin typeface="Arial"/>
                <a:ea typeface="Arial"/>
                <a:cs typeface="Arial"/>
              </a:defRPr>
            </a:pPr>
            <a:r>
              <a:rPr sz="1875" b="1">
                <a:solidFill>
                  <a:srgbClr val="102A43"/>
                </a:solidFill>
                <a:latin typeface="Arial"/>
                <a:ea typeface="Arial"/>
                <a:cs typeface="Arial"/>
              </a:rPr>
              <a:t>Texas and Pennsylvania lead on Unknown lines. Illinois leads on known replacement.</a:t>
            </a:r>
          </a:p>
        </p:txBody>
      </p:sp>
    </p:spTree>
    <p:extLst>
      <p:ext uri="{BB962C8B-B14F-4D97-AF65-F5344CB8AC3E}">
        <p14:creationId xmlns:p14="http://schemas.microsoft.com/office/powerpoint/2010/main" val="978496122"/>
      </p:ext>
    </p:extLst>
  </p:cSld>
</p:sld>
</file>

<file path=ppt/slides/slide4.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B87C2FC9-F967-4938-AB09-94D5A972C766}"/>
              </a:ext>
            </a:extLst>
          </p:cNvPr>
          <p:cNvSpPr>
            <a:spLocks xmlns:a="http://schemas.openxmlformats.org/drawingml/2006/main" noGrp="1"/>
          </p:cNvSpPr>
          <p:nvPr/>
        </p:nvSpPr>
        <p:spPr>
          <a:xfrm xmlns:a="http://schemas.openxmlformats.org/drawingml/2006/main">
            <a:off x="685800" y="5524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02A43"/>
                </a:solidFill>
                <a:latin typeface="Arial"/>
                <a:ea typeface="Arial"/>
                <a:cs typeface="Arial"/>
              </a:defRPr>
            </a:defPPr>
            <a:lvl1pPr algn="l">
              <a:defRPr sz="3300" b="1">
                <a:solidFill>
                  <a:srgbClr val="102A43"/>
                </a:solidFill>
                <a:latin typeface="Arial"/>
                <a:ea typeface="Arial"/>
                <a:cs typeface="Arial"/>
              </a:defRPr>
            </a:lvl1pPr>
            <a:lvl2pPr algn="l">
              <a:defRPr sz="3300" b="1">
                <a:solidFill>
                  <a:srgbClr val="102A43"/>
                </a:solidFill>
                <a:latin typeface="Arial"/>
                <a:ea typeface="Arial"/>
                <a:cs typeface="Arial"/>
              </a:defRPr>
            </a:lvl2pPr>
            <a:lvl3pPr algn="l">
              <a:defRPr sz="3300" b="1">
                <a:solidFill>
                  <a:srgbClr val="102A43"/>
                </a:solidFill>
                <a:latin typeface="Arial"/>
                <a:ea typeface="Arial"/>
                <a:cs typeface="Arial"/>
              </a:defRPr>
            </a:lvl3pPr>
            <a:lvl4pPr algn="l">
              <a:defRPr sz="3300" b="1">
                <a:solidFill>
                  <a:srgbClr val="102A43"/>
                </a:solidFill>
                <a:latin typeface="Arial"/>
                <a:ea typeface="Arial"/>
                <a:cs typeface="Arial"/>
              </a:defRPr>
            </a:lvl4pPr>
            <a:lvl5pPr algn="l">
              <a:defRPr sz="3300" b="1">
                <a:solidFill>
                  <a:srgbClr val="102A43"/>
                </a:solidFill>
                <a:latin typeface="Arial"/>
                <a:ea typeface="Arial"/>
                <a:cs typeface="Arial"/>
              </a:defRPr>
            </a:lvl5pPr>
            <a:lvl6pPr algn="l">
              <a:defRPr sz="3300" b="1">
                <a:solidFill>
                  <a:srgbClr val="102A43"/>
                </a:solidFill>
                <a:latin typeface="Arial"/>
                <a:ea typeface="Arial"/>
                <a:cs typeface="Arial"/>
              </a:defRPr>
            </a:lvl6pPr>
            <a:lvl7pPr algn="l">
              <a:defRPr sz="3300" b="1">
                <a:solidFill>
                  <a:srgbClr val="102A43"/>
                </a:solidFill>
                <a:latin typeface="Arial"/>
                <a:ea typeface="Arial"/>
                <a:cs typeface="Arial"/>
              </a:defRPr>
            </a:lvl7pPr>
            <a:lvl8pPr algn="l">
              <a:defRPr sz="3300" b="1">
                <a:solidFill>
                  <a:srgbClr val="102A43"/>
                </a:solidFill>
                <a:latin typeface="Arial"/>
                <a:ea typeface="Arial"/>
                <a:cs typeface="Arial"/>
              </a:defRPr>
            </a:lvl8pPr>
            <a:lvl9pPr algn="l">
              <a:defRPr sz="3300" b="1">
                <a:solidFill>
                  <a:srgbClr val="102A43"/>
                </a:solidFill>
                <a:latin typeface="Arial"/>
                <a:ea typeface="Arial"/>
                <a:cs typeface="Arial"/>
              </a:defRPr>
            </a:lvl9pPr>
          </a:lstStyle>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Xylem could match its services</a:t>
            </a:r>
          </a:p>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to each market’s inventory mix</a:t>
            </a:r>
          </a:p>
        </p:txBody>
      </p:sp>
      <p:sp>
        <p:nvSpPr>
          <p:cNvPr id="2" name="source">
            <a:extLst xmlns:a="http://schemas.openxmlformats.org/drawingml/2006/main">
              <a:ext uri="{FF2B5EF4-FFF2-40B4-BE49-F238E27FC236}">
                <a16:creationId xmlns:a16="http://schemas.microsoft.com/office/drawing/2014/main" id="{E5E5D50E-2441-4BCC-89E5-7F939FCFB920}"/>
              </a:ext>
            </a:extLst>
          </p:cNvPr>
          <p:cNvSpPr>
            <a:spLocks xmlns:a="http://schemas.openxmlformats.org/drawingml/2006/main" noGrp="1"/>
          </p:cNvSpPr>
          <p:nvPr/>
        </p:nvSpPr>
        <p:spPr>
          <a:xfrm xmlns:a="http://schemas.openxmlformats.org/drawingml/2006/main">
            <a:off x="685800" y="63817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Capability evidence: Xylem Asset Performance Optimization brochure (2022), pp. 4–5.</a:t>
            </a:r>
          </a:p>
        </p:txBody>
      </p:sp>
      <p:sp>
        <p:nvSpPr>
          <p:cNvPr id="3" name="page">
            <a:extLst xmlns:a="http://schemas.openxmlformats.org/drawingml/2006/main">
              <a:ext uri="{FF2B5EF4-FFF2-40B4-BE49-F238E27FC236}">
                <a16:creationId xmlns:a16="http://schemas.microsoft.com/office/drawing/2014/main" id="{86226132-528B-4B95-8A39-A0632C7C4317}"/>
              </a:ext>
            </a:extLst>
          </p:cNvPr>
          <p:cNvSpPr>
            <a:spLocks xmlns:a="http://schemas.openxmlformats.org/drawingml/2006/main" noGrp="1"/>
          </p:cNvSpPr>
          <p:nvPr/>
        </p:nvSpPr>
        <p:spPr>
          <a:xfrm xmlns:a="http://schemas.openxmlformats.org/drawingml/2006/main">
            <a:off x="1120140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52E9529E-E131-4FC4-B889-294ABB0896DC}"/>
              </a:ext>
            </a:extLst>
          </p:cNvPr>
          <p:cNvGraphicFramePr/>
          <p:nvPr/>
        </p:nvGraphicFramePr>
        <p:xfrm>
          <a:off xmlns:a="http://schemas.openxmlformats.org/drawingml/2006/main" x="685800" y="2095500"/>
          <a:ext xmlns:a="http://schemas.openxmlformats.org/drawingml/2006/main" cx="10820400" cy="3162300"/>
        </p:xfrm>
        <a:graphic xmlns:a="http://schemas.openxmlformats.org/drawingml/2006/main">
          <a:graphicData uri="http://schemas.openxmlformats.org/drawingml/2006/table">
            <a:tbl>
              <a:tblPr firstRow="0" bandRow="0"/>
              <a:tblGrid>
                <a:gridCol w="2724150"/>
                <a:gridCol w="2762250"/>
                <a:gridCol w="5334000"/>
              </a:tblGrid>
              <a:tr h="504825">
                <a:tc>
                  <a:txBody>
                    <a:bodyPr/>
                    <a:lstStyle/>
                    <a:p>
                      <a:r>
                        <a:rPr sz="1575" b="1">
                          <a:solidFill>
                            <a:srgbClr val="FFFFFF"/>
                          </a:solidFill>
                          <a:latin typeface="Arial"/>
                          <a:ea typeface="Arial"/>
                          <a:cs typeface="Arial"/>
                        </a:rPr>
                        <a:t>Illustrative markets</a:t>
                      </a:r>
                    </a:p>
                  </a:txBody>
                  <a:tcPr marL="152400" marR="152400" marT="133350" marB="114300" anchor="ctr">
                    <a:lnL w="9525">
                      <a:solidFill>
                        <a:srgbClr val="DCE1E4"/>
                      </a:solidFill>
                      <a:prstDash val="solid"/>
                    </a:lnL>
                    <a:lnR w="9525">
                      <a:solidFill>
                        <a:srgbClr val="DCE1E4"/>
                      </a:solidFill>
                      <a:prstDash val="solid"/>
                    </a:lnR>
                    <a:lnT w="9525">
                      <a:solidFill>
                        <a:srgbClr val="DCE1E4"/>
                      </a:solidFill>
                      <a:prstDash val="solid"/>
                    </a:lnT>
                    <a:lnB w="9525">
                      <a:solidFill>
                        <a:srgbClr val="DCE1E4"/>
                      </a:solidFill>
                      <a:prstDash val="solid"/>
                    </a:lnB>
                    <a:solidFill>
                      <a:srgbClr val="102A43"/>
                    </a:solidFill>
                  </a:tcPr>
                </a:tc>
                <a:tc>
                  <a:txBody>
                    <a:bodyPr/>
                    <a:lstStyle/>
                    <a:p>
                      <a:r>
                        <a:rPr sz="1575" b="1">
                          <a:solidFill>
                            <a:srgbClr val="FFFFFF"/>
                          </a:solidFill>
                          <a:latin typeface="Arial"/>
                          <a:ea typeface="Arial"/>
                          <a:cs typeface="Arial"/>
                        </a:rPr>
                        <a:t>Proposed emphasis</a:t>
                      </a:r>
                    </a:p>
                  </a:txBody>
                  <a:tcPr marL="152400" marR="152400" marT="133350" marB="114300" anchor="ctr">
                    <a:lnR w="9525">
                      <a:solidFill>
                        <a:srgbClr val="DCE1E4"/>
                      </a:solidFill>
                      <a:prstDash val="solid"/>
                    </a:lnR>
                    <a:lnT w="9525">
                      <a:solidFill>
                        <a:srgbClr val="DCE1E4"/>
                      </a:solidFill>
                      <a:prstDash val="solid"/>
                    </a:lnT>
                    <a:lnB w="9525">
                      <a:solidFill>
                        <a:srgbClr val="DCE1E4"/>
                      </a:solidFill>
                      <a:prstDash val="solid"/>
                    </a:lnB>
                    <a:solidFill>
                      <a:srgbClr val="102A43"/>
                    </a:solidFill>
                  </a:tcPr>
                </a:tc>
                <a:tc>
                  <a:txBody>
                    <a:bodyPr/>
                    <a:lstStyle/>
                    <a:p>
                      <a:r>
                        <a:rPr sz="1575" b="1">
                          <a:solidFill>
                            <a:srgbClr val="FFFFFF"/>
                          </a:solidFill>
                          <a:latin typeface="Arial"/>
                          <a:ea typeface="Arial"/>
                          <a:cs typeface="Arial"/>
                        </a:rPr>
                        <a:t>What Xylem could help utilities do</a:t>
                      </a:r>
                    </a:p>
                  </a:txBody>
                  <a:tcPr marL="152400" marR="152400" marT="133350" marB="114300" anchor="ctr">
                    <a:lnR w="9525">
                      <a:solidFill>
                        <a:srgbClr val="DCE1E4"/>
                      </a:solidFill>
                      <a:prstDash val="solid"/>
                    </a:lnR>
                    <a:lnT w="9525">
                      <a:solidFill>
                        <a:srgbClr val="DCE1E4"/>
                      </a:solidFill>
                      <a:prstDash val="solid"/>
                    </a:lnT>
                    <a:lnB w="9525">
                      <a:solidFill>
                        <a:srgbClr val="DCE1E4"/>
                      </a:solidFill>
                      <a:prstDash val="solid"/>
                    </a:lnB>
                    <a:solidFill>
                      <a:srgbClr val="102A43"/>
                    </a:solidFill>
                  </a:tcPr>
                </a:tc>
              </a:tr>
              <a:tr h="885825">
                <a:tc>
                  <a:txBody>
                    <a:bodyPr/>
                    <a:lstStyle/>
                    <a:p>
                      <a:r>
                        <a:rPr sz="1800" b="0">
                          <a:solidFill>
                            <a:srgbClr val="102A43"/>
                          </a:solidFill>
                          <a:latin typeface="Arial"/>
                          <a:ea typeface="Arial"/>
                          <a:cs typeface="Arial"/>
                        </a:rPr>
                        <a:t>Texas and</a:t>
                      </a:r>
                    </a:p>
                    <a:p>
                      <a:r>
                        <a:rPr sz="1800" b="0">
                          <a:solidFill>
                            <a:srgbClr val="102A43"/>
                          </a:solidFill>
                          <a:latin typeface="Arial"/>
                          <a:ea typeface="Arial"/>
                          <a:cs typeface="Arial"/>
                        </a:rPr>
                        <a:t>Pennsylvania</a:t>
                      </a:r>
                    </a:p>
                  </a:txBody>
                  <a:tcPr marL="152400" marR="152400" marT="133350" marB="114300" anchor="ctr">
                    <a:lnL w="9525">
                      <a:solidFill>
                        <a:srgbClr val="DCE1E4"/>
                      </a:solidFill>
                      <a:prstDash val="solid"/>
                    </a:lnL>
                    <a:lnR w="9525">
                      <a:solidFill>
                        <a:srgbClr val="DCE1E4"/>
                      </a:solidFill>
                      <a:prstDash val="solid"/>
                    </a:lnR>
                    <a:lnB w="9525">
                      <a:solidFill>
                        <a:srgbClr val="DCE1E4"/>
                      </a:solidFill>
                      <a:prstDash val="solid"/>
                    </a:lnB>
                    <a:solidFill>
                      <a:srgbClr val="F7F4EE"/>
                    </a:solidFill>
                  </a:tcPr>
                </a:tc>
                <a:tc>
                  <a:txBody>
                    <a:bodyPr/>
                    <a:lstStyle/>
                    <a:p>
                      <a:r>
                        <a:rPr sz="1800" b="1">
                          <a:solidFill>
                            <a:srgbClr val="D96A20"/>
                          </a:solidFill>
                          <a:latin typeface="Arial"/>
                          <a:ea typeface="Arial"/>
                          <a:cs typeface="Arial"/>
                        </a:rPr>
                        <a:t>Identification</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c>
                  <a:txBody>
                    <a:bodyPr/>
                    <a:lstStyle/>
                    <a:p>
                      <a:r>
                        <a:rPr sz="1800" b="0">
                          <a:solidFill>
                            <a:srgbClr val="102A43"/>
                          </a:solidFill>
                          <a:latin typeface="Arial"/>
                          <a:ea typeface="Arial"/>
                          <a:cs typeface="Arial"/>
                        </a:rPr>
                        <a:t>Verify Unknown materials and</a:t>
                      </a:r>
                    </a:p>
                    <a:p>
                      <a:r>
                        <a:rPr sz="1800" b="0">
                          <a:solidFill>
                            <a:srgbClr val="102A43"/>
                          </a:solidFill>
                          <a:latin typeface="Arial"/>
                          <a:ea typeface="Arial"/>
                          <a:cs typeface="Arial"/>
                        </a:rPr>
                        <a:t>build usable service line inventories.</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r>
              <a:tr h="885825">
                <a:tc>
                  <a:txBody>
                    <a:bodyPr/>
                    <a:lstStyle/>
                    <a:p>
                      <a:r>
                        <a:rPr sz="1800" b="0">
                          <a:solidFill>
                            <a:srgbClr val="102A43"/>
                          </a:solidFill>
                          <a:latin typeface="Arial"/>
                          <a:ea typeface="Arial"/>
                          <a:cs typeface="Arial"/>
                        </a:rPr>
                        <a:t>Illinois</a:t>
                      </a:r>
                    </a:p>
                  </a:txBody>
                  <a:tcPr marL="152400" marR="152400" marT="133350" marB="114300" anchor="ctr">
                    <a:lnL w="9525">
                      <a:solidFill>
                        <a:srgbClr val="DCE1E4"/>
                      </a:solidFill>
                      <a:prstDash val="solid"/>
                    </a:lnL>
                    <a:lnR w="9525">
                      <a:solidFill>
                        <a:srgbClr val="DCE1E4"/>
                      </a:solidFill>
                      <a:prstDash val="solid"/>
                    </a:lnR>
                    <a:lnB w="9525">
                      <a:solidFill>
                        <a:srgbClr val="DCE1E4"/>
                      </a:solidFill>
                      <a:prstDash val="solid"/>
                    </a:lnB>
                    <a:solidFill>
                      <a:srgbClr val="F7F4EE"/>
                    </a:solidFill>
                  </a:tcPr>
                </a:tc>
                <a:tc>
                  <a:txBody>
                    <a:bodyPr/>
                    <a:lstStyle/>
                    <a:p>
                      <a:r>
                        <a:rPr sz="1800" b="1">
                          <a:solidFill>
                            <a:srgbClr val="3F73C7"/>
                          </a:solidFill>
                          <a:latin typeface="Arial"/>
                          <a:ea typeface="Arial"/>
                          <a:cs typeface="Arial"/>
                        </a:rPr>
                        <a:t>Replacement planning</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c>
                  <a:txBody>
                    <a:bodyPr/>
                    <a:lstStyle/>
                    <a:p>
                      <a:r>
                        <a:rPr sz="1800" b="0">
                          <a:solidFill>
                            <a:srgbClr val="102A43"/>
                          </a:solidFill>
                          <a:latin typeface="Arial"/>
                          <a:ea typeface="Arial"/>
                          <a:cs typeface="Arial"/>
                        </a:rPr>
                        <a:t>Prioritize known replacement lines</a:t>
                      </a:r>
                    </a:p>
                    <a:p>
                      <a:r>
                        <a:rPr sz="1800" b="0">
                          <a:solidFill>
                            <a:srgbClr val="102A43"/>
                          </a:solidFill>
                          <a:latin typeface="Arial"/>
                          <a:ea typeface="Arial"/>
                          <a:cs typeface="Arial"/>
                        </a:rPr>
                        <a:t>and develop funded project plans.</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r>
              <a:tr h="885825">
                <a:tc>
                  <a:txBody>
                    <a:bodyPr/>
                    <a:lstStyle/>
                    <a:p>
                      <a:r>
                        <a:rPr sz="1800" b="0">
                          <a:solidFill>
                            <a:srgbClr val="102A43"/>
                          </a:solidFill>
                          <a:latin typeface="Arial"/>
                          <a:ea typeface="Arial"/>
                          <a:cs typeface="Arial"/>
                        </a:rPr>
                        <a:t>Ohio and</a:t>
                      </a:r>
                    </a:p>
                    <a:p>
                      <a:r>
                        <a:rPr sz="1800" b="0">
                          <a:solidFill>
                            <a:srgbClr val="102A43"/>
                          </a:solidFill>
                          <a:latin typeface="Arial"/>
                          <a:ea typeface="Arial"/>
                          <a:cs typeface="Arial"/>
                        </a:rPr>
                        <a:t>New York</a:t>
                      </a:r>
                    </a:p>
                  </a:txBody>
                  <a:tcPr marL="152400" marR="152400" marT="133350" marB="114300" anchor="ctr">
                    <a:lnL w="9525">
                      <a:solidFill>
                        <a:srgbClr val="DCE1E4"/>
                      </a:solidFill>
                      <a:prstDash val="solid"/>
                    </a:lnL>
                    <a:lnR w="9525">
                      <a:solidFill>
                        <a:srgbClr val="DCE1E4"/>
                      </a:solidFill>
                      <a:prstDash val="solid"/>
                    </a:lnR>
                    <a:lnB w="9525">
                      <a:solidFill>
                        <a:srgbClr val="DCE1E4"/>
                      </a:solidFill>
                      <a:prstDash val="solid"/>
                    </a:lnB>
                    <a:solidFill>
                      <a:srgbClr val="F7F4EE"/>
                    </a:solidFill>
                  </a:tcPr>
                </a:tc>
                <a:tc>
                  <a:txBody>
                    <a:bodyPr/>
                    <a:lstStyle/>
                    <a:p>
                      <a:r>
                        <a:rPr sz="1800" b="1">
                          <a:solidFill>
                            <a:srgbClr val="102A43"/>
                          </a:solidFill>
                          <a:latin typeface="Arial"/>
                          <a:ea typeface="Arial"/>
                          <a:cs typeface="Arial"/>
                        </a:rPr>
                        <a:t>Both in parallel</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c>
                  <a:txBody>
                    <a:bodyPr/>
                    <a:lstStyle/>
                    <a:p>
                      <a:r>
                        <a:rPr sz="1800" b="0">
                          <a:solidFill>
                            <a:srgbClr val="102A43"/>
                          </a:solidFill>
                          <a:latin typeface="Arial"/>
                          <a:ea typeface="Arial"/>
                          <a:cs typeface="Arial"/>
                        </a:rPr>
                        <a:t>Resolve Unknown materials while</a:t>
                      </a:r>
                    </a:p>
                    <a:p>
                      <a:r>
                        <a:rPr sz="1800" b="0">
                          <a:solidFill>
                            <a:srgbClr val="102A43"/>
                          </a:solidFill>
                          <a:latin typeface="Arial"/>
                          <a:ea typeface="Arial"/>
                          <a:cs typeface="Arial"/>
                        </a:rPr>
                        <a:t>planning known replacement work.</a:t>
                      </a:r>
                    </a:p>
                  </a:txBody>
                  <a:tcPr marL="152400" marR="152400" marT="133350" marB="114300" anchor="ctr">
                    <a:lnR w="9525">
                      <a:solidFill>
                        <a:srgbClr val="DCE1E4"/>
                      </a:solidFill>
                      <a:prstDash val="solid"/>
                    </a:lnR>
                    <a:lnB w="9525">
                      <a:solidFill>
                        <a:srgbClr val="DCE1E4"/>
                      </a:solidFill>
                      <a:prstDash val="solid"/>
                    </a:lnB>
                    <a:solidFill>
                      <a:srgbClr val="F7F4EE"/>
                    </a:solidFill>
                  </a:tcPr>
                </a:tc>
              </a:tr>
            </a:tbl>
          </a:graphicData>
        </a:graphic>
      </p:graphicFrame>
      <p:sp>
        <p:nvSpPr>
          <p:cNvPr id="5" name="fit">
            <a:extLst xmlns:a="http://schemas.openxmlformats.org/drawingml/2006/main">
              <a:ext uri="{FF2B5EF4-FFF2-40B4-BE49-F238E27FC236}">
                <a16:creationId xmlns:a16="http://schemas.microsoft.com/office/drawing/2014/main" id="{9A0BDE25-8103-4F69-BB9F-6441141ADC1A}"/>
              </a:ext>
            </a:extLst>
          </p:cNvPr>
          <p:cNvSpPr>
            <a:spLocks xmlns:a="http://schemas.openxmlformats.org/drawingml/2006/main" noGrp="1"/>
          </p:cNvSpPr>
          <p:nvPr/>
        </p:nvSpPr>
        <p:spPr>
          <a:xfrm xmlns:a="http://schemas.openxmlformats.org/drawingml/2006/main">
            <a:off x="685800" y="56197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102A43"/>
                </a:solidFill>
                <a:latin typeface="Arial"/>
                <a:ea typeface="Arial"/>
                <a:cs typeface="Arial"/>
              </a:defRPr>
            </a:defPPr>
            <a:lvl1pPr algn="l">
              <a:defRPr sz="1950" b="1">
                <a:solidFill>
                  <a:srgbClr val="102A43"/>
                </a:solidFill>
                <a:latin typeface="Arial"/>
                <a:ea typeface="Arial"/>
                <a:cs typeface="Arial"/>
              </a:defRPr>
            </a:lvl1pPr>
            <a:lvl2pPr algn="l">
              <a:defRPr sz="1950" b="1">
                <a:solidFill>
                  <a:srgbClr val="102A43"/>
                </a:solidFill>
                <a:latin typeface="Arial"/>
                <a:ea typeface="Arial"/>
                <a:cs typeface="Arial"/>
              </a:defRPr>
            </a:lvl2pPr>
            <a:lvl3pPr algn="l">
              <a:defRPr sz="1950" b="1">
                <a:solidFill>
                  <a:srgbClr val="102A43"/>
                </a:solidFill>
                <a:latin typeface="Arial"/>
                <a:ea typeface="Arial"/>
                <a:cs typeface="Arial"/>
              </a:defRPr>
            </a:lvl3pPr>
            <a:lvl4pPr algn="l">
              <a:defRPr sz="1950" b="1">
                <a:solidFill>
                  <a:srgbClr val="102A43"/>
                </a:solidFill>
                <a:latin typeface="Arial"/>
                <a:ea typeface="Arial"/>
                <a:cs typeface="Arial"/>
              </a:defRPr>
            </a:lvl4pPr>
            <a:lvl5pPr algn="l">
              <a:defRPr sz="1950" b="1">
                <a:solidFill>
                  <a:srgbClr val="102A43"/>
                </a:solidFill>
                <a:latin typeface="Arial"/>
                <a:ea typeface="Arial"/>
                <a:cs typeface="Arial"/>
              </a:defRPr>
            </a:lvl5pPr>
            <a:lvl6pPr algn="l">
              <a:defRPr sz="1950" b="1">
                <a:solidFill>
                  <a:srgbClr val="102A43"/>
                </a:solidFill>
                <a:latin typeface="Arial"/>
                <a:ea typeface="Arial"/>
                <a:cs typeface="Arial"/>
              </a:defRPr>
            </a:lvl6pPr>
            <a:lvl7pPr algn="l">
              <a:defRPr sz="1950" b="1">
                <a:solidFill>
                  <a:srgbClr val="102A43"/>
                </a:solidFill>
                <a:latin typeface="Arial"/>
                <a:ea typeface="Arial"/>
                <a:cs typeface="Arial"/>
              </a:defRPr>
            </a:lvl7pPr>
            <a:lvl8pPr algn="l">
              <a:defRPr sz="1950" b="1">
                <a:solidFill>
                  <a:srgbClr val="102A43"/>
                </a:solidFill>
                <a:latin typeface="Arial"/>
                <a:ea typeface="Arial"/>
                <a:cs typeface="Arial"/>
              </a:defRPr>
            </a:lvl8pPr>
            <a:lvl9pPr algn="l">
              <a:defRPr sz="1950" b="1">
                <a:solidFill>
                  <a:srgbClr val="102A43"/>
                </a:solidFill>
                <a:latin typeface="Arial"/>
                <a:ea typeface="Arial"/>
                <a:cs typeface="Arial"/>
              </a:defRPr>
            </a:lvl9pPr>
          </a:lstStyle>
          <a:p xmlns:a="http://schemas.openxmlformats.org/drawingml/2006/main">
            <a:pPr algn="l">
              <a:defRPr sz="1950" b="1">
                <a:solidFill>
                  <a:srgbClr val="102A43"/>
                </a:solidFill>
                <a:latin typeface="Arial"/>
                <a:ea typeface="Arial"/>
                <a:cs typeface="Arial"/>
              </a:defRPr>
            </a:pPr>
            <a:r>
              <a:rPr sz="1950" b="1">
                <a:solidFill>
                  <a:srgbClr val="102A43"/>
                </a:solidFill>
                <a:latin typeface="Arial"/>
                <a:ea typeface="Arial"/>
                <a:cs typeface="Arial"/>
              </a:rPr>
              <a:t>Xylem documents detection, inventory, funding and planning capabilities.</a:t>
            </a:r>
          </a:p>
        </p:txBody>
      </p:sp>
      <p:sp>
        <p:nvSpPr>
          <p:cNvPr id="6" name="condition">
            <a:extLst xmlns:a="http://schemas.openxmlformats.org/drawingml/2006/main">
              <a:ext uri="{FF2B5EF4-FFF2-40B4-BE49-F238E27FC236}">
                <a16:creationId xmlns:a16="http://schemas.microsoft.com/office/drawing/2014/main" id="{F65F6610-94C5-4167-BB10-547CC8312EA6}"/>
              </a:ext>
            </a:extLst>
          </p:cNvPr>
          <p:cNvSpPr>
            <a:spLocks xmlns:a="http://schemas.openxmlformats.org/drawingml/2006/main" noGrp="1"/>
          </p:cNvSpPr>
          <p:nvPr/>
        </p:nvSpPr>
        <p:spPr>
          <a:xfrm xmlns:a="http://schemas.openxmlformats.org/drawingml/2006/main">
            <a:off x="685800" y="60293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0">
                <a:solidFill>
                  <a:srgbClr val="52636E"/>
                </a:solidFill>
                <a:latin typeface="Arial"/>
                <a:ea typeface="Arial"/>
                <a:cs typeface="Arial"/>
              </a:defRPr>
            </a:defPPr>
            <a:lvl1pPr algn="l">
              <a:defRPr sz="1350" b="0">
                <a:solidFill>
                  <a:srgbClr val="52636E"/>
                </a:solidFill>
                <a:latin typeface="Arial"/>
                <a:ea typeface="Arial"/>
                <a:cs typeface="Arial"/>
              </a:defRPr>
            </a:lvl1pPr>
            <a:lvl2pPr algn="l">
              <a:defRPr sz="1350" b="0">
                <a:solidFill>
                  <a:srgbClr val="52636E"/>
                </a:solidFill>
                <a:latin typeface="Arial"/>
                <a:ea typeface="Arial"/>
                <a:cs typeface="Arial"/>
              </a:defRPr>
            </a:lvl2pPr>
            <a:lvl3pPr algn="l">
              <a:defRPr sz="1350" b="0">
                <a:solidFill>
                  <a:srgbClr val="52636E"/>
                </a:solidFill>
                <a:latin typeface="Arial"/>
                <a:ea typeface="Arial"/>
                <a:cs typeface="Arial"/>
              </a:defRPr>
            </a:lvl3pPr>
            <a:lvl4pPr algn="l">
              <a:defRPr sz="1350" b="0">
                <a:solidFill>
                  <a:srgbClr val="52636E"/>
                </a:solidFill>
                <a:latin typeface="Arial"/>
                <a:ea typeface="Arial"/>
                <a:cs typeface="Arial"/>
              </a:defRPr>
            </a:lvl4pPr>
            <a:lvl5pPr algn="l">
              <a:defRPr sz="1350" b="0">
                <a:solidFill>
                  <a:srgbClr val="52636E"/>
                </a:solidFill>
                <a:latin typeface="Arial"/>
                <a:ea typeface="Arial"/>
                <a:cs typeface="Arial"/>
              </a:defRPr>
            </a:lvl5pPr>
            <a:lvl6pPr algn="l">
              <a:defRPr sz="1350" b="0">
                <a:solidFill>
                  <a:srgbClr val="52636E"/>
                </a:solidFill>
                <a:latin typeface="Arial"/>
                <a:ea typeface="Arial"/>
                <a:cs typeface="Arial"/>
              </a:defRPr>
            </a:lvl6pPr>
            <a:lvl7pPr algn="l">
              <a:defRPr sz="1350" b="0">
                <a:solidFill>
                  <a:srgbClr val="52636E"/>
                </a:solidFill>
                <a:latin typeface="Arial"/>
                <a:ea typeface="Arial"/>
                <a:cs typeface="Arial"/>
              </a:defRPr>
            </a:lvl7pPr>
            <a:lvl8pPr algn="l">
              <a:defRPr sz="1350" b="0">
                <a:solidFill>
                  <a:srgbClr val="52636E"/>
                </a:solidFill>
                <a:latin typeface="Arial"/>
                <a:ea typeface="Arial"/>
                <a:cs typeface="Arial"/>
              </a:defRPr>
            </a:lvl8pPr>
            <a:lvl9pPr algn="l">
              <a:defRPr sz="1350" b="0">
                <a:solidFill>
                  <a:srgbClr val="52636E"/>
                </a:solidFill>
                <a:latin typeface="Arial"/>
                <a:ea typeface="Arial"/>
                <a:cs typeface="Arial"/>
              </a:defRPr>
            </a:lvl9pPr>
          </a:lstStyle>
          <a:p xmlns:a="http://schemas.openxmlformats.org/drawingml/2006/main">
            <a:pPr algn="l">
              <a:defRPr sz="1350" b="0">
                <a:solidFill>
                  <a:srgbClr val="52636E"/>
                </a:solidFill>
                <a:latin typeface="Arial"/>
                <a:ea typeface="Arial"/>
                <a:cs typeface="Arial"/>
              </a:defRPr>
            </a:pPr>
            <a:r>
              <a:rPr sz="1350" b="0">
                <a:solidFill>
                  <a:srgbClr val="52636E"/>
                </a:solidFill>
                <a:latin typeface="Arial"/>
                <a:ea typeface="Arial"/>
                <a:cs typeface="Arial"/>
              </a:rPr>
              <a:t>Proposed service emphases. Confirm current service scope and utility needs before delivery.</a:t>
            </a:r>
          </a:p>
        </p:txBody>
      </p:sp>
    </p:spTree>
    <p:extLst>
      <p:ext uri="{BB962C8B-B14F-4D97-AF65-F5344CB8AC3E}">
        <p14:creationId xmlns:p14="http://schemas.microsoft.com/office/powerpoint/2010/main" val="927770618"/>
      </p:ext>
    </p:extLst>
  </p:cSld>
</p:sld>
</file>

<file path=ppt/slides/slide5.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D1CD729A-7A24-4DC3-B44A-BCFA11FD2272}"/>
              </a:ext>
            </a:extLst>
          </p:cNvPr>
          <p:cNvSpPr>
            <a:spLocks xmlns:a="http://schemas.openxmlformats.org/drawingml/2006/main" noGrp="1"/>
          </p:cNvSpPr>
          <p:nvPr/>
        </p:nvSpPr>
        <p:spPr>
          <a:xfrm xmlns:a="http://schemas.openxmlformats.org/drawingml/2006/main">
            <a:off x="685800" y="5524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102A43"/>
                </a:solidFill>
                <a:latin typeface="Arial"/>
                <a:ea typeface="Arial"/>
                <a:cs typeface="Arial"/>
              </a:defRPr>
            </a:defPPr>
            <a:lvl1pPr algn="l">
              <a:defRPr sz="3300" b="1">
                <a:solidFill>
                  <a:srgbClr val="102A43"/>
                </a:solidFill>
                <a:latin typeface="Arial"/>
                <a:ea typeface="Arial"/>
                <a:cs typeface="Arial"/>
              </a:defRPr>
            </a:lvl1pPr>
            <a:lvl2pPr algn="l">
              <a:defRPr sz="3300" b="1">
                <a:solidFill>
                  <a:srgbClr val="102A43"/>
                </a:solidFill>
                <a:latin typeface="Arial"/>
                <a:ea typeface="Arial"/>
                <a:cs typeface="Arial"/>
              </a:defRPr>
            </a:lvl2pPr>
            <a:lvl3pPr algn="l">
              <a:defRPr sz="3300" b="1">
                <a:solidFill>
                  <a:srgbClr val="102A43"/>
                </a:solidFill>
                <a:latin typeface="Arial"/>
                <a:ea typeface="Arial"/>
                <a:cs typeface="Arial"/>
              </a:defRPr>
            </a:lvl3pPr>
            <a:lvl4pPr algn="l">
              <a:defRPr sz="3300" b="1">
                <a:solidFill>
                  <a:srgbClr val="102A43"/>
                </a:solidFill>
                <a:latin typeface="Arial"/>
                <a:ea typeface="Arial"/>
                <a:cs typeface="Arial"/>
              </a:defRPr>
            </a:lvl4pPr>
            <a:lvl5pPr algn="l">
              <a:defRPr sz="3300" b="1">
                <a:solidFill>
                  <a:srgbClr val="102A43"/>
                </a:solidFill>
                <a:latin typeface="Arial"/>
                <a:ea typeface="Arial"/>
                <a:cs typeface="Arial"/>
              </a:defRPr>
            </a:lvl5pPr>
            <a:lvl6pPr algn="l">
              <a:defRPr sz="3300" b="1">
                <a:solidFill>
                  <a:srgbClr val="102A43"/>
                </a:solidFill>
                <a:latin typeface="Arial"/>
                <a:ea typeface="Arial"/>
                <a:cs typeface="Arial"/>
              </a:defRPr>
            </a:lvl6pPr>
            <a:lvl7pPr algn="l">
              <a:defRPr sz="3300" b="1">
                <a:solidFill>
                  <a:srgbClr val="102A43"/>
                </a:solidFill>
                <a:latin typeface="Arial"/>
                <a:ea typeface="Arial"/>
                <a:cs typeface="Arial"/>
              </a:defRPr>
            </a:lvl7pPr>
            <a:lvl8pPr algn="l">
              <a:defRPr sz="3300" b="1">
                <a:solidFill>
                  <a:srgbClr val="102A43"/>
                </a:solidFill>
                <a:latin typeface="Arial"/>
                <a:ea typeface="Arial"/>
                <a:cs typeface="Arial"/>
              </a:defRPr>
            </a:lvl8pPr>
            <a:lvl9pPr algn="l">
              <a:defRPr sz="3300" b="1">
                <a:solidFill>
                  <a:srgbClr val="102A43"/>
                </a:solidFill>
                <a:latin typeface="Arial"/>
                <a:ea typeface="Arial"/>
                <a:cs typeface="Arial"/>
              </a:defRPr>
            </a:lvl9pPr>
          </a:lstStyle>
          <a:p xmlns:a="http://schemas.openxmlformats.org/drawingml/2006/main">
            <a:pPr algn="l">
              <a:defRPr sz="3300" b="1">
                <a:solidFill>
                  <a:srgbClr val="102A43"/>
                </a:solidFill>
                <a:latin typeface="Arial"/>
                <a:ea typeface="Arial"/>
                <a:cs typeface="Arial"/>
              </a:defRPr>
            </a:pPr>
            <a:r>
              <a:rPr sz="3300" b="1">
                <a:solidFill>
                  <a:srgbClr val="102A43"/>
                </a:solidFill>
                <a:latin typeface="Arial"/>
                <a:ea typeface="Arial"/>
                <a:cs typeface="Arial"/>
              </a:rPr>
              <a:t>Utility screening is the next decision</a:t>
            </a:r>
          </a:p>
        </p:txBody>
      </p:sp>
      <p:sp>
        <p:nvSpPr>
          <p:cNvPr id="2" name="source">
            <a:extLst xmlns:a="http://schemas.openxmlformats.org/drawingml/2006/main">
              <a:ext uri="{FF2B5EF4-FFF2-40B4-BE49-F238E27FC236}">
                <a16:creationId xmlns:a16="http://schemas.microsoft.com/office/drawing/2014/main" id="{0886762D-E5FB-40C1-B790-F02D66DF7172}"/>
              </a:ext>
            </a:extLst>
          </p:cNvPr>
          <p:cNvSpPr>
            <a:spLocks xmlns:a="http://schemas.openxmlformats.org/drawingml/2006/main" noGrp="1"/>
          </p:cNvSpPr>
          <p:nvPr/>
        </p:nvSpPr>
        <p:spPr>
          <a:xfrm xmlns:a="http://schemas.openxmlformats.org/drawingml/2006/main">
            <a:off x="685800" y="63817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Proposed next steps. State totals do not establish customer demand, funding or project readiness.</a:t>
            </a:r>
          </a:p>
        </p:txBody>
      </p:sp>
      <p:sp>
        <p:nvSpPr>
          <p:cNvPr id="3" name="page">
            <a:extLst xmlns:a="http://schemas.openxmlformats.org/drawingml/2006/main">
              <a:ext uri="{FF2B5EF4-FFF2-40B4-BE49-F238E27FC236}">
                <a16:creationId xmlns:a16="http://schemas.microsoft.com/office/drawing/2014/main" id="{481B6FB1-A18E-4EEA-8968-E37363386BC9}"/>
              </a:ext>
            </a:extLst>
          </p:cNvPr>
          <p:cNvSpPr>
            <a:spLocks xmlns:a="http://schemas.openxmlformats.org/drawingml/2006/main" noGrp="1"/>
          </p:cNvSpPr>
          <p:nvPr/>
        </p:nvSpPr>
        <p:spPr>
          <a:xfrm xmlns:a="http://schemas.openxmlformats.org/drawingml/2006/main">
            <a:off x="11201400" y="63817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52636E"/>
                </a:solidFill>
                <a:latin typeface="Arial"/>
                <a:ea typeface="Arial"/>
                <a:cs typeface="Arial"/>
              </a:defRPr>
            </a:defPPr>
            <a:lvl1pPr algn="l">
              <a:defRPr sz="1050" b="0">
                <a:solidFill>
                  <a:srgbClr val="52636E"/>
                </a:solidFill>
                <a:latin typeface="Arial"/>
                <a:ea typeface="Arial"/>
                <a:cs typeface="Arial"/>
              </a:defRPr>
            </a:lvl1pPr>
            <a:lvl2pPr algn="l">
              <a:defRPr sz="1050" b="0">
                <a:solidFill>
                  <a:srgbClr val="52636E"/>
                </a:solidFill>
                <a:latin typeface="Arial"/>
                <a:ea typeface="Arial"/>
                <a:cs typeface="Arial"/>
              </a:defRPr>
            </a:lvl2pPr>
            <a:lvl3pPr algn="l">
              <a:defRPr sz="1050" b="0">
                <a:solidFill>
                  <a:srgbClr val="52636E"/>
                </a:solidFill>
                <a:latin typeface="Arial"/>
                <a:ea typeface="Arial"/>
                <a:cs typeface="Arial"/>
              </a:defRPr>
            </a:lvl3pPr>
            <a:lvl4pPr algn="l">
              <a:defRPr sz="1050" b="0">
                <a:solidFill>
                  <a:srgbClr val="52636E"/>
                </a:solidFill>
                <a:latin typeface="Arial"/>
                <a:ea typeface="Arial"/>
                <a:cs typeface="Arial"/>
              </a:defRPr>
            </a:lvl4pPr>
            <a:lvl5pPr algn="l">
              <a:defRPr sz="1050" b="0">
                <a:solidFill>
                  <a:srgbClr val="52636E"/>
                </a:solidFill>
                <a:latin typeface="Arial"/>
                <a:ea typeface="Arial"/>
                <a:cs typeface="Arial"/>
              </a:defRPr>
            </a:lvl5pPr>
            <a:lvl6pPr algn="l">
              <a:defRPr sz="1050" b="0">
                <a:solidFill>
                  <a:srgbClr val="52636E"/>
                </a:solidFill>
                <a:latin typeface="Arial"/>
                <a:ea typeface="Arial"/>
                <a:cs typeface="Arial"/>
              </a:defRPr>
            </a:lvl6pPr>
            <a:lvl7pPr algn="l">
              <a:defRPr sz="1050" b="0">
                <a:solidFill>
                  <a:srgbClr val="52636E"/>
                </a:solidFill>
                <a:latin typeface="Arial"/>
                <a:ea typeface="Arial"/>
                <a:cs typeface="Arial"/>
              </a:defRPr>
            </a:lvl7pPr>
            <a:lvl8pPr algn="l">
              <a:defRPr sz="1050" b="0">
                <a:solidFill>
                  <a:srgbClr val="52636E"/>
                </a:solidFill>
                <a:latin typeface="Arial"/>
                <a:ea typeface="Arial"/>
                <a:cs typeface="Arial"/>
              </a:defRPr>
            </a:lvl8pPr>
            <a:lvl9pPr algn="l">
              <a:defRPr sz="1050" b="0">
                <a:solidFill>
                  <a:srgbClr val="52636E"/>
                </a:solidFill>
                <a:latin typeface="Arial"/>
                <a:ea typeface="Arial"/>
                <a:cs typeface="Arial"/>
              </a:defRPr>
            </a:lvl9pPr>
          </a:lstStyle>
          <a:p xmlns:a="http://schemas.openxmlformats.org/drawingml/2006/main">
            <a:pPr algn="l">
              <a:defRPr sz="1050" b="0">
                <a:solidFill>
                  <a:srgbClr val="52636E"/>
                </a:solidFill>
                <a:latin typeface="Arial"/>
                <a:ea typeface="Arial"/>
                <a:cs typeface="Arial"/>
              </a:defRPr>
            </a:pPr>
            <a:r>
              <a:rPr sz="1050" b="0">
                <a:solidFill>
                  <a:srgbClr val="52636E"/>
                </a:solidFill>
                <a:latin typeface="Arial"/>
                <a:ea typeface="Arial"/>
                <a:cs typeface="Arial"/>
              </a:rPr>
              <a:t>05</a:t>
            </a:r>
          </a:p>
        </p:txBody>
      </p:sp>
      <p:sp>
        <p:nvSpPr>
          <p:cNvPr id="4" name="subtitle">
            <a:extLst xmlns:a="http://schemas.openxmlformats.org/drawingml/2006/main">
              <a:ext uri="{FF2B5EF4-FFF2-40B4-BE49-F238E27FC236}">
                <a16:creationId xmlns:a16="http://schemas.microsoft.com/office/drawing/2014/main" id="{61395D6E-F143-4563-9C34-D103466D600E}"/>
              </a:ext>
            </a:extLst>
          </p:cNvPr>
          <p:cNvSpPr>
            <a:spLocks xmlns:a="http://schemas.openxmlformats.org/drawingml/2006/main" noGrp="1"/>
          </p:cNvSpPr>
          <p:nvPr/>
        </p:nvSpPr>
        <p:spPr>
          <a:xfrm xmlns:a="http://schemas.openxmlformats.org/drawingml/2006/main">
            <a:off x="685800" y="14192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52636E"/>
                </a:solidFill>
                <a:latin typeface="Arial"/>
                <a:ea typeface="Arial"/>
                <a:cs typeface="Arial"/>
              </a:defRPr>
            </a:defPPr>
            <a:lvl1pPr algn="l">
              <a:defRPr sz="1950" b="0">
                <a:solidFill>
                  <a:srgbClr val="52636E"/>
                </a:solidFill>
                <a:latin typeface="Arial"/>
                <a:ea typeface="Arial"/>
                <a:cs typeface="Arial"/>
              </a:defRPr>
            </a:lvl1pPr>
            <a:lvl2pPr algn="l">
              <a:defRPr sz="1950" b="0">
                <a:solidFill>
                  <a:srgbClr val="52636E"/>
                </a:solidFill>
                <a:latin typeface="Arial"/>
                <a:ea typeface="Arial"/>
                <a:cs typeface="Arial"/>
              </a:defRPr>
            </a:lvl2pPr>
            <a:lvl3pPr algn="l">
              <a:defRPr sz="1950" b="0">
                <a:solidFill>
                  <a:srgbClr val="52636E"/>
                </a:solidFill>
                <a:latin typeface="Arial"/>
                <a:ea typeface="Arial"/>
                <a:cs typeface="Arial"/>
              </a:defRPr>
            </a:lvl3pPr>
            <a:lvl4pPr algn="l">
              <a:defRPr sz="1950" b="0">
                <a:solidFill>
                  <a:srgbClr val="52636E"/>
                </a:solidFill>
                <a:latin typeface="Arial"/>
                <a:ea typeface="Arial"/>
                <a:cs typeface="Arial"/>
              </a:defRPr>
            </a:lvl4pPr>
            <a:lvl5pPr algn="l">
              <a:defRPr sz="1950" b="0">
                <a:solidFill>
                  <a:srgbClr val="52636E"/>
                </a:solidFill>
                <a:latin typeface="Arial"/>
                <a:ea typeface="Arial"/>
                <a:cs typeface="Arial"/>
              </a:defRPr>
            </a:lvl5pPr>
            <a:lvl6pPr algn="l">
              <a:defRPr sz="1950" b="0">
                <a:solidFill>
                  <a:srgbClr val="52636E"/>
                </a:solidFill>
                <a:latin typeface="Arial"/>
                <a:ea typeface="Arial"/>
                <a:cs typeface="Arial"/>
              </a:defRPr>
            </a:lvl6pPr>
            <a:lvl7pPr algn="l">
              <a:defRPr sz="1950" b="0">
                <a:solidFill>
                  <a:srgbClr val="52636E"/>
                </a:solidFill>
                <a:latin typeface="Arial"/>
                <a:ea typeface="Arial"/>
                <a:cs typeface="Arial"/>
              </a:defRPr>
            </a:lvl7pPr>
            <a:lvl8pPr algn="l">
              <a:defRPr sz="1950" b="0">
                <a:solidFill>
                  <a:srgbClr val="52636E"/>
                </a:solidFill>
                <a:latin typeface="Arial"/>
                <a:ea typeface="Arial"/>
                <a:cs typeface="Arial"/>
              </a:defRPr>
            </a:lvl8pPr>
            <a:lvl9pPr algn="l">
              <a:defRPr sz="1950" b="0">
                <a:solidFill>
                  <a:srgbClr val="52636E"/>
                </a:solidFill>
                <a:latin typeface="Arial"/>
                <a:ea typeface="Arial"/>
                <a:cs typeface="Arial"/>
              </a:defRPr>
            </a:lvl9pPr>
          </a:lstStyle>
          <a:p xmlns:a="http://schemas.openxmlformats.org/drawingml/2006/main">
            <a:pPr algn="l">
              <a:defRPr sz="1950" b="0">
                <a:solidFill>
                  <a:srgbClr val="52636E"/>
                </a:solidFill>
                <a:latin typeface="Arial"/>
                <a:ea typeface="Arial"/>
                <a:cs typeface="Arial"/>
              </a:defRPr>
            </a:pPr>
            <a:r>
              <a:rPr sz="1950" b="0">
                <a:solidFill>
                  <a:srgbClr val="52636E"/>
                </a:solidFill>
                <a:latin typeface="Arial"/>
                <a:ea typeface="Arial"/>
                <a:cs typeface="Arial"/>
              </a:rPr>
              <a:t>State patterns identify places to investigate. Utility evidence determines pilot fit.</a:t>
            </a:r>
          </a:p>
        </p:txBody>
      </p:sp>
      <p:sp>
        <p:nvSpPr>
          <p:cNvPr id="5" name="number-0">
            <a:extLst xmlns:a="http://schemas.openxmlformats.org/drawingml/2006/main">
              <a:ext uri="{FF2B5EF4-FFF2-40B4-BE49-F238E27FC236}">
                <a16:creationId xmlns:a16="http://schemas.microsoft.com/office/drawing/2014/main" id="{1117A95E-8B49-4FC1-AC2E-B5F728F92F1A}"/>
              </a:ext>
            </a:extLst>
          </p:cNvPr>
          <p:cNvSpPr>
            <a:spLocks xmlns:a="http://schemas.openxmlformats.org/drawingml/2006/main" noGrp="1"/>
          </p:cNvSpPr>
          <p:nvPr/>
        </p:nvSpPr>
        <p:spPr>
          <a:xfrm xmlns:a="http://schemas.openxmlformats.org/drawingml/2006/main">
            <a:off x="685800" y="2543175"/>
            <a:ext cx="6286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3F73C7"/>
                </a:solidFill>
                <a:latin typeface="Arial"/>
                <a:ea typeface="Arial"/>
                <a:cs typeface="Arial"/>
              </a:defRPr>
            </a:defPPr>
            <a:lvl1pPr algn="l">
              <a:defRPr sz="2400" b="1">
                <a:solidFill>
                  <a:srgbClr val="3F73C7"/>
                </a:solidFill>
                <a:latin typeface="Arial"/>
                <a:ea typeface="Arial"/>
                <a:cs typeface="Arial"/>
              </a:defRPr>
            </a:lvl1pPr>
            <a:lvl2pPr algn="l">
              <a:defRPr sz="2400" b="1">
                <a:solidFill>
                  <a:srgbClr val="3F73C7"/>
                </a:solidFill>
                <a:latin typeface="Arial"/>
                <a:ea typeface="Arial"/>
                <a:cs typeface="Arial"/>
              </a:defRPr>
            </a:lvl2pPr>
            <a:lvl3pPr algn="l">
              <a:defRPr sz="2400" b="1">
                <a:solidFill>
                  <a:srgbClr val="3F73C7"/>
                </a:solidFill>
                <a:latin typeface="Arial"/>
                <a:ea typeface="Arial"/>
                <a:cs typeface="Arial"/>
              </a:defRPr>
            </a:lvl3pPr>
            <a:lvl4pPr algn="l">
              <a:defRPr sz="2400" b="1">
                <a:solidFill>
                  <a:srgbClr val="3F73C7"/>
                </a:solidFill>
                <a:latin typeface="Arial"/>
                <a:ea typeface="Arial"/>
                <a:cs typeface="Arial"/>
              </a:defRPr>
            </a:lvl4pPr>
            <a:lvl5pPr algn="l">
              <a:defRPr sz="2400" b="1">
                <a:solidFill>
                  <a:srgbClr val="3F73C7"/>
                </a:solidFill>
                <a:latin typeface="Arial"/>
                <a:ea typeface="Arial"/>
                <a:cs typeface="Arial"/>
              </a:defRPr>
            </a:lvl5pPr>
            <a:lvl6pPr algn="l">
              <a:defRPr sz="2400" b="1">
                <a:solidFill>
                  <a:srgbClr val="3F73C7"/>
                </a:solidFill>
                <a:latin typeface="Arial"/>
                <a:ea typeface="Arial"/>
                <a:cs typeface="Arial"/>
              </a:defRPr>
            </a:lvl6pPr>
            <a:lvl7pPr algn="l">
              <a:defRPr sz="2400" b="1">
                <a:solidFill>
                  <a:srgbClr val="3F73C7"/>
                </a:solidFill>
                <a:latin typeface="Arial"/>
                <a:ea typeface="Arial"/>
                <a:cs typeface="Arial"/>
              </a:defRPr>
            </a:lvl7pPr>
            <a:lvl8pPr algn="l">
              <a:defRPr sz="2400" b="1">
                <a:solidFill>
                  <a:srgbClr val="3F73C7"/>
                </a:solidFill>
                <a:latin typeface="Arial"/>
                <a:ea typeface="Arial"/>
                <a:cs typeface="Arial"/>
              </a:defRPr>
            </a:lvl8pPr>
            <a:lvl9pPr algn="l">
              <a:defRPr sz="2400" b="1">
                <a:solidFill>
                  <a:srgbClr val="3F73C7"/>
                </a:solidFill>
                <a:latin typeface="Arial"/>
                <a:ea typeface="Arial"/>
                <a:cs typeface="Arial"/>
              </a:defRPr>
            </a:lvl9pPr>
          </a:lstStyle>
          <a:p xmlns:a="http://schemas.openxmlformats.org/drawingml/2006/main">
            <a:pPr algn="l">
              <a:defRPr sz="2400" b="1">
                <a:solidFill>
                  <a:srgbClr val="3F73C7"/>
                </a:solidFill>
                <a:latin typeface="Arial"/>
                <a:ea typeface="Arial"/>
                <a:cs typeface="Arial"/>
              </a:defRPr>
            </a:pPr>
            <a:r>
              <a:rPr sz="2400" b="1">
                <a:solidFill>
                  <a:srgbClr val="3F73C7"/>
                </a:solidFill>
                <a:latin typeface="Arial"/>
                <a:ea typeface="Arial"/>
                <a:cs typeface="Arial"/>
              </a:rPr>
              <a:t>01</a:t>
            </a:r>
          </a:p>
        </p:txBody>
      </p:sp>
      <p:sp>
        <p:nvSpPr>
          <p:cNvPr id="6" name="stage-0">
            <a:extLst xmlns:a="http://schemas.openxmlformats.org/drawingml/2006/main">
              <a:ext uri="{FF2B5EF4-FFF2-40B4-BE49-F238E27FC236}">
                <a16:creationId xmlns:a16="http://schemas.microsoft.com/office/drawing/2014/main" id="{6DF8DE87-EC90-4767-9665-6EE343691852}"/>
              </a:ext>
            </a:extLst>
          </p:cNvPr>
          <p:cNvSpPr>
            <a:spLocks xmlns:a="http://schemas.openxmlformats.org/drawingml/2006/main" noGrp="1"/>
          </p:cNvSpPr>
          <p:nvPr/>
        </p:nvSpPr>
        <p:spPr>
          <a:xfrm xmlns:a="http://schemas.openxmlformats.org/drawingml/2006/main">
            <a:off x="1533525" y="2543175"/>
            <a:ext cx="3476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02A43"/>
                </a:solidFill>
                <a:latin typeface="Arial"/>
                <a:ea typeface="Arial"/>
                <a:cs typeface="Arial"/>
              </a:defRPr>
            </a:defPPr>
            <a:lvl1pPr algn="l">
              <a:defRPr sz="2100" b="1">
                <a:solidFill>
                  <a:srgbClr val="102A43"/>
                </a:solidFill>
                <a:latin typeface="Arial"/>
                <a:ea typeface="Arial"/>
                <a:cs typeface="Arial"/>
              </a:defRPr>
            </a:lvl1pPr>
            <a:lvl2pPr algn="l">
              <a:defRPr sz="2100" b="1">
                <a:solidFill>
                  <a:srgbClr val="102A43"/>
                </a:solidFill>
                <a:latin typeface="Arial"/>
                <a:ea typeface="Arial"/>
                <a:cs typeface="Arial"/>
              </a:defRPr>
            </a:lvl2pPr>
            <a:lvl3pPr algn="l">
              <a:defRPr sz="2100" b="1">
                <a:solidFill>
                  <a:srgbClr val="102A43"/>
                </a:solidFill>
                <a:latin typeface="Arial"/>
                <a:ea typeface="Arial"/>
                <a:cs typeface="Arial"/>
              </a:defRPr>
            </a:lvl3pPr>
            <a:lvl4pPr algn="l">
              <a:defRPr sz="2100" b="1">
                <a:solidFill>
                  <a:srgbClr val="102A43"/>
                </a:solidFill>
                <a:latin typeface="Arial"/>
                <a:ea typeface="Arial"/>
                <a:cs typeface="Arial"/>
              </a:defRPr>
            </a:lvl4pPr>
            <a:lvl5pPr algn="l">
              <a:defRPr sz="2100" b="1">
                <a:solidFill>
                  <a:srgbClr val="102A43"/>
                </a:solidFill>
                <a:latin typeface="Arial"/>
                <a:ea typeface="Arial"/>
                <a:cs typeface="Arial"/>
              </a:defRPr>
            </a:lvl5pPr>
            <a:lvl6pPr algn="l">
              <a:defRPr sz="2100" b="1">
                <a:solidFill>
                  <a:srgbClr val="102A43"/>
                </a:solidFill>
                <a:latin typeface="Arial"/>
                <a:ea typeface="Arial"/>
                <a:cs typeface="Arial"/>
              </a:defRPr>
            </a:lvl6pPr>
            <a:lvl7pPr algn="l">
              <a:defRPr sz="2100" b="1">
                <a:solidFill>
                  <a:srgbClr val="102A43"/>
                </a:solidFill>
                <a:latin typeface="Arial"/>
                <a:ea typeface="Arial"/>
                <a:cs typeface="Arial"/>
              </a:defRPr>
            </a:lvl7pPr>
            <a:lvl8pPr algn="l">
              <a:defRPr sz="2100" b="1">
                <a:solidFill>
                  <a:srgbClr val="102A43"/>
                </a:solidFill>
                <a:latin typeface="Arial"/>
                <a:ea typeface="Arial"/>
                <a:cs typeface="Arial"/>
              </a:defRPr>
            </a:lvl8pPr>
            <a:lvl9pPr algn="l">
              <a:defRPr sz="2100" b="1">
                <a:solidFill>
                  <a:srgbClr val="102A43"/>
                </a:solidFill>
                <a:latin typeface="Arial"/>
                <a:ea typeface="Arial"/>
                <a:cs typeface="Arial"/>
              </a:defRPr>
            </a:lvl9pPr>
          </a:lstStyle>
          <a:p xmlns:a="http://schemas.openxmlformats.org/drawingml/2006/main">
            <a:pPr algn="l">
              <a:defRPr sz="2100" b="1">
                <a:solidFill>
                  <a:srgbClr val="102A43"/>
                </a:solidFill>
                <a:latin typeface="Arial"/>
                <a:ea typeface="Arial"/>
                <a:cs typeface="Arial"/>
              </a:defRPr>
            </a:pPr>
            <a:r>
              <a:rPr sz="2100" b="1">
                <a:solidFill>
                  <a:srgbClr val="102A43"/>
                </a:solidFill>
                <a:latin typeface="Arial"/>
                <a:ea typeface="Arial"/>
                <a:cs typeface="Arial"/>
              </a:rPr>
              <a:t>Check the inventory</a:t>
            </a:r>
          </a:p>
        </p:txBody>
      </p:sp>
      <p:sp>
        <p:nvSpPr>
          <p:cNvPr id="7" name="body-0">
            <a:extLst xmlns:a="http://schemas.openxmlformats.org/drawingml/2006/main">
              <a:ext uri="{FF2B5EF4-FFF2-40B4-BE49-F238E27FC236}">
                <a16:creationId xmlns:a16="http://schemas.microsoft.com/office/drawing/2014/main" id="{0900C2E5-A896-4FE1-88D8-66CA056375BD}"/>
              </a:ext>
            </a:extLst>
          </p:cNvPr>
          <p:cNvSpPr>
            <a:spLocks xmlns:a="http://schemas.openxmlformats.org/drawingml/2006/main" noGrp="1"/>
          </p:cNvSpPr>
          <p:nvPr/>
        </p:nvSpPr>
        <p:spPr>
          <a:xfrm xmlns:a="http://schemas.openxmlformats.org/drawingml/2006/main">
            <a:off x="5372100" y="2543175"/>
            <a:ext cx="61341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102A43"/>
                </a:solidFill>
                <a:latin typeface="Arial"/>
                <a:ea typeface="Arial"/>
                <a:cs typeface="Arial"/>
              </a:defRPr>
            </a:defPPr>
            <a:lvl1pPr algn="l">
              <a:defRPr sz="1800" b="0">
                <a:solidFill>
                  <a:srgbClr val="102A43"/>
                </a:solidFill>
                <a:latin typeface="Arial"/>
                <a:ea typeface="Arial"/>
                <a:cs typeface="Arial"/>
              </a:defRPr>
            </a:lvl1pPr>
            <a:lvl2pPr algn="l">
              <a:defRPr sz="1800" b="0">
                <a:solidFill>
                  <a:srgbClr val="102A43"/>
                </a:solidFill>
                <a:latin typeface="Arial"/>
                <a:ea typeface="Arial"/>
                <a:cs typeface="Arial"/>
              </a:defRPr>
            </a:lvl2pPr>
            <a:lvl3pPr algn="l">
              <a:defRPr sz="1800" b="0">
                <a:solidFill>
                  <a:srgbClr val="102A43"/>
                </a:solidFill>
                <a:latin typeface="Arial"/>
                <a:ea typeface="Arial"/>
                <a:cs typeface="Arial"/>
              </a:defRPr>
            </a:lvl3pPr>
            <a:lvl4pPr algn="l">
              <a:defRPr sz="1800" b="0">
                <a:solidFill>
                  <a:srgbClr val="102A43"/>
                </a:solidFill>
                <a:latin typeface="Arial"/>
                <a:ea typeface="Arial"/>
                <a:cs typeface="Arial"/>
              </a:defRPr>
            </a:lvl4pPr>
            <a:lvl5pPr algn="l">
              <a:defRPr sz="1800" b="0">
                <a:solidFill>
                  <a:srgbClr val="102A43"/>
                </a:solidFill>
                <a:latin typeface="Arial"/>
                <a:ea typeface="Arial"/>
                <a:cs typeface="Arial"/>
              </a:defRPr>
            </a:lvl5pPr>
            <a:lvl6pPr algn="l">
              <a:defRPr sz="1800" b="0">
                <a:solidFill>
                  <a:srgbClr val="102A43"/>
                </a:solidFill>
                <a:latin typeface="Arial"/>
                <a:ea typeface="Arial"/>
                <a:cs typeface="Arial"/>
              </a:defRPr>
            </a:lvl6pPr>
            <a:lvl7pPr algn="l">
              <a:defRPr sz="1800" b="0">
                <a:solidFill>
                  <a:srgbClr val="102A43"/>
                </a:solidFill>
                <a:latin typeface="Arial"/>
                <a:ea typeface="Arial"/>
                <a:cs typeface="Arial"/>
              </a:defRPr>
            </a:lvl7pPr>
            <a:lvl8pPr algn="l">
              <a:defRPr sz="1800" b="0">
                <a:solidFill>
                  <a:srgbClr val="102A43"/>
                </a:solidFill>
                <a:latin typeface="Arial"/>
                <a:ea typeface="Arial"/>
                <a:cs typeface="Arial"/>
              </a:defRPr>
            </a:lvl8pPr>
            <a:lvl9pPr algn="l">
              <a:defRPr sz="1800" b="0">
                <a:solidFill>
                  <a:srgbClr val="102A43"/>
                </a:solidFill>
                <a:latin typeface="Arial"/>
                <a:ea typeface="Arial"/>
                <a:cs typeface="Arial"/>
              </a:defRPr>
            </a:lvl9pPr>
          </a:lstStyle>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Reconcile utility records and GIS.</a:t>
            </a:r>
          </a:p>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Verify material classifications and reporting gaps.</a:t>
            </a:r>
          </a:p>
        </p:txBody>
      </p:sp>
      <p:sp>
        <p:nvSpPr>
          <p:cNvPr id="8" name="number-1">
            <a:extLst xmlns:a="http://schemas.openxmlformats.org/drawingml/2006/main">
              <a:ext uri="{FF2B5EF4-FFF2-40B4-BE49-F238E27FC236}">
                <a16:creationId xmlns:a16="http://schemas.microsoft.com/office/drawing/2014/main" id="{1A58DADB-2E6B-4DA5-AE96-25C30F43C497}"/>
              </a:ext>
            </a:extLst>
          </p:cNvPr>
          <p:cNvSpPr>
            <a:spLocks xmlns:a="http://schemas.openxmlformats.org/drawingml/2006/main" noGrp="1"/>
          </p:cNvSpPr>
          <p:nvPr/>
        </p:nvSpPr>
        <p:spPr>
          <a:xfrm xmlns:a="http://schemas.openxmlformats.org/drawingml/2006/main">
            <a:off x="685800" y="3543300"/>
            <a:ext cx="6286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3F73C7"/>
                </a:solidFill>
                <a:latin typeface="Arial"/>
                <a:ea typeface="Arial"/>
                <a:cs typeface="Arial"/>
              </a:defRPr>
            </a:defPPr>
            <a:lvl1pPr algn="l">
              <a:defRPr sz="2400" b="1">
                <a:solidFill>
                  <a:srgbClr val="3F73C7"/>
                </a:solidFill>
                <a:latin typeface="Arial"/>
                <a:ea typeface="Arial"/>
                <a:cs typeface="Arial"/>
              </a:defRPr>
            </a:lvl1pPr>
            <a:lvl2pPr algn="l">
              <a:defRPr sz="2400" b="1">
                <a:solidFill>
                  <a:srgbClr val="3F73C7"/>
                </a:solidFill>
                <a:latin typeface="Arial"/>
                <a:ea typeface="Arial"/>
                <a:cs typeface="Arial"/>
              </a:defRPr>
            </a:lvl2pPr>
            <a:lvl3pPr algn="l">
              <a:defRPr sz="2400" b="1">
                <a:solidFill>
                  <a:srgbClr val="3F73C7"/>
                </a:solidFill>
                <a:latin typeface="Arial"/>
                <a:ea typeface="Arial"/>
                <a:cs typeface="Arial"/>
              </a:defRPr>
            </a:lvl3pPr>
            <a:lvl4pPr algn="l">
              <a:defRPr sz="2400" b="1">
                <a:solidFill>
                  <a:srgbClr val="3F73C7"/>
                </a:solidFill>
                <a:latin typeface="Arial"/>
                <a:ea typeface="Arial"/>
                <a:cs typeface="Arial"/>
              </a:defRPr>
            </a:lvl4pPr>
            <a:lvl5pPr algn="l">
              <a:defRPr sz="2400" b="1">
                <a:solidFill>
                  <a:srgbClr val="3F73C7"/>
                </a:solidFill>
                <a:latin typeface="Arial"/>
                <a:ea typeface="Arial"/>
                <a:cs typeface="Arial"/>
              </a:defRPr>
            </a:lvl5pPr>
            <a:lvl6pPr algn="l">
              <a:defRPr sz="2400" b="1">
                <a:solidFill>
                  <a:srgbClr val="3F73C7"/>
                </a:solidFill>
                <a:latin typeface="Arial"/>
                <a:ea typeface="Arial"/>
                <a:cs typeface="Arial"/>
              </a:defRPr>
            </a:lvl6pPr>
            <a:lvl7pPr algn="l">
              <a:defRPr sz="2400" b="1">
                <a:solidFill>
                  <a:srgbClr val="3F73C7"/>
                </a:solidFill>
                <a:latin typeface="Arial"/>
                <a:ea typeface="Arial"/>
                <a:cs typeface="Arial"/>
              </a:defRPr>
            </a:lvl7pPr>
            <a:lvl8pPr algn="l">
              <a:defRPr sz="2400" b="1">
                <a:solidFill>
                  <a:srgbClr val="3F73C7"/>
                </a:solidFill>
                <a:latin typeface="Arial"/>
                <a:ea typeface="Arial"/>
                <a:cs typeface="Arial"/>
              </a:defRPr>
            </a:lvl8pPr>
            <a:lvl9pPr algn="l">
              <a:defRPr sz="2400" b="1">
                <a:solidFill>
                  <a:srgbClr val="3F73C7"/>
                </a:solidFill>
                <a:latin typeface="Arial"/>
                <a:ea typeface="Arial"/>
                <a:cs typeface="Arial"/>
              </a:defRPr>
            </a:lvl9pPr>
          </a:lstStyle>
          <a:p xmlns:a="http://schemas.openxmlformats.org/drawingml/2006/main">
            <a:pPr algn="l">
              <a:defRPr sz="2400" b="1">
                <a:solidFill>
                  <a:srgbClr val="3F73C7"/>
                </a:solidFill>
                <a:latin typeface="Arial"/>
                <a:ea typeface="Arial"/>
                <a:cs typeface="Arial"/>
              </a:defRPr>
            </a:pPr>
            <a:r>
              <a:rPr sz="2400" b="1">
                <a:solidFill>
                  <a:srgbClr val="3F73C7"/>
                </a:solidFill>
                <a:latin typeface="Arial"/>
                <a:ea typeface="Arial"/>
                <a:cs typeface="Arial"/>
              </a:rPr>
              <a:t>02</a:t>
            </a:r>
          </a:p>
        </p:txBody>
      </p:sp>
      <p:sp>
        <p:nvSpPr>
          <p:cNvPr id="9" name="stage-1">
            <a:extLst xmlns:a="http://schemas.openxmlformats.org/drawingml/2006/main">
              <a:ext uri="{FF2B5EF4-FFF2-40B4-BE49-F238E27FC236}">
                <a16:creationId xmlns:a16="http://schemas.microsoft.com/office/drawing/2014/main" id="{4B62E055-B9E1-400C-8E0A-AF7F8739AD7B}"/>
              </a:ext>
            </a:extLst>
          </p:cNvPr>
          <p:cNvSpPr>
            <a:spLocks xmlns:a="http://schemas.openxmlformats.org/drawingml/2006/main" noGrp="1"/>
          </p:cNvSpPr>
          <p:nvPr/>
        </p:nvSpPr>
        <p:spPr>
          <a:xfrm xmlns:a="http://schemas.openxmlformats.org/drawingml/2006/main">
            <a:off x="1533525" y="3543300"/>
            <a:ext cx="3476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02A43"/>
                </a:solidFill>
                <a:latin typeface="Arial"/>
                <a:ea typeface="Arial"/>
                <a:cs typeface="Arial"/>
              </a:defRPr>
            </a:defPPr>
            <a:lvl1pPr algn="l">
              <a:defRPr sz="2100" b="1">
                <a:solidFill>
                  <a:srgbClr val="102A43"/>
                </a:solidFill>
                <a:latin typeface="Arial"/>
                <a:ea typeface="Arial"/>
                <a:cs typeface="Arial"/>
              </a:defRPr>
            </a:lvl1pPr>
            <a:lvl2pPr algn="l">
              <a:defRPr sz="2100" b="1">
                <a:solidFill>
                  <a:srgbClr val="102A43"/>
                </a:solidFill>
                <a:latin typeface="Arial"/>
                <a:ea typeface="Arial"/>
                <a:cs typeface="Arial"/>
              </a:defRPr>
            </a:lvl2pPr>
            <a:lvl3pPr algn="l">
              <a:defRPr sz="2100" b="1">
                <a:solidFill>
                  <a:srgbClr val="102A43"/>
                </a:solidFill>
                <a:latin typeface="Arial"/>
                <a:ea typeface="Arial"/>
                <a:cs typeface="Arial"/>
              </a:defRPr>
            </a:lvl3pPr>
            <a:lvl4pPr algn="l">
              <a:defRPr sz="2100" b="1">
                <a:solidFill>
                  <a:srgbClr val="102A43"/>
                </a:solidFill>
                <a:latin typeface="Arial"/>
                <a:ea typeface="Arial"/>
                <a:cs typeface="Arial"/>
              </a:defRPr>
            </a:lvl4pPr>
            <a:lvl5pPr algn="l">
              <a:defRPr sz="2100" b="1">
                <a:solidFill>
                  <a:srgbClr val="102A43"/>
                </a:solidFill>
                <a:latin typeface="Arial"/>
                <a:ea typeface="Arial"/>
                <a:cs typeface="Arial"/>
              </a:defRPr>
            </a:lvl5pPr>
            <a:lvl6pPr algn="l">
              <a:defRPr sz="2100" b="1">
                <a:solidFill>
                  <a:srgbClr val="102A43"/>
                </a:solidFill>
                <a:latin typeface="Arial"/>
                <a:ea typeface="Arial"/>
                <a:cs typeface="Arial"/>
              </a:defRPr>
            </a:lvl6pPr>
            <a:lvl7pPr algn="l">
              <a:defRPr sz="2100" b="1">
                <a:solidFill>
                  <a:srgbClr val="102A43"/>
                </a:solidFill>
                <a:latin typeface="Arial"/>
                <a:ea typeface="Arial"/>
                <a:cs typeface="Arial"/>
              </a:defRPr>
            </a:lvl7pPr>
            <a:lvl8pPr algn="l">
              <a:defRPr sz="2100" b="1">
                <a:solidFill>
                  <a:srgbClr val="102A43"/>
                </a:solidFill>
                <a:latin typeface="Arial"/>
                <a:ea typeface="Arial"/>
                <a:cs typeface="Arial"/>
              </a:defRPr>
            </a:lvl8pPr>
            <a:lvl9pPr algn="l">
              <a:defRPr sz="2100" b="1">
                <a:solidFill>
                  <a:srgbClr val="102A43"/>
                </a:solidFill>
                <a:latin typeface="Arial"/>
                <a:ea typeface="Arial"/>
                <a:cs typeface="Arial"/>
              </a:defRPr>
            </a:lvl9pPr>
          </a:lstStyle>
          <a:p xmlns:a="http://schemas.openxmlformats.org/drawingml/2006/main">
            <a:pPr algn="l">
              <a:defRPr sz="2100" b="1">
                <a:solidFill>
                  <a:srgbClr val="102A43"/>
                </a:solidFill>
                <a:latin typeface="Arial"/>
                <a:ea typeface="Arial"/>
                <a:cs typeface="Arial"/>
              </a:defRPr>
            </a:pPr>
            <a:r>
              <a:rPr sz="2100" b="1">
                <a:solidFill>
                  <a:srgbClr val="102A43"/>
                </a:solidFill>
                <a:latin typeface="Arial"/>
                <a:ea typeface="Arial"/>
                <a:cs typeface="Arial"/>
              </a:rPr>
              <a:t>Assess feasibility</a:t>
            </a:r>
          </a:p>
        </p:txBody>
      </p:sp>
      <p:sp>
        <p:nvSpPr>
          <p:cNvPr id="10" name="body-1">
            <a:extLst xmlns:a="http://schemas.openxmlformats.org/drawingml/2006/main">
              <a:ext uri="{FF2B5EF4-FFF2-40B4-BE49-F238E27FC236}">
                <a16:creationId xmlns:a16="http://schemas.microsoft.com/office/drawing/2014/main" id="{68B20C44-2991-464C-A6A9-3140C21FA193}"/>
              </a:ext>
            </a:extLst>
          </p:cNvPr>
          <p:cNvSpPr>
            <a:spLocks xmlns:a="http://schemas.openxmlformats.org/drawingml/2006/main" noGrp="1"/>
          </p:cNvSpPr>
          <p:nvPr/>
        </p:nvSpPr>
        <p:spPr>
          <a:xfrm xmlns:a="http://schemas.openxmlformats.org/drawingml/2006/main">
            <a:off x="5372100" y="3543300"/>
            <a:ext cx="61341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102A43"/>
                </a:solidFill>
                <a:latin typeface="Arial"/>
                <a:ea typeface="Arial"/>
                <a:cs typeface="Arial"/>
              </a:defRPr>
            </a:defPPr>
            <a:lvl1pPr algn="l">
              <a:defRPr sz="1800" b="0">
                <a:solidFill>
                  <a:srgbClr val="102A43"/>
                </a:solidFill>
                <a:latin typeface="Arial"/>
                <a:ea typeface="Arial"/>
                <a:cs typeface="Arial"/>
              </a:defRPr>
            </a:lvl1pPr>
            <a:lvl2pPr algn="l">
              <a:defRPr sz="1800" b="0">
                <a:solidFill>
                  <a:srgbClr val="102A43"/>
                </a:solidFill>
                <a:latin typeface="Arial"/>
                <a:ea typeface="Arial"/>
                <a:cs typeface="Arial"/>
              </a:defRPr>
            </a:lvl2pPr>
            <a:lvl3pPr algn="l">
              <a:defRPr sz="1800" b="0">
                <a:solidFill>
                  <a:srgbClr val="102A43"/>
                </a:solidFill>
                <a:latin typeface="Arial"/>
                <a:ea typeface="Arial"/>
                <a:cs typeface="Arial"/>
              </a:defRPr>
            </a:lvl3pPr>
            <a:lvl4pPr algn="l">
              <a:defRPr sz="1800" b="0">
                <a:solidFill>
                  <a:srgbClr val="102A43"/>
                </a:solidFill>
                <a:latin typeface="Arial"/>
                <a:ea typeface="Arial"/>
                <a:cs typeface="Arial"/>
              </a:defRPr>
            </a:lvl4pPr>
            <a:lvl5pPr algn="l">
              <a:defRPr sz="1800" b="0">
                <a:solidFill>
                  <a:srgbClr val="102A43"/>
                </a:solidFill>
                <a:latin typeface="Arial"/>
                <a:ea typeface="Arial"/>
                <a:cs typeface="Arial"/>
              </a:defRPr>
            </a:lvl5pPr>
            <a:lvl6pPr algn="l">
              <a:defRPr sz="1800" b="0">
                <a:solidFill>
                  <a:srgbClr val="102A43"/>
                </a:solidFill>
                <a:latin typeface="Arial"/>
                <a:ea typeface="Arial"/>
                <a:cs typeface="Arial"/>
              </a:defRPr>
            </a:lvl6pPr>
            <a:lvl7pPr algn="l">
              <a:defRPr sz="1800" b="0">
                <a:solidFill>
                  <a:srgbClr val="102A43"/>
                </a:solidFill>
                <a:latin typeface="Arial"/>
                <a:ea typeface="Arial"/>
                <a:cs typeface="Arial"/>
              </a:defRPr>
            </a:lvl7pPr>
            <a:lvl8pPr algn="l">
              <a:defRPr sz="1800" b="0">
                <a:solidFill>
                  <a:srgbClr val="102A43"/>
                </a:solidFill>
                <a:latin typeface="Arial"/>
                <a:ea typeface="Arial"/>
                <a:cs typeface="Arial"/>
              </a:defRPr>
            </a:lvl8pPr>
            <a:lvl9pPr algn="l">
              <a:defRPr sz="1800" b="0">
                <a:solidFill>
                  <a:srgbClr val="102A43"/>
                </a:solidFill>
                <a:latin typeface="Arial"/>
                <a:ea typeface="Arial"/>
                <a:cs typeface="Arial"/>
              </a:defRPr>
            </a:lvl9pPr>
          </a:lstStyle>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Confirm funding, property access and delivery capacity.</a:t>
            </a:r>
          </a:p>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Agree on a pilot scope with the utility.</a:t>
            </a:r>
          </a:p>
        </p:txBody>
      </p:sp>
      <p:sp>
        <p:nvSpPr>
          <p:cNvPr id="11" name="number-2">
            <a:extLst xmlns:a="http://schemas.openxmlformats.org/drawingml/2006/main">
              <a:ext uri="{FF2B5EF4-FFF2-40B4-BE49-F238E27FC236}">
                <a16:creationId xmlns:a16="http://schemas.microsoft.com/office/drawing/2014/main" id="{49BA8DEF-FE1B-4CC7-B3E9-C88FDE42933D}"/>
              </a:ext>
            </a:extLst>
          </p:cNvPr>
          <p:cNvSpPr>
            <a:spLocks xmlns:a="http://schemas.openxmlformats.org/drawingml/2006/main" noGrp="1"/>
          </p:cNvSpPr>
          <p:nvPr/>
        </p:nvSpPr>
        <p:spPr>
          <a:xfrm xmlns:a="http://schemas.openxmlformats.org/drawingml/2006/main">
            <a:off x="685800" y="4543425"/>
            <a:ext cx="6286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3F73C7"/>
                </a:solidFill>
                <a:latin typeface="Arial"/>
                <a:ea typeface="Arial"/>
                <a:cs typeface="Arial"/>
              </a:defRPr>
            </a:defPPr>
            <a:lvl1pPr algn="l">
              <a:defRPr sz="2400" b="1">
                <a:solidFill>
                  <a:srgbClr val="3F73C7"/>
                </a:solidFill>
                <a:latin typeface="Arial"/>
                <a:ea typeface="Arial"/>
                <a:cs typeface="Arial"/>
              </a:defRPr>
            </a:lvl1pPr>
            <a:lvl2pPr algn="l">
              <a:defRPr sz="2400" b="1">
                <a:solidFill>
                  <a:srgbClr val="3F73C7"/>
                </a:solidFill>
                <a:latin typeface="Arial"/>
                <a:ea typeface="Arial"/>
                <a:cs typeface="Arial"/>
              </a:defRPr>
            </a:lvl2pPr>
            <a:lvl3pPr algn="l">
              <a:defRPr sz="2400" b="1">
                <a:solidFill>
                  <a:srgbClr val="3F73C7"/>
                </a:solidFill>
                <a:latin typeface="Arial"/>
                <a:ea typeface="Arial"/>
                <a:cs typeface="Arial"/>
              </a:defRPr>
            </a:lvl3pPr>
            <a:lvl4pPr algn="l">
              <a:defRPr sz="2400" b="1">
                <a:solidFill>
                  <a:srgbClr val="3F73C7"/>
                </a:solidFill>
                <a:latin typeface="Arial"/>
                <a:ea typeface="Arial"/>
                <a:cs typeface="Arial"/>
              </a:defRPr>
            </a:lvl4pPr>
            <a:lvl5pPr algn="l">
              <a:defRPr sz="2400" b="1">
                <a:solidFill>
                  <a:srgbClr val="3F73C7"/>
                </a:solidFill>
                <a:latin typeface="Arial"/>
                <a:ea typeface="Arial"/>
                <a:cs typeface="Arial"/>
              </a:defRPr>
            </a:lvl5pPr>
            <a:lvl6pPr algn="l">
              <a:defRPr sz="2400" b="1">
                <a:solidFill>
                  <a:srgbClr val="3F73C7"/>
                </a:solidFill>
                <a:latin typeface="Arial"/>
                <a:ea typeface="Arial"/>
                <a:cs typeface="Arial"/>
              </a:defRPr>
            </a:lvl6pPr>
            <a:lvl7pPr algn="l">
              <a:defRPr sz="2400" b="1">
                <a:solidFill>
                  <a:srgbClr val="3F73C7"/>
                </a:solidFill>
                <a:latin typeface="Arial"/>
                <a:ea typeface="Arial"/>
                <a:cs typeface="Arial"/>
              </a:defRPr>
            </a:lvl7pPr>
            <a:lvl8pPr algn="l">
              <a:defRPr sz="2400" b="1">
                <a:solidFill>
                  <a:srgbClr val="3F73C7"/>
                </a:solidFill>
                <a:latin typeface="Arial"/>
                <a:ea typeface="Arial"/>
                <a:cs typeface="Arial"/>
              </a:defRPr>
            </a:lvl8pPr>
            <a:lvl9pPr algn="l">
              <a:defRPr sz="2400" b="1">
                <a:solidFill>
                  <a:srgbClr val="3F73C7"/>
                </a:solidFill>
                <a:latin typeface="Arial"/>
                <a:ea typeface="Arial"/>
                <a:cs typeface="Arial"/>
              </a:defRPr>
            </a:lvl9pPr>
          </a:lstStyle>
          <a:p xmlns:a="http://schemas.openxmlformats.org/drawingml/2006/main">
            <a:pPr algn="l">
              <a:defRPr sz="2400" b="1">
                <a:solidFill>
                  <a:srgbClr val="3F73C7"/>
                </a:solidFill>
                <a:latin typeface="Arial"/>
                <a:ea typeface="Arial"/>
                <a:cs typeface="Arial"/>
              </a:defRPr>
            </a:pPr>
            <a:r>
              <a:rPr sz="2400" b="1">
                <a:solidFill>
                  <a:srgbClr val="3F73C7"/>
                </a:solidFill>
                <a:latin typeface="Arial"/>
                <a:ea typeface="Arial"/>
                <a:cs typeface="Arial"/>
              </a:rPr>
              <a:t>03</a:t>
            </a:r>
          </a:p>
        </p:txBody>
      </p:sp>
      <p:sp>
        <p:nvSpPr>
          <p:cNvPr id="12" name="stage-2">
            <a:extLst xmlns:a="http://schemas.openxmlformats.org/drawingml/2006/main">
              <a:ext uri="{FF2B5EF4-FFF2-40B4-BE49-F238E27FC236}">
                <a16:creationId xmlns:a16="http://schemas.microsoft.com/office/drawing/2014/main" id="{61D99453-9EAA-403B-83BF-E39A3F6AAF93}"/>
              </a:ext>
            </a:extLst>
          </p:cNvPr>
          <p:cNvSpPr>
            <a:spLocks xmlns:a="http://schemas.openxmlformats.org/drawingml/2006/main" noGrp="1"/>
          </p:cNvSpPr>
          <p:nvPr/>
        </p:nvSpPr>
        <p:spPr>
          <a:xfrm xmlns:a="http://schemas.openxmlformats.org/drawingml/2006/main">
            <a:off x="1533525" y="4543425"/>
            <a:ext cx="3476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02A43"/>
                </a:solidFill>
                <a:latin typeface="Arial"/>
                <a:ea typeface="Arial"/>
                <a:cs typeface="Arial"/>
              </a:defRPr>
            </a:defPPr>
            <a:lvl1pPr algn="l">
              <a:defRPr sz="2100" b="1">
                <a:solidFill>
                  <a:srgbClr val="102A43"/>
                </a:solidFill>
                <a:latin typeface="Arial"/>
                <a:ea typeface="Arial"/>
                <a:cs typeface="Arial"/>
              </a:defRPr>
            </a:lvl1pPr>
            <a:lvl2pPr algn="l">
              <a:defRPr sz="2100" b="1">
                <a:solidFill>
                  <a:srgbClr val="102A43"/>
                </a:solidFill>
                <a:latin typeface="Arial"/>
                <a:ea typeface="Arial"/>
                <a:cs typeface="Arial"/>
              </a:defRPr>
            </a:lvl2pPr>
            <a:lvl3pPr algn="l">
              <a:defRPr sz="2100" b="1">
                <a:solidFill>
                  <a:srgbClr val="102A43"/>
                </a:solidFill>
                <a:latin typeface="Arial"/>
                <a:ea typeface="Arial"/>
                <a:cs typeface="Arial"/>
              </a:defRPr>
            </a:lvl3pPr>
            <a:lvl4pPr algn="l">
              <a:defRPr sz="2100" b="1">
                <a:solidFill>
                  <a:srgbClr val="102A43"/>
                </a:solidFill>
                <a:latin typeface="Arial"/>
                <a:ea typeface="Arial"/>
                <a:cs typeface="Arial"/>
              </a:defRPr>
            </a:lvl4pPr>
            <a:lvl5pPr algn="l">
              <a:defRPr sz="2100" b="1">
                <a:solidFill>
                  <a:srgbClr val="102A43"/>
                </a:solidFill>
                <a:latin typeface="Arial"/>
                <a:ea typeface="Arial"/>
                <a:cs typeface="Arial"/>
              </a:defRPr>
            </a:lvl5pPr>
            <a:lvl6pPr algn="l">
              <a:defRPr sz="2100" b="1">
                <a:solidFill>
                  <a:srgbClr val="102A43"/>
                </a:solidFill>
                <a:latin typeface="Arial"/>
                <a:ea typeface="Arial"/>
                <a:cs typeface="Arial"/>
              </a:defRPr>
            </a:lvl6pPr>
            <a:lvl7pPr algn="l">
              <a:defRPr sz="2100" b="1">
                <a:solidFill>
                  <a:srgbClr val="102A43"/>
                </a:solidFill>
                <a:latin typeface="Arial"/>
                <a:ea typeface="Arial"/>
                <a:cs typeface="Arial"/>
              </a:defRPr>
            </a:lvl7pPr>
            <a:lvl8pPr algn="l">
              <a:defRPr sz="2100" b="1">
                <a:solidFill>
                  <a:srgbClr val="102A43"/>
                </a:solidFill>
                <a:latin typeface="Arial"/>
                <a:ea typeface="Arial"/>
                <a:cs typeface="Arial"/>
              </a:defRPr>
            </a:lvl8pPr>
            <a:lvl9pPr algn="l">
              <a:defRPr sz="2100" b="1">
                <a:solidFill>
                  <a:srgbClr val="102A43"/>
                </a:solidFill>
                <a:latin typeface="Arial"/>
                <a:ea typeface="Arial"/>
                <a:cs typeface="Arial"/>
              </a:defRPr>
            </a:lvl9pPr>
          </a:lstStyle>
          <a:p xmlns:a="http://schemas.openxmlformats.org/drawingml/2006/main">
            <a:pPr algn="l">
              <a:defRPr sz="2100" b="1">
                <a:solidFill>
                  <a:srgbClr val="102A43"/>
                </a:solidFill>
                <a:latin typeface="Arial"/>
                <a:ea typeface="Arial"/>
                <a:cs typeface="Arial"/>
              </a:defRPr>
            </a:pPr>
            <a:r>
              <a:rPr sz="2100" b="1">
                <a:solidFill>
                  <a:srgbClr val="102A43"/>
                </a:solidFill>
                <a:latin typeface="Arial"/>
                <a:ea typeface="Arial"/>
                <a:cs typeface="Arial"/>
              </a:rPr>
              <a:t>Measure progress</a:t>
            </a:r>
          </a:p>
        </p:txBody>
      </p:sp>
      <p:sp>
        <p:nvSpPr>
          <p:cNvPr id="13" name="body-2">
            <a:extLst xmlns:a="http://schemas.openxmlformats.org/drawingml/2006/main">
              <a:ext uri="{FF2B5EF4-FFF2-40B4-BE49-F238E27FC236}">
                <a16:creationId xmlns:a16="http://schemas.microsoft.com/office/drawing/2014/main" id="{80DED054-AA18-48C8-8BB2-F7F3C69E03F0}"/>
              </a:ext>
            </a:extLst>
          </p:cNvPr>
          <p:cNvSpPr>
            <a:spLocks xmlns:a="http://schemas.openxmlformats.org/drawingml/2006/main" noGrp="1"/>
          </p:cNvSpPr>
          <p:nvPr/>
        </p:nvSpPr>
        <p:spPr>
          <a:xfrm xmlns:a="http://schemas.openxmlformats.org/drawingml/2006/main">
            <a:off x="5372100" y="4543425"/>
            <a:ext cx="61341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102A43"/>
                </a:solidFill>
                <a:latin typeface="Arial"/>
                <a:ea typeface="Arial"/>
                <a:cs typeface="Arial"/>
              </a:defRPr>
            </a:defPPr>
            <a:lvl1pPr algn="l">
              <a:defRPr sz="1800" b="0">
                <a:solidFill>
                  <a:srgbClr val="102A43"/>
                </a:solidFill>
                <a:latin typeface="Arial"/>
                <a:ea typeface="Arial"/>
                <a:cs typeface="Arial"/>
              </a:defRPr>
            </a:lvl1pPr>
            <a:lvl2pPr algn="l">
              <a:defRPr sz="1800" b="0">
                <a:solidFill>
                  <a:srgbClr val="102A43"/>
                </a:solidFill>
                <a:latin typeface="Arial"/>
                <a:ea typeface="Arial"/>
                <a:cs typeface="Arial"/>
              </a:defRPr>
            </a:lvl2pPr>
            <a:lvl3pPr algn="l">
              <a:defRPr sz="1800" b="0">
                <a:solidFill>
                  <a:srgbClr val="102A43"/>
                </a:solidFill>
                <a:latin typeface="Arial"/>
                <a:ea typeface="Arial"/>
                <a:cs typeface="Arial"/>
              </a:defRPr>
            </a:lvl3pPr>
            <a:lvl4pPr algn="l">
              <a:defRPr sz="1800" b="0">
                <a:solidFill>
                  <a:srgbClr val="102A43"/>
                </a:solidFill>
                <a:latin typeface="Arial"/>
                <a:ea typeface="Arial"/>
                <a:cs typeface="Arial"/>
              </a:defRPr>
            </a:lvl4pPr>
            <a:lvl5pPr algn="l">
              <a:defRPr sz="1800" b="0">
                <a:solidFill>
                  <a:srgbClr val="102A43"/>
                </a:solidFill>
                <a:latin typeface="Arial"/>
                <a:ea typeface="Arial"/>
                <a:cs typeface="Arial"/>
              </a:defRPr>
            </a:lvl5pPr>
            <a:lvl6pPr algn="l">
              <a:defRPr sz="1800" b="0">
                <a:solidFill>
                  <a:srgbClr val="102A43"/>
                </a:solidFill>
                <a:latin typeface="Arial"/>
                <a:ea typeface="Arial"/>
                <a:cs typeface="Arial"/>
              </a:defRPr>
            </a:lvl6pPr>
            <a:lvl7pPr algn="l">
              <a:defRPr sz="1800" b="0">
                <a:solidFill>
                  <a:srgbClr val="102A43"/>
                </a:solidFill>
                <a:latin typeface="Arial"/>
                <a:ea typeface="Arial"/>
                <a:cs typeface="Arial"/>
              </a:defRPr>
            </a:lvl7pPr>
            <a:lvl8pPr algn="l">
              <a:defRPr sz="1800" b="0">
                <a:solidFill>
                  <a:srgbClr val="102A43"/>
                </a:solidFill>
                <a:latin typeface="Arial"/>
                <a:ea typeface="Arial"/>
                <a:cs typeface="Arial"/>
              </a:defRPr>
            </a:lvl8pPr>
            <a:lvl9pPr algn="l">
              <a:defRPr sz="1800" b="0">
                <a:solidFill>
                  <a:srgbClr val="102A43"/>
                </a:solidFill>
                <a:latin typeface="Arial"/>
                <a:ea typeface="Arial"/>
                <a:cs typeface="Arial"/>
              </a:defRPr>
            </a:lvl9pPr>
          </a:lstStyle>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Track newly classified lines and cost per verified line.</a:t>
            </a:r>
          </a:p>
          <a:p xmlns:a="http://schemas.openxmlformats.org/drawingml/2006/main">
            <a:pPr algn="l">
              <a:defRPr sz="1800" b="0">
                <a:solidFill>
                  <a:srgbClr val="102A43"/>
                </a:solidFill>
                <a:latin typeface="Arial"/>
                <a:ea typeface="Arial"/>
                <a:cs typeface="Arial"/>
              </a:defRPr>
            </a:pPr>
            <a:r>
              <a:rPr sz="1800" b="0">
                <a:solidFill>
                  <a:srgbClr val="102A43"/>
                </a:solidFill>
                <a:latin typeface="Arial"/>
                <a:ea typeface="Arial"/>
                <a:cs typeface="Arial"/>
              </a:rPr>
              <a:t>Assess progress toward an agreed replacement plan.</a:t>
            </a:r>
          </a:p>
        </p:txBody>
      </p:sp>
      <p:sp>
        <p:nvSpPr>
          <p:cNvPr id="14" name="coverage">
            <a:extLst xmlns:a="http://schemas.openxmlformats.org/drawingml/2006/main">
              <a:ext uri="{FF2B5EF4-FFF2-40B4-BE49-F238E27FC236}">
                <a16:creationId xmlns:a16="http://schemas.microsoft.com/office/drawing/2014/main" id="{E3EC97C6-6250-4236-9A10-B578F5034EEE}"/>
              </a:ext>
            </a:extLst>
          </p:cNvPr>
          <p:cNvSpPr>
            <a:spLocks xmlns:a="http://schemas.openxmlformats.org/drawingml/2006/main" noGrp="1"/>
          </p:cNvSpPr>
          <p:nvPr/>
        </p:nvSpPr>
        <p:spPr>
          <a:xfrm xmlns:a="http://schemas.openxmlformats.org/drawingml/2006/main">
            <a:off x="685800" y="573405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1">
                <a:solidFill>
                  <a:srgbClr val="102A43"/>
                </a:solidFill>
                <a:latin typeface="Arial"/>
                <a:ea typeface="Arial"/>
                <a:cs typeface="Arial"/>
              </a:defRPr>
            </a:defPPr>
            <a:lvl1pPr algn="l">
              <a:defRPr sz="1650" b="1">
                <a:solidFill>
                  <a:srgbClr val="102A43"/>
                </a:solidFill>
                <a:latin typeface="Arial"/>
                <a:ea typeface="Arial"/>
                <a:cs typeface="Arial"/>
              </a:defRPr>
            </a:lvl1pPr>
            <a:lvl2pPr algn="l">
              <a:defRPr sz="1650" b="1">
                <a:solidFill>
                  <a:srgbClr val="102A43"/>
                </a:solidFill>
                <a:latin typeface="Arial"/>
                <a:ea typeface="Arial"/>
                <a:cs typeface="Arial"/>
              </a:defRPr>
            </a:lvl2pPr>
            <a:lvl3pPr algn="l">
              <a:defRPr sz="1650" b="1">
                <a:solidFill>
                  <a:srgbClr val="102A43"/>
                </a:solidFill>
                <a:latin typeface="Arial"/>
                <a:ea typeface="Arial"/>
                <a:cs typeface="Arial"/>
              </a:defRPr>
            </a:lvl3pPr>
            <a:lvl4pPr algn="l">
              <a:defRPr sz="1650" b="1">
                <a:solidFill>
                  <a:srgbClr val="102A43"/>
                </a:solidFill>
                <a:latin typeface="Arial"/>
                <a:ea typeface="Arial"/>
                <a:cs typeface="Arial"/>
              </a:defRPr>
            </a:lvl4pPr>
            <a:lvl5pPr algn="l">
              <a:defRPr sz="1650" b="1">
                <a:solidFill>
                  <a:srgbClr val="102A43"/>
                </a:solidFill>
                <a:latin typeface="Arial"/>
                <a:ea typeface="Arial"/>
                <a:cs typeface="Arial"/>
              </a:defRPr>
            </a:lvl5pPr>
            <a:lvl6pPr algn="l">
              <a:defRPr sz="1650" b="1">
                <a:solidFill>
                  <a:srgbClr val="102A43"/>
                </a:solidFill>
                <a:latin typeface="Arial"/>
                <a:ea typeface="Arial"/>
                <a:cs typeface="Arial"/>
              </a:defRPr>
            </a:lvl6pPr>
            <a:lvl7pPr algn="l">
              <a:defRPr sz="1650" b="1">
                <a:solidFill>
                  <a:srgbClr val="102A43"/>
                </a:solidFill>
                <a:latin typeface="Arial"/>
                <a:ea typeface="Arial"/>
                <a:cs typeface="Arial"/>
              </a:defRPr>
            </a:lvl7pPr>
            <a:lvl8pPr algn="l">
              <a:defRPr sz="1650" b="1">
                <a:solidFill>
                  <a:srgbClr val="102A43"/>
                </a:solidFill>
                <a:latin typeface="Arial"/>
                <a:ea typeface="Arial"/>
                <a:cs typeface="Arial"/>
              </a:defRPr>
            </a:lvl8pPr>
            <a:lvl9pPr algn="l">
              <a:defRPr sz="1650" b="1">
                <a:solidFill>
                  <a:srgbClr val="102A43"/>
                </a:solidFill>
                <a:latin typeface="Arial"/>
                <a:ea typeface="Arial"/>
                <a:cs typeface="Arial"/>
              </a:defRPr>
            </a:lvl9pPr>
          </a:lstStyle>
          <a:p xmlns:a="http://schemas.openxmlformats.org/drawingml/2006/main">
            <a:pPr algn="l">
              <a:defRPr sz="1650" b="1">
                <a:solidFill>
                  <a:srgbClr val="102A43"/>
                </a:solidFill>
                <a:latin typeface="Arial"/>
                <a:ea typeface="Arial"/>
                <a:cs typeface="Arial"/>
              </a:defRPr>
            </a:pPr>
            <a:r>
              <a:rPr sz="1650" b="1">
                <a:solidFill>
                  <a:srgbClr val="102A43"/>
                </a:solidFill>
                <a:latin typeface="Arial"/>
                <a:ea typeface="Arial"/>
                <a:cs typeface="Arial"/>
              </a:rPr>
              <a:t>Coverage matters: the five examples include 91.4%–98.3% of listed systems.</a:t>
            </a:r>
          </a:p>
        </p:txBody>
      </p:sp>
      <p:sp>
        <p:nvSpPr>
          <p:cNvPr id="15" name="limit">
            <a:extLst xmlns:a="http://schemas.openxmlformats.org/drawingml/2006/main">
              <a:ext uri="{FF2B5EF4-FFF2-40B4-BE49-F238E27FC236}">
                <a16:creationId xmlns:a16="http://schemas.microsoft.com/office/drawing/2014/main" id="{986CF4B5-2E05-4FA1-91A4-870BC6DBEE2F}"/>
              </a:ext>
            </a:extLst>
          </p:cNvPr>
          <p:cNvSpPr>
            <a:spLocks xmlns:a="http://schemas.openxmlformats.org/drawingml/2006/main" noGrp="1"/>
          </p:cNvSpPr>
          <p:nvPr/>
        </p:nvSpPr>
        <p:spPr>
          <a:xfrm xmlns:a="http://schemas.openxmlformats.org/drawingml/2006/main">
            <a:off x="685800" y="605790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0">
                <a:solidFill>
                  <a:srgbClr val="52636E"/>
                </a:solidFill>
                <a:latin typeface="Arial"/>
                <a:ea typeface="Arial"/>
                <a:cs typeface="Arial"/>
              </a:defRPr>
            </a:defPPr>
            <a:lvl1pPr algn="l">
              <a:defRPr sz="1425" b="0">
                <a:solidFill>
                  <a:srgbClr val="52636E"/>
                </a:solidFill>
                <a:latin typeface="Arial"/>
                <a:ea typeface="Arial"/>
                <a:cs typeface="Arial"/>
              </a:defRPr>
            </a:lvl1pPr>
            <a:lvl2pPr algn="l">
              <a:defRPr sz="1425" b="0">
                <a:solidFill>
                  <a:srgbClr val="52636E"/>
                </a:solidFill>
                <a:latin typeface="Arial"/>
                <a:ea typeface="Arial"/>
                <a:cs typeface="Arial"/>
              </a:defRPr>
            </a:lvl2pPr>
            <a:lvl3pPr algn="l">
              <a:defRPr sz="1425" b="0">
                <a:solidFill>
                  <a:srgbClr val="52636E"/>
                </a:solidFill>
                <a:latin typeface="Arial"/>
                <a:ea typeface="Arial"/>
                <a:cs typeface="Arial"/>
              </a:defRPr>
            </a:lvl3pPr>
            <a:lvl4pPr algn="l">
              <a:defRPr sz="1425" b="0">
                <a:solidFill>
                  <a:srgbClr val="52636E"/>
                </a:solidFill>
                <a:latin typeface="Arial"/>
                <a:ea typeface="Arial"/>
                <a:cs typeface="Arial"/>
              </a:defRPr>
            </a:lvl4pPr>
            <a:lvl5pPr algn="l">
              <a:defRPr sz="1425" b="0">
                <a:solidFill>
                  <a:srgbClr val="52636E"/>
                </a:solidFill>
                <a:latin typeface="Arial"/>
                <a:ea typeface="Arial"/>
                <a:cs typeface="Arial"/>
              </a:defRPr>
            </a:lvl5pPr>
            <a:lvl6pPr algn="l">
              <a:defRPr sz="1425" b="0">
                <a:solidFill>
                  <a:srgbClr val="52636E"/>
                </a:solidFill>
                <a:latin typeface="Arial"/>
                <a:ea typeface="Arial"/>
                <a:cs typeface="Arial"/>
              </a:defRPr>
            </a:lvl6pPr>
            <a:lvl7pPr algn="l">
              <a:defRPr sz="1425" b="0">
                <a:solidFill>
                  <a:srgbClr val="52636E"/>
                </a:solidFill>
                <a:latin typeface="Arial"/>
                <a:ea typeface="Arial"/>
                <a:cs typeface="Arial"/>
              </a:defRPr>
            </a:lvl7pPr>
            <a:lvl8pPr algn="l">
              <a:defRPr sz="1425" b="0">
                <a:solidFill>
                  <a:srgbClr val="52636E"/>
                </a:solidFill>
                <a:latin typeface="Arial"/>
                <a:ea typeface="Arial"/>
                <a:cs typeface="Arial"/>
              </a:defRPr>
            </a:lvl8pPr>
            <a:lvl9pPr algn="l">
              <a:defRPr sz="1425" b="0">
                <a:solidFill>
                  <a:srgbClr val="52636E"/>
                </a:solidFill>
                <a:latin typeface="Arial"/>
                <a:ea typeface="Arial"/>
                <a:cs typeface="Arial"/>
              </a:defRPr>
            </a:lvl9pPr>
          </a:lstStyle>
          <a:p xmlns:a="http://schemas.openxmlformats.org/drawingml/2006/main">
            <a:pPr algn="l">
              <a:defRPr sz="1425" b="0">
                <a:solidFill>
                  <a:srgbClr val="52636E"/>
                </a:solidFill>
                <a:latin typeface="Arial"/>
                <a:ea typeface="Arial"/>
                <a:cs typeface="Arial"/>
              </a:defRPr>
            </a:pPr>
            <a:r>
              <a:rPr sz="1425" b="0">
                <a:solidFill>
                  <a:srgbClr val="52636E"/>
                </a:solidFill>
                <a:latin typeface="Arial"/>
                <a:ea typeface="Arial"/>
                <a:cs typeface="Arial"/>
              </a:rPr>
              <a:t>System coverage is not line coverage. Low reported totals can reflect missing data.</a:t>
            </a:r>
          </a:p>
        </p:txBody>
      </p:sp>
    </p:spTree>
    <p:extLst>
      <p:ext uri="{BB962C8B-B14F-4D97-AF65-F5344CB8AC3E}">
        <p14:creationId xmlns:p14="http://schemas.microsoft.com/office/powerpoint/2010/main" val="18059396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2026-10-18T06:11:41.1360000Z</dcterms:created>
  <dcterms:modified xsi:type="dcterms:W3CDTF">2026-10-18T06:11:41.1360000Z</dcterms:modified>
</coreProperties>
</file>