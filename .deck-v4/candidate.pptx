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7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be008327c94a7b" /><Relationship Type="http://schemas.openxmlformats.org/officeDocument/2006/relationships/extended-properties" Target="/docProps/app.xml" Id="R2fb10c20034646b5" /><Relationship Type="http://schemas.openxmlformats.org/officeDocument/2006/relationships/officeDocument" Target="/ppt/presentation.xml" Id="R3af4d3005ed346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4711ccd41449ae"/>
  </p:sldMasterIdLst>
  <p:notesMasterIdLst>
    <p:notesMasterId xmlns:r="http://schemas.openxmlformats.org/officeDocument/2006/relationships" r:id="R808e498f66fa48f6"/>
  </p:notesMasterIdLst>
  <p:sldIdLst>
    <p:sldId xmlns:r="http://schemas.openxmlformats.org/officeDocument/2006/relationships" id="256" r:id="R8bad6d414a184aa4"/>
    <p:sldId xmlns:r="http://schemas.openxmlformats.org/officeDocument/2006/relationships" id="257" r:id="R98536cb8c00543c3"/>
    <p:sldId xmlns:r="http://schemas.openxmlformats.org/officeDocument/2006/relationships" id="258" r:id="Rb699d8e4ab264c2a"/>
    <p:sldId xmlns:r="http://schemas.openxmlformats.org/officeDocument/2006/relationships" id="259" r:id="R7ac60a4eda4b46a7"/>
    <p:sldId xmlns:r="http://schemas.openxmlformats.org/officeDocument/2006/relationships" id="260" r:id="R55774dc5c34b45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255e5319b34945" /><Relationship Type="http://schemas.openxmlformats.org/officeDocument/2006/relationships/slideMaster" Target="/ppt/slideMasters/slideMaster1.xml" Id="Rc14711ccd41449ae" /><Relationship Type="http://schemas.openxmlformats.org/officeDocument/2006/relationships/notesMaster" Target="/ppt/notesMasters/notesMaster1.xml" Id="R808e498f66fa48f6" /><Relationship Type="http://schemas.openxmlformats.org/officeDocument/2006/relationships/presProps" Target="/ppt/presProps.xml" Id="R5bdb1848ad564364" /><Relationship Type="http://schemas.openxmlformats.org/officeDocument/2006/relationships/tableStyles" Target="/ppt/tableStyles.xml" Id="R71c743e1123b4470" /><Relationship Type="http://schemas.openxmlformats.org/officeDocument/2006/relationships/slide" Target="/ppt/slides/slide1.xml" Id="R8bad6d414a184aa4" /><Relationship Type="http://schemas.openxmlformats.org/officeDocument/2006/relationships/slide" Target="/ppt/slides/slide2.xml" Id="R98536cb8c00543c3" /><Relationship Type="http://schemas.openxmlformats.org/officeDocument/2006/relationships/slide" Target="/ppt/slides/slide3.xml" Id="Rb699d8e4ab264c2a" /><Relationship Type="http://schemas.openxmlformats.org/officeDocument/2006/relationships/slide" Target="/ppt/slides/slide4.xml" Id="R7ac60a4eda4b46a7" /><Relationship Type="http://schemas.openxmlformats.org/officeDocument/2006/relationships/slide" Target="/ppt/slides/slide5.xml" Id="R55774dc5c34b45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13912c3f5b4c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6b81d8fc3f4ea4" /><Relationship Type="http://schemas.openxmlformats.org/officeDocument/2006/relationships/notesMaster" Target="/ppt/notesMasters/notesMaster1.xml" Id="R7f0d05ee463741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572b664afd40a3" /><Relationship Type="http://schemas.openxmlformats.org/officeDocument/2006/relationships/notesMaster" Target="/ppt/notesMasters/notesMaster1.xml" Id="Reb10e91d898b44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952352d3e84994" /><Relationship Type="http://schemas.openxmlformats.org/officeDocument/2006/relationships/notesMaster" Target="/ppt/notesMasters/notesMaster1.xml" Id="Rb2f8d07afbd048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f57d2489d94aa7" /><Relationship Type="http://schemas.openxmlformats.org/officeDocument/2006/relationships/notesMaster" Target="/ppt/notesMasters/notesMaster1.xml" Id="R2949a0f9a9ee47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5149350ea6478a" /><Relationship Type="http://schemas.openxmlformats.org/officeDocument/2006/relationships/notesMaster" Target="/ppt/notesMasters/notesMaster1.xml" Id="R7fca3ef1459949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70f763d97041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332c9011ec489f" /><Relationship Type="http://schemas.openxmlformats.org/officeDocument/2006/relationships/slideLayout" Target="/ppt/slideLayouts/slideLayout1.xml" Id="R1149b3741fa64c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49b3741fa64c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1a87bda864f1c" /><Relationship Type="http://schemas.openxmlformats.org/officeDocument/2006/relationships/notesSlide" Target="/ppt/notesSlides/notesSlide1.xml" Id="Rd3dd6d52fab446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43f092cdd4f79" /><Relationship Type="http://schemas.openxmlformats.org/officeDocument/2006/relationships/chart" Target="/ppt/slides/charts/chart1.xml" Id="R944fa7070ed84ef2" /><Relationship Type="http://schemas.openxmlformats.org/officeDocument/2006/relationships/notesSlide" Target="/ppt/notesSlides/notesSlide2.xml" Id="R4d34aa54906042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0fba66fa3b4d6d" /><Relationship Type="http://schemas.openxmlformats.org/officeDocument/2006/relationships/chart" Target="/ppt/slides/charts/chart2.xml" Id="Rf6b13a1596104681" /><Relationship Type="http://schemas.openxmlformats.org/officeDocument/2006/relationships/chart" Target="/ppt/slides/charts/chart3.xml" Id="R698814c36ec64ef6" /><Relationship Type="http://schemas.openxmlformats.org/officeDocument/2006/relationships/chart" Target="/ppt/slides/charts/chart4.xml" Id="R136944387b1d47ff" /><Relationship Type="http://schemas.openxmlformats.org/officeDocument/2006/relationships/chart" Target="/ppt/slides/charts/chart5.xml" Id="Rd6a9605ae25948a7" /><Relationship Type="http://schemas.openxmlformats.org/officeDocument/2006/relationships/chart" Target="/ppt/slides/charts/chart6.xml" Id="R55f76a6a20ab48f8" /><Relationship Type="http://schemas.openxmlformats.org/officeDocument/2006/relationships/notesSlide" Target="/ppt/notesSlides/notesSlide3.xml" Id="R5db3380450e040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10c69e5af4301" /><Relationship Type="http://schemas.openxmlformats.org/officeDocument/2006/relationships/chart" Target="/ppt/slides/charts/chart7.xml" Id="R07e331bb1f2e4d29" /><Relationship Type="http://schemas.openxmlformats.org/officeDocument/2006/relationships/notesSlide" Target="/ppt/notesSlides/notesSlide4.xml" Id="R8337315083414c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74b5d5f0f4393" /><Relationship Type="http://schemas.openxmlformats.org/officeDocument/2006/relationships/notesSlide" Target="/ppt/notesSlides/notesSlide5.xml" Id="R28370c6b3930477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Service lines</c:v>
          </c:tx>
          <c:spPr>
            <a:solidFill xmlns:a="http://schemas.openxmlformats.org/drawingml/2006/main">
              <a:srgbClr val="F07C2B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F73C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07C2B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Known replacement</c:v>
                </c:pt>
                <c:pt idx="1">
                  <c:v>Unknown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3115308</c:v>
                </c:pt>
                <c:pt idx="1">
                  <c:v>21589524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Illinois</c:v>
          </c:tx>
          <c:spPr>
            <a:solidFill xmlns:a="http://schemas.openxmlformats.org/drawingml/2006/main">
              <a:srgbClr val="3F73C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07C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F73C7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Unknown</c:v>
                </c:pt>
                <c:pt idx="1">
                  <c:v>Known Replacement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529706</c:v>
                </c:pt>
                <c:pt idx="1">
                  <c:v>672210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24000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0F2F3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Texas</c:v>
          </c:tx>
          <c:spPr>
            <a:solidFill xmlns:a="http://schemas.openxmlformats.org/drawingml/2006/main">
              <a:srgbClr val="3F73C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07C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F73C7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Unknown</c:v>
                </c:pt>
                <c:pt idx="1">
                  <c:v>Known Replacement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2178881</c:v>
                </c:pt>
                <c:pt idx="1">
                  <c:v>114501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24000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Pennsylvania</c:v>
          </c:tx>
          <c:spPr>
            <a:solidFill xmlns:a="http://schemas.openxmlformats.org/drawingml/2006/main">
              <a:srgbClr val="3F73C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07C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F73C7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Unknown</c:v>
                </c:pt>
                <c:pt idx="1">
                  <c:v>Known Replacement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2055512</c:v>
                </c:pt>
                <c:pt idx="1">
                  <c:v>113717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24000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Ohio</c:v>
          </c:tx>
          <c:spPr>
            <a:solidFill xmlns:a="http://schemas.openxmlformats.org/drawingml/2006/main">
              <a:srgbClr val="3F73C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07C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F73C7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Unknown</c:v>
                </c:pt>
                <c:pt idx="1">
                  <c:v>Known Replacement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878788</c:v>
                </c:pt>
                <c:pt idx="1">
                  <c:v>321502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24000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0F2F3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New York</c:v>
          </c:tx>
          <c:spPr>
            <a:solidFill xmlns:a="http://schemas.openxmlformats.org/drawingml/2006/main">
              <a:srgbClr val="3F73C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07C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F73C7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Unknown</c:v>
                </c:pt>
                <c:pt idx="1">
                  <c:v>Known Replacement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951163</c:v>
                </c:pt>
                <c:pt idx="1">
                  <c:v>289055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24000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0F2F3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</c:chartSpace>
</file>

<file path=ppt/slides/charts/chart7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Other states</c:v>
          </c:tx>
          <c:spPr>
            <a:solidFill xmlns:a="http://schemas.openxmlformats.org/drawingml/2006/main">
              <a:srgbClr val="BEC8CE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solidFill xmlns:a="http://schemas.openxmlformats.org/drawingml/2006/main">
                <a:srgbClr val="BEC8CE"/>
              </a:solidFill>
            </c:spPr>
          </c:marker>
          <c:xVal>
            <c:numRef>
              <c:f>'Chart Data'!$A$2:$A$47</c:f>
              <c:numCache>
                <c:formatCode>General</c:formatCode>
                <c:ptCount val="46"/>
                <c:pt idx="0">
                  <c:v>69230</c:v>
                </c:pt>
                <c:pt idx="1">
                  <c:v>16</c:v>
                </c:pt>
                <c:pt idx="2">
                  <c:v>2812</c:v>
                </c:pt>
                <c:pt idx="3">
                  <c:v>11569</c:v>
                </c:pt>
                <c:pt idx="4">
                  <c:v>12839</c:v>
                </c:pt>
                <c:pt idx="5">
                  <c:v>21412</c:v>
                </c:pt>
                <c:pt idx="6">
                  <c:v>13171</c:v>
                </c:pt>
                <c:pt idx="7">
                  <c:v>6292</c:v>
                </c:pt>
                <c:pt idx="8">
                  <c:v>17155</c:v>
                </c:pt>
                <c:pt idx="9">
                  <c:v>44559</c:v>
                </c:pt>
                <c:pt idx="10">
                  <c:v>50342</c:v>
                </c:pt>
                <c:pt idx="11">
                  <c:v>490</c:v>
                </c:pt>
                <c:pt idx="12">
                  <c:v>2769</c:v>
                </c:pt>
                <c:pt idx="13">
                  <c:v>190947</c:v>
                </c:pt>
                <c:pt idx="14">
                  <c:v>67950</c:v>
                </c:pt>
                <c:pt idx="15">
                  <c:v>26807</c:v>
                </c:pt>
                <c:pt idx="16">
                  <c:v>28036</c:v>
                </c:pt>
                <c:pt idx="17">
                  <c:v>20558</c:v>
                </c:pt>
                <c:pt idx="18">
                  <c:v>1599</c:v>
                </c:pt>
                <c:pt idx="19">
                  <c:v>3136</c:v>
                </c:pt>
                <c:pt idx="20">
                  <c:v>41737</c:v>
                </c:pt>
                <c:pt idx="21">
                  <c:v>255524</c:v>
                </c:pt>
                <c:pt idx="22">
                  <c:v>87183</c:v>
                </c:pt>
                <c:pt idx="23">
                  <c:v>23670</c:v>
                </c:pt>
                <c:pt idx="24">
                  <c:v>70968</c:v>
                </c:pt>
                <c:pt idx="25">
                  <c:v>3220</c:v>
                </c:pt>
                <c:pt idx="26">
                  <c:v>48712</c:v>
                </c:pt>
                <c:pt idx="27">
                  <c:v>1091</c:v>
                </c:pt>
                <c:pt idx="28">
                  <c:v>260</c:v>
                </c:pt>
                <c:pt idx="29">
                  <c:v>135360</c:v>
                </c:pt>
                <c:pt idx="30">
                  <c:v>331</c:v>
                </c:pt>
                <c:pt idx="31">
                  <c:v>12934</c:v>
                </c:pt>
                <c:pt idx="32">
                  <c:v>5658</c:v>
                </c:pt>
                <c:pt idx="33">
                  <c:v>14244</c:v>
                </c:pt>
                <c:pt idx="34">
                  <c:v>0</c:v>
                </c:pt>
                <c:pt idx="35">
                  <c:v>31489</c:v>
                </c:pt>
                <c:pt idx="36">
                  <c:v>19245</c:v>
                </c:pt>
                <c:pt idx="37">
                  <c:v>2697</c:v>
                </c:pt>
                <c:pt idx="38">
                  <c:v>64134</c:v>
                </c:pt>
                <c:pt idx="39">
                  <c:v>898</c:v>
                </c:pt>
                <c:pt idx="40">
                  <c:v>1910</c:v>
                </c:pt>
                <c:pt idx="41">
                  <c:v>13819</c:v>
                </c:pt>
                <c:pt idx="42">
                  <c:v>6922</c:v>
                </c:pt>
                <c:pt idx="43">
                  <c:v>8398</c:v>
                </c:pt>
                <c:pt idx="44">
                  <c:v>158815</c:v>
                </c:pt>
                <c:pt idx="45">
                  <c:v>3415</c:v>
                </c:pt>
              </c:numCache>
            </c:numRef>
          </c:xVal>
          <c:yVal>
            <c:numRef>
              <c:f>'Chart Data'!$B$2:$B$47</c:f>
              <c:numCache>
                <c:formatCode>0.0,,"M"</c:formatCode>
                <c:ptCount val="46"/>
                <c:pt idx="0">
                  <c:v>192502</c:v>
                </c:pt>
                <c:pt idx="1">
                  <c:v>25945</c:v>
                </c:pt>
                <c:pt idx="2">
                  <c:v>704381</c:v>
                </c:pt>
                <c:pt idx="3">
                  <c:v>477926</c:v>
                </c:pt>
                <c:pt idx="4">
                  <c:v>599523</c:v>
                </c:pt>
                <c:pt idx="5">
                  <c:v>141284</c:v>
                </c:pt>
                <c:pt idx="6">
                  <c:v>281092</c:v>
                </c:pt>
                <c:pt idx="7">
                  <c:v>113360</c:v>
                </c:pt>
                <c:pt idx="8">
                  <c:v>13427</c:v>
                </c:pt>
                <c:pt idx="9">
                  <c:v>1665928</c:v>
                </c:pt>
                <c:pt idx="10">
                  <c:v>630117</c:v>
                </c:pt>
                <c:pt idx="11">
                  <c:v>34235</c:v>
                </c:pt>
                <c:pt idx="12">
                  <c:v>96673</c:v>
                </c:pt>
                <c:pt idx="13">
                  <c:v>545507</c:v>
                </c:pt>
                <c:pt idx="14">
                  <c:v>180539</c:v>
                </c:pt>
                <c:pt idx="15">
                  <c:v>106076</c:v>
                </c:pt>
                <c:pt idx="16">
                  <c:v>424074</c:v>
                </c:pt>
                <c:pt idx="17">
                  <c:v>719101</c:v>
                </c:pt>
                <c:pt idx="18">
                  <c:v>41662</c:v>
                </c:pt>
                <c:pt idx="19">
                  <c:v>563397</c:v>
                </c:pt>
                <c:pt idx="20">
                  <c:v>349967</c:v>
                </c:pt>
                <c:pt idx="21">
                  <c:v>301508</c:v>
                </c:pt>
                <c:pt idx="22">
                  <c:v>209216</c:v>
                </c:pt>
                <c:pt idx="23">
                  <c:v>161821</c:v>
                </c:pt>
                <c:pt idx="24">
                  <c:v>895013</c:v>
                </c:pt>
                <c:pt idx="25">
                  <c:v>65847</c:v>
                </c:pt>
                <c:pt idx="26">
                  <c:v>88447</c:v>
                </c:pt>
                <c:pt idx="27">
                  <c:v>128987</c:v>
                </c:pt>
                <c:pt idx="28">
                  <c:v>3041</c:v>
                </c:pt>
                <c:pt idx="29">
                  <c:v>860857</c:v>
                </c:pt>
                <c:pt idx="30">
                  <c:v>327310</c:v>
                </c:pt>
                <c:pt idx="31">
                  <c:v>798785</c:v>
                </c:pt>
                <c:pt idx="32">
                  <c:v>97950</c:v>
                </c:pt>
                <c:pt idx="33">
                  <c:v>623329</c:v>
                </c:pt>
                <c:pt idx="34">
                  <c:v>27093</c:v>
                </c:pt>
                <c:pt idx="35">
                  <c:v>55695</c:v>
                </c:pt>
                <c:pt idx="36">
                  <c:v>348969</c:v>
                </c:pt>
                <c:pt idx="37">
                  <c:v>96462</c:v>
                </c:pt>
                <c:pt idx="38">
                  <c:v>621686</c:v>
                </c:pt>
                <c:pt idx="39">
                  <c:v>95149</c:v>
                </c:pt>
                <c:pt idx="40">
                  <c:v>36284</c:v>
                </c:pt>
                <c:pt idx="41">
                  <c:v>529417</c:v>
                </c:pt>
                <c:pt idx="42">
                  <c:v>220180</c:v>
                </c:pt>
                <c:pt idx="43">
                  <c:v>232026</c:v>
                </c:pt>
                <c:pt idx="44">
                  <c:v>182814</c:v>
                </c:pt>
                <c:pt idx="45">
                  <c:v>80872</c:v>
                </c:pt>
              </c:numCache>
            </c:numRef>
          </c:yVal>
        </c:ser>
        <c:ser>
          <c:idx val="1"/>
          <c:order val="1"/>
          <c:tx>
            <c:v>Illinois</c:v>
          </c:tx>
          <c:spPr>
            <a:solidFill xmlns:a="http://schemas.openxmlformats.org/drawingml/2006/main">
              <a:srgbClr val="3F73C7"/>
            </a:solidFill>
            <a:ln xmlns:a="http://schemas.openxmlformats.org/drawingml/2006/main" w="0">
              <a:noFill/>
            </a:ln>
          </c:spPr>
          <c:marker>
            <c:symbol val="circle"/>
            <c:size val="11"/>
            <c:spPr>
              <a:solidFill xmlns:a="http://schemas.openxmlformats.org/drawingml/2006/main">
                <a:srgbClr val="3F73C7"/>
              </a:solidFill>
            </c:spPr>
          </c:marker>
          <c:xVal>
            <c:numRef>
              <c:f>'Chart Data'!$C$2:$C$2</c:f>
              <c:numCache>
                <c:formatCode>General</c:formatCode>
                <c:ptCount val="1"/>
                <c:pt idx="0">
                  <c:v>672210</c:v>
                </c:pt>
              </c:numCache>
            </c:numRef>
          </c:xVal>
          <c:yVal>
            <c:numRef>
              <c:f>'Chart Data'!$D$2:$D$2</c:f>
              <c:numCache>
                <c:formatCode>0.0,,"M"</c:formatCode>
                <c:ptCount val="1"/>
                <c:pt idx="0">
                  <c:v>529706</c:v>
                </c:pt>
              </c:numCache>
            </c:numRef>
          </c:yVal>
        </c:ser>
        <c:ser>
          <c:idx val="2"/>
          <c:order val="2"/>
          <c:tx>
            <c:v>Identification examples</c:v>
          </c:tx>
          <c:spPr>
            <a:solidFill xmlns:a="http://schemas.openxmlformats.org/drawingml/2006/main">
              <a:srgbClr val="F07C2B"/>
            </a:solidFill>
            <a:ln xmlns:a="http://schemas.openxmlformats.org/drawingml/2006/main" w="0">
              <a:noFill/>
            </a:ln>
          </c:spPr>
          <c:marker>
            <c:symbol val="circle"/>
            <c:size val="11"/>
            <c:spPr>
              <a:solidFill xmlns:a="http://schemas.openxmlformats.org/drawingml/2006/main">
                <a:srgbClr val="F07C2B"/>
              </a:solidFill>
            </c:spPr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114501</c:v>
                </c:pt>
                <c:pt idx="1">
                  <c:v>113717</c:v>
                </c:pt>
              </c:numCache>
            </c:numRef>
          </c:xVal>
          <c:yVal>
            <c:numRef>
              <c:f>'Chart Data'!$F$2:$F$3</c:f>
              <c:numCache>
                <c:formatCode>0.0,,"M"</c:formatCode>
                <c:ptCount val="2"/>
                <c:pt idx="0">
                  <c:v>2178881</c:v>
                </c:pt>
                <c:pt idx="1">
                  <c:v>2055512</c:v>
                </c:pt>
              </c:numCache>
            </c:numRef>
          </c:yVal>
        </c:ser>
        <c:ser>
          <c:idx val="3"/>
          <c:order val="3"/>
          <c:tx>
            <c:v>High on both</c:v>
          </c:tx>
          <c:spPr>
            <a:solidFill xmlns:a="http://schemas.openxmlformats.org/drawingml/2006/main">
              <a:srgbClr val="102A43"/>
            </a:solidFill>
            <a:ln xmlns:a="http://schemas.openxmlformats.org/drawingml/2006/main" w="0">
              <a:noFill/>
            </a:ln>
          </c:spPr>
          <c:marker>
            <c:symbol val="circle"/>
            <c:size val="11"/>
            <c:spPr>
              <a:solidFill xmlns:a="http://schemas.openxmlformats.org/drawingml/2006/main">
                <a:srgbClr val="102A43"/>
              </a:solidFill>
            </c:spPr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321502</c:v>
                </c:pt>
                <c:pt idx="1">
                  <c:v>289055</c:v>
                </c:pt>
              </c:numCache>
            </c:numRef>
          </c:xVal>
          <c:yVal>
            <c:numRef>
              <c:f>'Chart Data'!$H$2:$H$3</c:f>
              <c:numCache>
                <c:formatCode>0.0,,"M"</c:formatCode>
                <c:ptCount val="2"/>
                <c:pt idx="0">
                  <c:v>878788</c:v>
                </c:pt>
                <c:pt idx="1">
                  <c:v>951163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30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6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02A43"/>
                    </a:solidFill>
                    <a:latin typeface="Inter"/>
                    <a:ea typeface="Inter"/>
                    <a:cs typeface="Inter"/>
                  </a:rPr>
                  <a:t>Lead Status Unknown Service Lines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02A43"/>
                  </a:solidFill>
                  <a:latin typeface="Inter"/>
                  <a:ea typeface="Inter"/>
                  <a:cs typeface="Inter"/>
                </a:defRPr>
              </a:pPr>
            </a:p>
          </c:txPr>
        </c:title>
        <c:numFmt formatCode="0.0,,&quot;M&quot;"/>
        <c:majorTickMark val="none"/>
        <c:minorTickMark val="none"/>
        <c:spPr>
          <a:ln xmlns:a="http://schemas.openxmlformats.org/drawingml/2006/main" w="9525">
            <a:solidFill>
              <a:srgbClr val="D8DE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27B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majorUnit val="500000"/>
      </c:valAx>
      <c:valAx>
        <c:axId val="48650112"/>
        <c:scaling>
          <c:orientation val="minMax"/>
          <c:max val="7200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23333F"/>
                    </a:solidFill>
                    <a:latin typeface="Inter"/>
                    <a:ea typeface="Inter"/>
                    <a:cs typeface="Inter"/>
                  </a:rPr>
                  <a:t>Known Replacement Inventory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3333F"/>
                  </a:solidFill>
                  <a:latin typeface="Inter"/>
                  <a:ea typeface="Inter"/>
                  <a:cs typeface="Inter"/>
                </a:defRPr>
              </a:pPr>
            </a:p>
          </c:txPr>
        </c:title>
        <c:numFmt formatCode="0,&quot;k&quot;"/>
        <c:majorTickMark val="none"/>
        <c:minorTickMark val="none"/>
        <c:spPr>
          <a:ln xmlns:a="http://schemas.openxmlformats.org/drawingml/2006/main" w="9525">
            <a:solidFill>
              <a:srgbClr val="D8DE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27B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  <c:majorUnit val="100000"/>
      </c:valAx>
      <c:spPr>
        <a:solidFill xmlns:a="http://schemas.openxmlformats.org/drawingml/2006/main">
          <a:srgbClr val="F7F4E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F5C004-93B9-446E-8DB9-822B5A34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78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Lead service line need is not one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C0824-735B-4E82-A408-6513E3FF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562725"/>
            <a:ext cx="23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ED0B8-F281-4F1A-805B-074C1B5F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1078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States face different mixes of identification and replacement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DEDFF-AC19-4C98-B027-B9EB2259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107823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Where are infrastructure needs greatest</a:t>
            </a:r>
          </a:p>
          <a:p xmlns:a="http://schemas.openxmlformats.org/drawingml/2006/main">
            <a:pPr>
              <a:buNone/>
              <a:defRPr sz="36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across U.S. states?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A7B1E-D21B-420F-9964-B5F6C380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462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01  IDENTIFY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B1992-D755-4CE4-885D-98F2124C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4629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Resolve Lead Status Unknown lines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A4FBB-3317-4B82-8959-6BA6DAA9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461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07C2B"/>
                </a:solidFill>
                <a:latin typeface="Inter"/>
                <a:ea typeface="Inter"/>
                <a:cs typeface="Inter"/>
              </a:rPr>
              <a:t>Identification Need</a:t>
            </a:r>
          </a:p>
          <a:p xmlns:a="http://schemas.openxmlformats.org/drawingml/2006/main">
            <a:pPr>
              <a:buNone/>
              <a:defRPr sz="1650" b="0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07C2B"/>
                </a:solidFill>
                <a:latin typeface="Inter"/>
                <a:ea typeface="Inter"/>
                <a:cs typeface="Inter"/>
              </a:rPr>
              <a:t>= Lead Status Unknown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E8813-E328-4F42-856B-326827E3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671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02  REPLACE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02743-A033-4CAF-92FF-52B3D4E3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1955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Act on known Lead and GRR lines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539E0B-0A85-4B35-B5A8-4A64EE89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3390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3F73C7"/>
                </a:solidFill>
                <a:latin typeface="Inter"/>
                <a:ea typeface="Inter"/>
                <a:cs typeface="Inter"/>
              </a:rPr>
              <a:t>Known Replacement Inventory</a:t>
            </a:r>
          </a:p>
          <a:p xmlns:a="http://schemas.openxmlformats.org/drawingml/2006/main">
            <a:pPr>
              <a:buNone/>
              <a:defRPr sz="1650" b="0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3F73C7"/>
                </a:solidFill>
                <a:latin typeface="Inter"/>
                <a:ea typeface="Inter"/>
                <a:cs typeface="Inter"/>
              </a:rPr>
              <a:t>= Lead + GRR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2FBA97-1F17-4906-AF87-CAC05387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72125"/>
            <a:ext cx="10782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Comparing states on only one measure would hide where their actual workload sits.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DE0C0C-AFB8-4276-AC14-1B5D0F38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43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Scope: 43,993 complete-report Community Water Systems across 50 states and DC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C59DB2-760B-4E34-B9A0-2C9BE152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293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5530E1-9A5F-4C75-AA6F-0ACA414A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31F91D-98A7-4F54-9C92-5610A437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51244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9"/>
          </a:solidFill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23E69A-85AA-4C77-B8C5-67C7D39E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05175"/>
            <a:ext cx="53340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BD2D6"/>
            </a:solidFill>
          </a:ln>
        </p:spPr>
      </p:sp>
    </p:spTree>
    <p:extLst>
      <p:ext uri="{BB962C8B-B14F-4D97-AF65-F5344CB8AC3E}">
        <p14:creationId xmlns:p14="http://schemas.microsoft.com/office/powerpoint/2010/main" val="841737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32B21B-55D6-4ADA-9569-A6630D65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10782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Most of the reported national workload</a:t>
            </a:r>
          </a:p>
          <a:p xmlns:a="http://schemas.openxmlformats.org/drawingml/2006/main">
            <a:pPr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is still unresolved identification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96FB4-5C48-48CE-B3FE-78B567E4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562725"/>
            <a:ext cx="23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C522D-4C2D-4BB7-A8BF-E04C1804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National inventory within the analytical sample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331FE-19A1-42BE-9FE7-D48E920F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Lead Status Unknown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B37FF-449C-44AF-A179-B08CA7C1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14550"/>
            <a:ext cx="1952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21.59M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704850" y="2505075"/>
          <a:ext xmlns:a="http://schemas.openxmlformats.org/drawingml/2006/main" cx="7086600" cy="2647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4fa7070ed84ef2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89A62A-7F78-4147-A632-99C44AB5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Known Replacement Inventory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36989-8D66-4AD5-AD9A-067E567A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1910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3.12M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A981D-2817-48C1-9D8B-07B353AE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2.18M Lead + 0.94M GRR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BAFA65-F976-4426-A511-1B6B79EB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621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100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5100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6.9×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46C4E1-0B6A-453E-A4D2-F1C767E3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86125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as many Unknown lines as lines already classified for replacement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ECFE94-A868-4E12-9EF9-A37AB913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48225"/>
            <a:ext cx="2609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Unknown lines require identification.</a:t>
            </a:r>
          </a:p>
          <a:p xmlns:a="http://schemas.openxmlformats.org/drawingml/2006/main">
            <a:pPr>
              <a:buNone/>
              <a:defRPr sz="16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They are not confirmed lead lines.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2AFCC6-A605-4BB3-9DD5-B9BE051B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43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Source: U.S. EPA 2026 Q2 Service Line Inventory. Counts reflect the analytical sample.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EBF555-EDC5-43AB-AB00-2CB976C9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293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969919-7133-4D18-91D4-D9DDE295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85975"/>
            <a:ext cx="0" cy="3705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1C3E31-2555-4844-A9AC-FB172000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95825"/>
            <a:ext cx="2933700" cy="1228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9D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943608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BB684E-6427-4EB0-AC56-3417A3A5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10782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The same national challenge looks very different</a:t>
            </a:r>
          </a:p>
          <a:p xmlns:a="http://schemas.openxmlformats.org/drawingml/2006/main">
            <a:pPr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from state to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40268-E4FA-4584-BB07-81F81D0D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562725"/>
            <a:ext cx="23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F99D7-BDAB-42CE-B31E-2F62890A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438275"/>
            <a:ext cx="432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Known Replacement Inventory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861AA-15C1-4028-9079-4C444AB9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438275"/>
            <a:ext cx="3495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Lead Status Unknown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10EB4-3A97-4663-9A51-6616B7FB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533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Replacement-heavy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D1B6FA-3169-40EE-8DF6-CEA9C151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57400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Illinois</a:t>
            </a:r>
          </a:p>
        </p:txBody>
      </p:sp>
      <p:graphicFrame>
        <p:nvGraphicFramePr>
          <p:cNvPr id="50" name="Chart"/>
          <p:cNvGraphicFramePr/>
          <p:nvPr/>
        </p:nvGraphicFramePr>
        <p:xfrm>
          <a:off xmlns:a="http://schemas.openxmlformats.org/drawingml/2006/main" x="5314950" y="1990725"/>
          <a:ext xmlns:a="http://schemas.openxmlformats.org/drawingml/2006/main" cx="4476750" cy="57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6b13a1596104681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967DF-7103-4CCE-A837-4F892B80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5025" y="1990725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672,210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BF64E0-70F2-4789-80A9-A495C4D8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522" y="2266950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529,706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83CCC1-B82A-4BBA-98B5-13B5283D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09850"/>
            <a:ext cx="7581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Largest already-classified replacement inventory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702FAC-9161-4C93-B104-0C78644E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Identification-heavy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52659-5824-4AF3-8C61-CB3F5F1D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95650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Texas</a:t>
            </a:r>
          </a:p>
        </p:txBody>
      </p:sp>
      <p:graphicFrame>
        <p:nvGraphicFramePr>
          <p:cNvPr id="56" name="Chart"/>
          <p:cNvGraphicFramePr/>
          <p:nvPr/>
        </p:nvGraphicFramePr>
        <p:xfrm>
          <a:off xmlns:a="http://schemas.openxmlformats.org/drawingml/2006/main" x="5314950" y="3228975"/>
          <a:ext xmlns:a="http://schemas.openxmlformats.org/drawingml/2006/main" cx="4476750" cy="57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8814c36ec64ef6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0DBCE-6B75-429C-B933-511EE6E4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8992" y="3228975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114,501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C950A3-A38F-4774-AB4F-2F9D37D0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5845" y="3505200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2,178,881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FA77A8-5520-4C70-9D29-A863F40F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05250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Pennsylvania</a:t>
            </a:r>
          </a:p>
        </p:txBody>
      </p:sp>
      <p:graphicFrame>
        <p:nvGraphicFramePr>
          <p:cNvPr id="60" name="Chart"/>
          <p:cNvGraphicFramePr/>
          <p:nvPr/>
        </p:nvGraphicFramePr>
        <p:xfrm>
          <a:off xmlns:a="http://schemas.openxmlformats.org/drawingml/2006/main" x="5314950" y="3838575"/>
          <a:ext xmlns:a="http://schemas.openxmlformats.org/drawingml/2006/main" cx="4476750" cy="57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6944387b1d47ff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C243D4-C164-499B-855D-C0B5CAA5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7591" y="3838575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113,717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5046CD-9DA3-42EF-BE10-D8632E6A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516" y="4114800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2,055,512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54900F-41EF-4ACC-9965-5381CBC2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38650"/>
            <a:ext cx="7581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Much larger unresolved identification inventories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135F43-D08D-495F-9537-407E1EB3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2533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Substantial work</a:t>
            </a:r>
          </a:p>
          <a:p xmlns:a="http://schemas.openxmlformats.org/drawingml/2006/main">
            <a:pPr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on both dimensions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B925B7-FAFB-49F5-A017-7AC13D58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81575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Ohio</a:t>
            </a:r>
          </a:p>
        </p:txBody>
      </p:sp>
      <p:graphicFrame>
        <p:nvGraphicFramePr>
          <p:cNvPr id="66" name="Chart"/>
          <p:cNvGraphicFramePr/>
          <p:nvPr/>
        </p:nvGraphicFramePr>
        <p:xfrm>
          <a:off xmlns:a="http://schemas.openxmlformats.org/drawingml/2006/main" x="5314950" y="4914900"/>
          <a:ext xmlns:a="http://schemas.openxmlformats.org/drawingml/2006/main" cx="4476750" cy="57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a9605ae25948a7"/>
          </a:graphicData>
        </a:graphic>
      </p:graphicFrame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847E7C-403E-4ED5-8EE9-1C0B7198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8682" y="4914900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321,502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32E2BA-2A24-4596-932C-17E42F32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3960" y="5191125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878,788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8D4F37-B0DB-485C-AB2B-0F4616D2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638800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New York</a:t>
            </a:r>
          </a:p>
        </p:txBody>
      </p:sp>
      <p:graphicFrame>
        <p:nvGraphicFramePr>
          <p:cNvPr id="70" name="Chart"/>
          <p:cNvGraphicFramePr/>
          <p:nvPr/>
        </p:nvGraphicFramePr>
        <p:xfrm>
          <a:off xmlns:a="http://schemas.openxmlformats.org/drawingml/2006/main" x="5314950" y="5572125"/>
          <a:ext xmlns:a="http://schemas.openxmlformats.org/drawingml/2006/main" cx="4476750" cy="57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f76a6a20ab48f8"/>
          </a:graphicData>
        </a:graphic>
      </p:graphicFrame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2EEBAD-D889-407B-8A8A-2FBA6420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734" y="5572125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289,055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960DE4-1711-4825-804D-13F5BE07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218" y="5848350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951,163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9BB45A-0444-4EE7-9C0A-0D2902D3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43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Source: U.S. EPA 2026 Q2 Service Line Inventory. Narrative examples, not statistical clusters. All bars use the same scale.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A10976-840A-4A06-991F-3B289558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293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AA6A4A-6FA7-4486-8C32-6B280DEF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107823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1D2A77-B90E-4E99-BB22-0F1700FF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E7DDD9-9D40-45C9-971B-4DE901CB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07823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9525">
            <a:solidFill>
              <a:srgbClr val="CBD2D6"/>
            </a:solidFill>
          </a:ln>
        </p:spPr>
      </p:sp>
    </p:spTree>
    <p:extLst>
      <p:ext uri="{BB962C8B-B14F-4D97-AF65-F5344CB8AC3E}">
        <p14:creationId xmlns:p14="http://schemas.microsoft.com/office/powerpoint/2010/main" val="11905744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39" name="Chart"/>
          <p:cNvGraphicFramePr/>
          <p:nvPr/>
        </p:nvGraphicFramePr>
        <p:xfrm>
          <a:off xmlns:a="http://schemas.openxmlformats.org/drawingml/2006/main" x="523875" y="1428750"/>
          <a:ext xmlns:a="http://schemas.openxmlformats.org/drawingml/2006/main" cx="781050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e331bb1f2e4d29"/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19697E-C753-4C1D-ABD8-AC41113A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10782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A single ranking would hide</a:t>
            </a:r>
          </a:p>
          <a:p xmlns:a="http://schemas.openxmlformats.org/drawingml/2006/main">
            <a:pPr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where each state’s workload sits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4A2D90-359B-46D6-9767-A2D11F5B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562725"/>
            <a:ext cx="23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1BE573-E73C-4656-9F03-D15C185F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7049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Texas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7FB557-370C-4B0D-A0BC-47F65821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06692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Pennsylvania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AEA9BB-6752-45D4-B011-E443966E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400425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New York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7BC6F2-2F7E-4AA7-8E7E-D7089EE3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52850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Ohio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8828CD-E9BD-479D-A626-671A7F4C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24325"/>
            <a:ext cx="1314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Illinois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F1606F-C4AB-462E-86B0-4F727D10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647825"/>
            <a:ext cx="2619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What this reveals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A73D7D-86FD-423C-9034-B9144A94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162175"/>
            <a:ext cx="2533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Replacement and identification needs do not consistently move together.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7FD27F-DCFA-43C6-BCDB-F31CAA4D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276600"/>
            <a:ext cx="25336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One overall “need” ranking would hide these differences.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99BF67-5B63-4176-95D0-8837F93D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114800"/>
            <a:ext cx="25336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Planning should distinguish known replacement work from inventory still requiring identification.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805986-BC5A-4280-B733-8EB3CD71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562600"/>
            <a:ext cx="2533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This pattern describes inventory. It does not measure progress, maturity, or cause.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5113AD-19D5-4C8B-BBD8-0C22AFAD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43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Source: U.S. EPA 2026 Q2 Service Line Inventory. Each point represents one state or DC.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C9DA85-BC7A-4E98-85BD-FD8BED42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293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F94CC9-876C-41CD-9ECE-DA21CAB1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495425"/>
            <a:ext cx="28384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1"/>
          </a:solidFill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9A8CF2-1F4C-4FB2-8D89-47244AD5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438775"/>
            <a:ext cx="253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</p:spTree>
    <p:extLst>
      <p:ext uri="{BB962C8B-B14F-4D97-AF65-F5344CB8AC3E}">
        <p14:creationId xmlns:p14="http://schemas.microsoft.com/office/powerpoint/2010/main" val="12629811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DBA9DA-C3CB-4722-A4FE-F8F170E1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10782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State size changes who stands out,</a:t>
            </a:r>
          </a:p>
          <a:p xmlns:a="http://schemas.openxmlformats.org/drawingml/2006/main">
            <a:pPr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and local evidence is needed before acting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4D885-0DCB-4A9A-B5B9-9FD98279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647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Absolute workload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2E1F6-60C9-46AE-8E8A-307278AD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636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Raw totals show where the largest overall inventories are concentrated.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C8D3F-2856-4C67-A4A8-0F911E43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71775"/>
            <a:ext cx="238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Relative scale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7051E7-9E73-44F4-AA9A-ED63D0DA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800350"/>
            <a:ext cx="39147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Per 10,000 state residents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03F270-2E9F-4844-9CC7-4306F4C1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9087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Raw top 10 retained after normalization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91E5E-28E5-4C8B-8D38-34E2C8DC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255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6 of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3D759-8102-4F90-AA26-5F16C313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814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3F73C7"/>
                </a:solidFill>
                <a:latin typeface="Inter"/>
                <a:ea typeface="Inter"/>
                <a:cs typeface="Inter"/>
              </a:rPr>
              <a:t>Known Replacement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F0D65C-FE9A-4C99-974A-F24F133C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5242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3 of 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3D84C5-116C-457C-BF30-26A08699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981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F07C2B"/>
                </a:solidFill>
                <a:latin typeface="Inter"/>
                <a:ea typeface="Inter"/>
                <a:cs typeface="Inter"/>
              </a:rPr>
              <a:t>Identification Need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31084D-53B9-4660-B733-0D4FFB79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0075"/>
            <a:ext cx="331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Illinois: #1 Known Replacement</a:t>
            </a:r>
          </a:p>
          <a:p xmlns:a="http://schemas.openxmlformats.org/drawingml/2006/main">
            <a:pPr>
              <a:buNone/>
              <a:defRPr sz="1425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Pennsylvania: #1 Unknown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154C45-0281-4A04-9F75-D2829705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3381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Both per 10,000 state residents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D7087D-343E-4A2B-B851-A0B87CCE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10075"/>
            <a:ext cx="309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Rhode Island, Louisiana and New Mexico become more visible.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8FD787-C4A8-4A6F-8C9B-5C28AB05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66875"/>
            <a:ext cx="342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Decision implication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BE599F-AC4F-435E-9DDB-706D8729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5265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State inventories can guide deeper local investigation.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DEA96A-0FDA-485A-9019-58C3D9EE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19425"/>
            <a:ext cx="3381375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Intervention decisions require utility-level records, GIS information, inspections, funding information, local capacity, project plans and other local evidence.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408425-E73E-493B-9635-4E79972A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14975"/>
            <a:ext cx="1638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Next question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BADF2F-362C-4591-B359-21567874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24500"/>
            <a:ext cx="876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How do state and utility identification and replacement needs align with available funding and local capacity to complete service-line replacement?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DAEAD9-5A32-41C8-8794-C43CD725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15075"/>
            <a:ext cx="10782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Unknown does not mean lead. Inventory does not measure exposure or water quality. Incomplete-report systems are excluded.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374F69-F94F-4228-8EBE-24F1C1A5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81775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Sources: U.S. EPA 2026 Q2 Service Line Inventory; U.S. Census Bureau 2025 resident population estimates (population context).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CC779B-14AC-4A0F-89FD-C5A6FF55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562725"/>
            <a:ext cx="23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7F880E-1CFC-415D-9226-3CB0A993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38425"/>
            <a:ext cx="636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0D9464-A2F9-46B7-BCE0-0EC31F0F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24000"/>
            <a:ext cx="3819525" cy="3629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1"/>
          </a:solidFill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20AAF7-FF66-4339-A54F-9082153D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53050"/>
            <a:ext cx="107823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191645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2026-09-18T14:32:52.1490000Z</dcterms:created>
  <dcterms:modified xsi:type="dcterms:W3CDTF">2026-09-18T14:32:52.1490000Z</dcterms:modified>
</coreProperties>
</file>