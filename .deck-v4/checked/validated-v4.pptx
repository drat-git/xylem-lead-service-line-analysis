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e008327c94a7b" /><Relationship Type="http://schemas.openxmlformats.org/officeDocument/2006/relationships/extended-properties" Target="/docProps/app.xml" Id="R2fb10c20034646b5" /><Relationship Type="http://schemas.openxmlformats.org/officeDocument/2006/relationships/officeDocument" Target="/ppt/presentation.xml" Id="R3af4d3005ed3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711ccd41449ae"/>
  </p:sldMasterIdLst>
  <p:notesMasterIdLst>
    <p:notesMasterId xmlns:r="http://schemas.openxmlformats.org/officeDocument/2006/relationships" r:id="R808e498f66fa48f6"/>
  </p:notesMasterIdLst>
  <p:sldIdLst>
    <p:sldId xmlns:r="http://schemas.openxmlformats.org/officeDocument/2006/relationships" id="256" r:id="R8bad6d414a184aa4"/>
    <p:sldId xmlns:r="http://schemas.openxmlformats.org/officeDocument/2006/relationships" id="257" r:id="R98536cb8c00543c3"/>
    <p:sldId xmlns:r="http://schemas.openxmlformats.org/officeDocument/2006/relationships" id="258" r:id="Rb699d8e4ab264c2a"/>
    <p:sldId xmlns:r="http://schemas.openxmlformats.org/officeDocument/2006/relationships" id="259" r:id="R7ac60a4eda4b46a7"/>
    <p:sldId xmlns:r="http://schemas.openxmlformats.org/officeDocument/2006/relationships" id="260" r:id="R55774dc5c34b45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55e5319b34945" /><Relationship Type="http://schemas.openxmlformats.org/officeDocument/2006/relationships/slideMaster" Target="/ppt/slideMasters/slideMaster1.xml" Id="Rc14711ccd41449ae" /><Relationship Type="http://schemas.openxmlformats.org/officeDocument/2006/relationships/notesMaster" Target="/ppt/notesMasters/notesMaster1.xml" Id="R808e498f66fa48f6" /><Relationship Type="http://schemas.openxmlformats.org/officeDocument/2006/relationships/presProps" Target="/ppt/presProps.xml" Id="R5bdb1848ad564364" /><Relationship Type="http://schemas.openxmlformats.org/officeDocument/2006/relationships/tableStyles" Target="/ppt/tableStyles.xml" Id="R71c743e1123b4470" /><Relationship Type="http://schemas.openxmlformats.org/officeDocument/2006/relationships/slide" Target="/ppt/slides/slide1.xml" Id="R8bad6d414a184aa4" /><Relationship Type="http://schemas.openxmlformats.org/officeDocument/2006/relationships/slide" Target="/ppt/slides/slide2.xml" Id="R98536cb8c00543c3" /><Relationship Type="http://schemas.openxmlformats.org/officeDocument/2006/relationships/slide" Target="/ppt/slides/slide3.xml" Id="Rb699d8e4ab264c2a" /><Relationship Type="http://schemas.openxmlformats.org/officeDocument/2006/relationships/slide" Target="/ppt/slides/slide4.xml" Id="R7ac60a4eda4b46a7" /><Relationship Type="http://schemas.openxmlformats.org/officeDocument/2006/relationships/slide" Target="/ppt/slides/slide5.xml" Id="R55774dc5c34b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3912c3f5b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6b81d8fc3f4ea4" /><Relationship Type="http://schemas.openxmlformats.org/officeDocument/2006/relationships/notesMaster" Target="/ppt/notesMasters/notesMaster1.xml" Id="R7f0d05ee4637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72b664afd40a3" /><Relationship Type="http://schemas.openxmlformats.org/officeDocument/2006/relationships/notesMaster" Target="/ppt/notesMasters/notesMaster1.xml" Id="Reb10e91d898b44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52352d3e84994" /><Relationship Type="http://schemas.openxmlformats.org/officeDocument/2006/relationships/notesMaster" Target="/ppt/notesMasters/notesMaster1.xml" Id="Rb2f8d07afbd0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57d2489d94aa7" /><Relationship Type="http://schemas.openxmlformats.org/officeDocument/2006/relationships/notesMaster" Target="/ppt/notesMasters/notesMaster1.xml" Id="R2949a0f9a9ee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5149350ea6478a" /><Relationship Type="http://schemas.openxmlformats.org/officeDocument/2006/relationships/notesMaster" Target="/ppt/notesMasters/notesMaster1.xml" Id="R7fca3ef14599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0f763d97041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32c9011ec489f" /><Relationship Type="http://schemas.openxmlformats.org/officeDocument/2006/relationships/slideLayout" Target="/ppt/slideLayouts/slideLayout1.xml" Id="R1149b3741fa64c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9b3741fa64c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1a87bda864f1c" /><Relationship Type="http://schemas.openxmlformats.org/officeDocument/2006/relationships/notesSlide" Target="/ppt/notesSlides/notesSlide1.xml" Id="Rd3dd6d52fab4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43f092cdd4f79" /><Relationship Type="http://schemas.openxmlformats.org/officeDocument/2006/relationships/chart" Target="/ppt/slides/charts/chart1.xml" Id="R944fa7070ed84ef2" /><Relationship Type="http://schemas.openxmlformats.org/officeDocument/2006/relationships/notesSlide" Target="/ppt/notesSlides/notesSlide2.xml" Id="R4d34aa54906042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fba66fa3b4d6d" /><Relationship Type="http://schemas.openxmlformats.org/officeDocument/2006/relationships/chart" Target="/ppt/slides/charts/chart2.xml" Id="Rf6b13a1596104681" /><Relationship Type="http://schemas.openxmlformats.org/officeDocument/2006/relationships/chart" Target="/ppt/slides/charts/chart3.xml" Id="R698814c36ec64ef6" /><Relationship Type="http://schemas.openxmlformats.org/officeDocument/2006/relationships/chart" Target="/ppt/slides/charts/chart4.xml" Id="R136944387b1d47ff" /><Relationship Type="http://schemas.openxmlformats.org/officeDocument/2006/relationships/chart" Target="/ppt/slides/charts/chart5.xml" Id="Rd6a9605ae25948a7" /><Relationship Type="http://schemas.openxmlformats.org/officeDocument/2006/relationships/chart" Target="/ppt/slides/charts/chart6.xml" Id="R55f76a6a20ab48f8" /><Relationship Type="http://schemas.openxmlformats.org/officeDocument/2006/relationships/notesSlide" Target="/ppt/notesSlides/notesSlide3.xml" Id="R5db3380450e040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10c69e5af4301" /><Relationship Type="http://schemas.openxmlformats.org/officeDocument/2006/relationships/chart" Target="/ppt/slides/charts/chart7.xml" Id="R07e331bb1f2e4d29" /><Relationship Type="http://schemas.openxmlformats.org/officeDocument/2006/relationships/notesSlide" Target="/ppt/notesSlides/notesSlide4.xml" Id="R833731508341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74b5d5f0f4393" /><Relationship Type="http://schemas.openxmlformats.org/officeDocument/2006/relationships/notesSlide" Target="/ppt/notesSlides/notesSlide5.xml" Id="R28370c6b393047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Service lines</c:v>
          </c:tx>
          <c:spPr>
            <a:solidFill xmlns:a="http://schemas.openxmlformats.org/drawingml/2006/main">
              <a:srgbClr val="F07C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Known replacement</c:v>
                </c:pt>
                <c:pt idx="1">
                  <c:v>Unknown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3115308</c:v>
                </c:pt>
                <c:pt idx="1">
                  <c:v>21589524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Illinois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529706</c:v>
                </c:pt>
                <c:pt idx="1">
                  <c:v>672210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0F2F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Texas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2178881</c:v>
                </c:pt>
                <c:pt idx="1">
                  <c:v>114501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Pennsylvania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2055512</c:v>
                </c:pt>
                <c:pt idx="1">
                  <c:v>113717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Ohio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878788</c:v>
                </c:pt>
                <c:pt idx="1">
                  <c:v>321502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0F2F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New York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951163</c:v>
                </c:pt>
                <c:pt idx="1">
                  <c:v>289055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0F2F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Other states</c:v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BEC8CE"/>
              </a:solidFill>
            </c:spPr>
          </c:marker>
          <c:xVal>
            <c:numRef>
              <c:f>'Chart Data'!$A$2:$A$47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'Chart Data'!$B$2:$B$47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v>Illinois</c:v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3F73C7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'Chart Data'!$D$2:$D$2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v>Identification examples</c:v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F07C2B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'Chart Data'!$F$2:$F$3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v>High on both</c:v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A4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'Chart Data'!$H$2:$H$3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02A43"/>
                    </a:solidFill>
                    <a:latin typeface="Inter"/>
                    <a:ea typeface="Inter"/>
                    <a:cs typeface="Inter"/>
                  </a:rPr>
                  <a:t>Lead Status Unknown Service Lines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02A43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3333F"/>
                    </a:solidFill>
                    <a:latin typeface="Inter"/>
                    <a:ea typeface="Inter"/>
                    <a:cs typeface="Inter"/>
                  </a:rPr>
                  <a:t>Known Replacement Inventory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3333F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100000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530E1-9A5F-4C75-AA6F-0ACA414A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1F91D-98A7-4F54-9C92-5610A43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51244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9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3E69A-85AA-4C77-B8C5-67C7D39E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5334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5C004-93B9-446E-8DB9-822B5A3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Lead service line need is not one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C0824-735B-4E82-A408-6513E3F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ED0B8-F281-4F1A-805B-074C1B5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States face different mixes of identification and replacement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EDFF-AC19-4C98-B027-B9EB2259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Where are infrastructure needs greatest</a:t>
            </a:r>
          </a:p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across U.S. states?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7B1E-D21B-420F-9964-B5F6C380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01 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B1992-D755-4CE4-885D-98F2124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29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Resolve Lead Status Unknown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4FBB-3317-4B82-8959-6BA6DAA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61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  <a:p xmlns:a="http://schemas.openxmlformats.org/drawingml/2006/main">
            <a:pPr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= Lead Status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E8813-E328-4F42-856B-326827E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02 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2743-A033-4CAF-92FF-52B3D4E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Act on known Lead and GRR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39E0B-0A85-4B35-B5A8-4A64EE8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  <a:p xmlns:a="http://schemas.openxmlformats.org/drawingml/2006/main">
            <a:pPr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= Lead + 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BA97-1F17-4906-AF87-CAC0538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782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Comparing states on only one measure would hide where their actual workload 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E0C0C-AFB8-4276-AC14-1B5D0F3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Scope: 43,993 complete-report Community Water Systems across 50 states and 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59DB2-760B-4E34-B9A0-2C9BE15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8417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C3E31-2555-4844-A9AC-FB17200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29337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2B21B-55D6-4ADA-9569-A6630D6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Most of the reported national workload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is still unresolved identification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96FB4-5C48-48CE-B3FE-78B567E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C522D-4C2D-4BB7-A8BF-E04C180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National inventory within the analytical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331FE-19A1-42BE-9FE7-D48E920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B37FF-449C-44AF-A179-B08CA7C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1952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21.59M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04850" y="2505075"/>
          <a:ext xmlns:a="http://schemas.openxmlformats.org/drawingml/2006/main" cx="708660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4fa7070ed84ef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9A62A-7F78-4147-A632-99C44AB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36989-8D66-4AD5-AD9A-067E567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91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981D-2817-48C1-9D8B-07B353A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2.18M Lead + 0.94M GRR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FA65-F976-4426-A511-1B6B79E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51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6.9×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C4E1-0B6A-453E-A4D2-F1C767E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as many Unknown lines as lines already classified for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CFE94-A868-4E12-9EF9-A37AB91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48225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Unknown lines require identification.</a:t>
            </a:r>
          </a:p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They are not confirmed lead 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AFCC6-A605-4BB3-9DD5-B9BE051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Counts reflect the analytical sample.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BF555-EDC5-43AB-AB00-2CB976C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69919-7133-4D18-91D4-D9DDE295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0" cy="3705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99436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AA6A4A-6FA7-4486-8C32-6B280DE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078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E7DDD9-9D40-45C9-971B-4DE901C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78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B684E-6427-4EB0-AC56-3417A3A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same national challenge looks very different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from state to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40268-E4FA-4584-BB07-81F81D0D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F99D7-BDAB-42CE-B31E-2F62890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827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861AA-15C1-4028-9079-4C444AB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38275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0EB4-3A97-4663-9A51-6616B7F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Replacement-heavy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1B6FA-3169-40EE-8DF6-CEA9C15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5314950" y="19907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b13a159610468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967DF-7103-4CCE-A837-4F892B8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025" y="19907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672,210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64E0-70F2-4789-80A9-A495C4D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22" y="22669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529,706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CCC1-B82A-4BBA-98B5-13B5283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7581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Largest already-classified replacement 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02FAC-9161-4C93-B104-0C78644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Identification-heavy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2659-5824-4AF3-8C61-CB3F5F1D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5314950" y="32289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8814c36ec64ef6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0DBCE-6B75-429C-B933-511EE6E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92" y="322897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114,501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950A3-A38F-4774-AB4F-2F9D37D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845" y="35052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2,178,881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A77A8-5520-4C70-9D29-A863F40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5314950" y="38385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6944387b1d47ff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243D4-C164-499B-855D-C0B5CAA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91" y="383857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113,717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046CD-9DA3-42EF-BE10-D8632E6A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516" y="41148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2,055,512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4900F-41EF-4ACC-9965-5381CBC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7581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Much larger unresolved identification inventories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35F43-D08D-495F-9537-407E1EB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Substantial work</a:t>
            </a:r>
          </a:p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on both dimensions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925B7-FAFB-49F5-A017-7AC13D5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314950" y="4914900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a9605ae25948a7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47E7C-403E-4ED5-8EE9-1C0B719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682" y="49149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321,502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2E2BA-2A24-4596-932C-17E42F3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60" y="51911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878,788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D4F37-B0DB-485C-AB2B-0F4616D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38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5314950" y="55721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f76a6a20ab48f8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EEBAD-D889-407B-8A8A-2FBA642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34" y="55721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289,055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960DE4-1711-4825-804D-13F5BE0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218" y="58483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951,163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BB45A-0444-4EE7-9C0A-0D2902D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Narrative examples, not statistical clusters. All bars use the same scale.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A10976-840A-4A06-991F-3B28955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1D2A77-B90E-4E99-BB22-0F1700FF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19057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94CC9-876C-41CD-9ECE-DA21CAB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95425"/>
            <a:ext cx="2838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CBD2D6"/>
            </a:solidFill>
          </a:ln>
        </p:spPr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e331bb1f2e4d2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697E-C753-4C1D-ABD8-AC41113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 single ranking would hide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where each state’s workload sits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A2D90-359B-46D6-9767-A2D11F5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BE573-E73C-4656-9F03-D15C185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049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FB557-370C-4B0D-A0BC-47F6582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669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EA9BB-6752-45D4-B011-E443966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04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BC6F2-2F7E-4AA7-8E7E-D7089EE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828CD-E9BD-479D-A626-671A7F4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24325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1606F-C4AB-462E-86B0-4F727D1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47825"/>
            <a:ext cx="2619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What this reveals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73D7D-86FD-423C-9034-B9144A9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62175"/>
            <a:ext cx="2533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 and identification needs do not consistently move together.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FD27F-DCFA-43C6-BCDB-F31CAA4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76600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One overall “need” ranking would hide these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9BF67-5B63-4176-95D0-8837F93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14800"/>
            <a:ext cx="2533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Planning should distinguish known replacement work from inventory still requiring identification.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05986-BC5A-4280-B733-8EB3CD7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562600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This pattern describes inventory. It does not measure progress, maturity, or cause.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113AD-19D5-4C8B-BBD8-0C22AFA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Each point represents one state or DC.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C9DA85-BC7A-4E98-85BD-FD8BED42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9A8CF2-1F4C-4FB2-8D89-47244AD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262981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0D9464-A2F9-46B7-BCE0-0EC31F0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3819525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0AAF7-FF66-4339-A54F-9082153D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7823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BA9DA-C3CB-4722-A4FE-F8F170E1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 size changes who stands out,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and local evidence is needed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D885-0DCB-4A9A-B5B9-9FD9827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647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Absolute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2E1F6-60C9-46AE-8E8A-307278AD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636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Raw totals show where the largest overall inventories are concentrated.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C8D3F-2856-4C67-A4A8-0F911E4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Relative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051E7-9E73-44F4-AA9A-ED63D0D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00350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Per 10,000 state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3F270-2E9F-4844-9CC7-4306F4C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Raw top 10 retained after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91E5E-28E5-4C8B-8D38-34E2C8D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 of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D759-8102-4F90-AA26-5F16C313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0D65C-FE9A-4C99-974A-F24F133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242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3 of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84C5-116C-457C-BF30-26A0869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81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1084D-53B9-4660-B733-0D4FFB7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Illinois: #1 Known Replacement</a:t>
            </a:r>
          </a:p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Pennsylvania: #1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4C45-0281-4A04-9F75-D282970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Both per 10,000 state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7087D-343E-4A2B-B851-A0B87CC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10075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Rhode Island, Louisiana and New Mexico become more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FD787-C4A8-4A6F-8C9B-5C28AB0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Decision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599F-AC4F-435E-9DDB-706D872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526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 inventories can guide deeper local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A96A-0FDA-485A-9019-58C3D9E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19425"/>
            <a:ext cx="3381375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08425-E73E-493B-9635-4E79972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Next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ADF2F-362C-4591-B359-2156787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How do state and utility identification and replacement needs align with available funding and local capacity to complete service-line replacement?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AEAD9-5A32-41C8-8794-C43CD72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15075"/>
            <a:ext cx="1078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74F69-F94F-4228-8EBE-24F1C1A5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8177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Sources: U.S. EPA 2026 Q2 Service Line Inventory; U.S. Census Bureau 2025 resident population estimates (population context).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C779B-14AC-4A0F-89FD-C5A6FF5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F880E-1CFC-415D-9226-3CB0A99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21916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2026-09-18T14:32:52.1490000Z</dcterms:created>
  <dcterms:modified xsi:type="dcterms:W3CDTF">2026-09-18T14:32:52.1490000Z</dcterms:modified>
</coreProperties>
</file>