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84fc35e7e4856" /><Relationship Type="http://schemas.openxmlformats.org/officeDocument/2006/relationships/extended-properties" Target="/docProps/app.xml" Id="R186846bbba5247b4" /><Relationship Type="http://schemas.openxmlformats.org/officeDocument/2006/relationships/officeDocument" Target="/ppt/presentation.xml" Id="R25c00a6a562a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11582591d44fc"/>
  </p:sldMasterIdLst>
  <p:notesMasterIdLst>
    <p:notesMasterId xmlns:r="http://schemas.openxmlformats.org/officeDocument/2006/relationships" r:id="R61839dfbbf654bb2"/>
  </p:notesMasterIdLst>
  <p:sldIdLst>
    <p:sldId xmlns:r="http://schemas.openxmlformats.org/officeDocument/2006/relationships" id="256" r:id="R644103c1e64b488d"/>
    <p:sldId xmlns:r="http://schemas.openxmlformats.org/officeDocument/2006/relationships" id="257" r:id="R8f3447079a3443b1"/>
    <p:sldId xmlns:r="http://schemas.openxmlformats.org/officeDocument/2006/relationships" id="258" r:id="Re2fc4202529f453f"/>
    <p:sldId xmlns:r="http://schemas.openxmlformats.org/officeDocument/2006/relationships" id="259" r:id="R33554f28304a4fbf"/>
    <p:sldId xmlns:r="http://schemas.openxmlformats.org/officeDocument/2006/relationships" id="260" r:id="R49a762d4b186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4f691609946dc" /><Relationship Type="http://schemas.openxmlformats.org/officeDocument/2006/relationships/slideMaster" Target="/ppt/slideMasters/slideMaster1.xml" Id="Reaa11582591d44fc" /><Relationship Type="http://schemas.openxmlformats.org/officeDocument/2006/relationships/notesMaster" Target="/ppt/notesMasters/notesMaster1.xml" Id="R61839dfbbf654bb2" /><Relationship Type="http://schemas.openxmlformats.org/officeDocument/2006/relationships/presProps" Target="/ppt/presProps.xml" Id="Rbadbd552737842a0" /><Relationship Type="http://schemas.openxmlformats.org/officeDocument/2006/relationships/tableStyles" Target="/ppt/tableStyles.xml" Id="Rdadeb9aac4544ea6" /><Relationship Type="http://schemas.openxmlformats.org/officeDocument/2006/relationships/slide" Target="/ppt/slides/slide1.xml" Id="R644103c1e64b488d" /><Relationship Type="http://schemas.openxmlformats.org/officeDocument/2006/relationships/slide" Target="/ppt/slides/slide2.xml" Id="R8f3447079a3443b1" /><Relationship Type="http://schemas.openxmlformats.org/officeDocument/2006/relationships/slide" Target="/ppt/slides/slide3.xml" Id="Re2fc4202529f453f" /><Relationship Type="http://schemas.openxmlformats.org/officeDocument/2006/relationships/slide" Target="/ppt/slides/slide4.xml" Id="R33554f28304a4fbf" /><Relationship Type="http://schemas.openxmlformats.org/officeDocument/2006/relationships/slide" Target="/ppt/slides/slide5.xml" Id="R49a762d4b186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23d3336b1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af14d616747bc" /><Relationship Type="http://schemas.openxmlformats.org/officeDocument/2006/relationships/notesMaster" Target="/ppt/notesMasters/notesMaster1.xml" Id="Raa555a76917b47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552b37894043c3" /><Relationship Type="http://schemas.openxmlformats.org/officeDocument/2006/relationships/notesMaster" Target="/ppt/notesMasters/notesMaster1.xml" Id="Rc30b348f8f51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bee2860924035" /><Relationship Type="http://schemas.openxmlformats.org/officeDocument/2006/relationships/notesMaster" Target="/ppt/notesMasters/notesMaster1.xml" Id="R29a74bcf93be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943092bc4048fe" /><Relationship Type="http://schemas.openxmlformats.org/officeDocument/2006/relationships/notesMaster" Target="/ppt/notesMasters/notesMaster1.xml" Id="R8f2bc842e0bc4b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81bf92f164363" /><Relationship Type="http://schemas.openxmlformats.org/officeDocument/2006/relationships/notesMaster" Target="/ppt/notesMasters/notesMaster1.xml" Id="Rf26025a6413f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530bdaafe4e9f" /></Relationships>
</file>

<file path=ppt/slideLayouts/slideLayout1.xml><?xml version="1.0" encoding="utf-8"?>
<p:sldLayout xmlns:p="http://schemas.openxmlformats.org/presentationml/2006/main" showMasterSp="1" showMasterPhAnim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C2CEE9F-589F-4C5D-B786-23BB7EF3471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5add9980e4062" /><Relationship Type="http://schemas.openxmlformats.org/officeDocument/2006/relationships/slideLayout" Target="/ppt/slideLayouts/slideLayout1.xml" Id="Rc232914b8325441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5798F23C-2B40-4EA3-BC5B-FBDB6A8A8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AAB0EC9-8B78-4524-8484-E6C6A97013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445AFA1-F99E-47EE-BF89-E383A874D66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2914b83254417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46eb8bac4104" /><Relationship Type="http://schemas.openxmlformats.org/officeDocument/2006/relationships/notesSlide" Target="/ppt/notesSlides/notesSlide1.xml" Id="R7b5f63908ff3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9d086b294a11" /><Relationship Type="http://schemas.openxmlformats.org/officeDocument/2006/relationships/chart" Target="/ppt/slides/charts/chart1.xml" Id="R7fdd89eab3c642dc" /><Relationship Type="http://schemas.openxmlformats.org/officeDocument/2006/relationships/notesSlide" Target="/ppt/notesSlides/notesSlide2.xml" Id="Rc67e04e70110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ab8acdbdd4858" /><Relationship Type="http://schemas.openxmlformats.org/officeDocument/2006/relationships/chart" Target="/ppt/slides/charts/chart2.xml" Id="R0f916a328fd34eaf" /><Relationship Type="http://schemas.openxmlformats.org/officeDocument/2006/relationships/chart" Target="/ppt/slides/charts/chart3.xml" Id="R9a03d404005c4421" /><Relationship Type="http://schemas.openxmlformats.org/officeDocument/2006/relationships/chart" Target="/ppt/slides/charts/chart4.xml" Id="R5fb2fed0c6244134" /><Relationship Type="http://schemas.openxmlformats.org/officeDocument/2006/relationships/chart" Target="/ppt/slides/charts/chart5.xml" Id="R7bffa736e4f14097" /><Relationship Type="http://schemas.openxmlformats.org/officeDocument/2006/relationships/chart" Target="/ppt/slides/charts/chart6.xml" Id="Rdef4b4d5639c46d8" /><Relationship Type="http://schemas.openxmlformats.org/officeDocument/2006/relationships/notesSlide" Target="/ppt/notesSlides/notesSlide3.xml" Id="Rff71b8f01d64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f718da5de4c3f" /><Relationship Type="http://schemas.openxmlformats.org/officeDocument/2006/relationships/chart" Target="/ppt/slides/charts/chart7.xml" Id="R00477820c05a495b" /><Relationship Type="http://schemas.openxmlformats.org/officeDocument/2006/relationships/notesSlide" Target="/ppt/notesSlides/notesSlide4.xml" Id="R315f19e19319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b4dbe7d574389" /><Relationship Type="http://schemas.openxmlformats.org/officeDocument/2006/relationships/notesSlide" Target="/ppt/notesSlides/notesSlide5.xml" Id="R9afc8939201f4fdf" 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3.xlsx"/></Relationships>
</file>

<file path=ppt/slides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4.xlsx"/></Relationships>
</file>

<file path=ppt/slides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5.xlsx"/></Relationships>
</file>

<file path=ppt/slides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6.xlsx"/></Relationships>
</file>

<file path=ppt/slides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7.xlsx"/></Relationships>
</file>

<file path=ppt/slides/charts/chart1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96186"/>
          <c:y val="0.0776158"/>
          <c:w val="0.975381"/>
          <c:h val="0.883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21589524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3115308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7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5500000"/>
        <c:minorUnit val="275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672210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529706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0F2F3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3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114501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2178881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4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113717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2055512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5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321502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878788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0F2F3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6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289055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951163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0F2F3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charts/chart7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61777"/>
          <c:y val="0.0287333"/>
          <c:w val="0.895416"/>
          <c:h val="0.873627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Other states</c:v>
                </c:pt>
              </c:strCache>
            </c:strRef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BEC8CE"/>
              </a:solidFill>
              <a:ln xmlns:a="http://schemas.openxmlformats.org/drawingml/2006/main" w="12700">
                <a:solidFill>
                  <a:schemeClr val="accent1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Sheet1!$C$2:$C$47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Illinois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3F73C7"/>
              </a:solidFill>
              <a:ln xmlns:a="http://schemas.openxmlformats.org/drawingml/2006/main" w="12700">
                <a:solidFill>
                  <a:schemeClr val="accent2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Sheet1!$E$2:$E$2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Identification examples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07C2B"/>
              </a:solidFill>
              <a:ln xmlns:a="http://schemas.openxmlformats.org/drawingml/2006/main" w="12700">
                <a:solidFill>
                  <a:schemeClr val="accent3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Sheet1!$F$2:$F$3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Sheet1!$G$2:$G$3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High on both</c:v>
                </c:pt>
              </c:strCache>
            </c:strRef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102A43"/>
              </a:solidFill>
              <a:ln xmlns:a="http://schemas.openxmlformats.org/drawingml/2006/main" w="12700">
                <a:solidFill>
                  <a:schemeClr val="accent4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Sheet1!$H$2:$H$3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Sheet1!$I$2:$I$3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2"/>
        <c:axId val="2094734553"/>
      </c:scatterChart>
      <c:valAx>
        <c:axId val="2094734553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1" i="0" u="none">
                    <a:solidFill>
                      <a:srgbClr val="102A43"/>
                    </a:solidFill>
                    <a:latin typeface="Inter"/>
                    <a:ea typeface="Inter"/>
                    <a:cs typeface="Inter"/>
                  </a:rPr>
                  <a:t>Lead Status Unknown Service Lines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 i="0" u="none">
                  <a:solidFill>
                    <a:srgbClr val="102A43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,,&quot;M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460000"/>
        <c:minorUnit val="230000"/>
      </c:valAx>
      <c:valAx>
        <c:axId val="209473455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00" b="1" i="0" u="none">
                    <a:solidFill>
                      <a:srgbClr val="23333F"/>
                    </a:solidFill>
                    <a:latin typeface="Inter"/>
                    <a:ea typeface="Inter"/>
                    <a:cs typeface="Inter"/>
                  </a:rPr>
                  <a:t>Known Replacement Inventory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23333F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,&quot;k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  <c:crossBetween val="between"/>
        <c:majorUnit val="102857"/>
        <c:minorUnit val="51428.6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ead service line need is not one problem">
            <a:extLst xmlns:a="http://schemas.openxmlformats.org/drawingml/2006/main">
              <a:ext uri="{FF2B5EF4-FFF2-40B4-BE49-F238E27FC236}">
                <a16:creationId xmlns:a16="http://schemas.microsoft.com/office/drawing/2014/main" id="{801E3889-1EDA-4DBB-BEB9-18E2B8A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Lead service line need is not one problem</a:t>
            </a:r>
          </a:p>
        </p:txBody>
      </p:sp>
      <p:sp>
        <p:nvSpPr>
          <p:cNvPr id="22" name="1">
            <a:extLst xmlns:a="http://schemas.openxmlformats.org/drawingml/2006/main">
              <a:ext uri="{FF2B5EF4-FFF2-40B4-BE49-F238E27FC236}">
                <a16:creationId xmlns:a16="http://schemas.microsoft.com/office/drawing/2014/main" id="{05D5783F-9B01-40DD-B58F-8574A07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3" name="States face different mixes of identification and replacement work">
            <a:extLst xmlns:a="http://schemas.openxmlformats.org/drawingml/2006/main">
              <a:ext uri="{FF2B5EF4-FFF2-40B4-BE49-F238E27FC236}">
                <a16:creationId xmlns:a16="http://schemas.microsoft.com/office/drawing/2014/main" id="{242697B1-7B80-405B-BFE7-6D73663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00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States face different mixes of identification and replacement work</a:t>
            </a:r>
          </a:p>
        </p:txBody>
      </p:sp>
      <p:sp>
        <p:nvSpPr>
          <p:cNvPr id="24" name="Where are infrastructure needs greatest across U.S. states?">
            <a:extLst xmlns:a="http://schemas.openxmlformats.org/drawingml/2006/main">
              <a:ext uri="{FF2B5EF4-FFF2-40B4-BE49-F238E27FC236}">
                <a16:creationId xmlns:a16="http://schemas.microsoft.com/office/drawing/2014/main" id="{7EC5A9A2-FBA3-4AAA-B56C-C9DEC65E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390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7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Where are infrastructure needs greatest across U.S. states?</a:t>
            </a:r>
          </a:p>
        </p:txBody>
      </p:sp>
      <p:sp>
        <p:nvSpPr>
          <p:cNvPr id="25" name="01  IDENTIFY">
            <a:extLst xmlns:a="http://schemas.openxmlformats.org/drawingml/2006/main">
              <a:ext uri="{FF2B5EF4-FFF2-40B4-BE49-F238E27FC236}">
                <a16:creationId xmlns:a16="http://schemas.microsoft.com/office/drawing/2014/main" id="{904C7057-82EE-4080-80B2-97717BE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629150" cy="472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5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01  IDENTIFY</a:t>
            </a:r>
          </a:p>
        </p:txBody>
      </p:sp>
      <p:sp>
        <p:nvSpPr>
          <p:cNvPr id="26" name="Resolve Lead Status Unknown lines">
            <a:extLst xmlns:a="http://schemas.openxmlformats.org/drawingml/2006/main">
              <a:ext uri="{FF2B5EF4-FFF2-40B4-BE49-F238E27FC236}">
                <a16:creationId xmlns:a16="http://schemas.microsoft.com/office/drawing/2014/main" id="{F3576619-3075-439E-AAE6-2E7DDBC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291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Resolve Lead Status Unknown lines</a:t>
            </a:r>
          </a:p>
        </p:txBody>
      </p:sp>
      <p:sp>
        <p:nvSpPr>
          <p:cNvPr id="27" name="Identification Need…">
            <a:extLst xmlns:a="http://schemas.openxmlformats.org/drawingml/2006/main">
              <a:ext uri="{FF2B5EF4-FFF2-40B4-BE49-F238E27FC236}">
                <a16:creationId xmlns:a16="http://schemas.microsoft.com/office/drawing/2014/main" id="{76FAB661-D567-493D-8BD8-3F84237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619625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= Lead Status Unknown</a:t>
            </a:r>
          </a:p>
        </p:txBody>
      </p:sp>
      <p:sp>
        <p:nvSpPr>
          <p:cNvPr id="28" name="02  REPLACE">
            <a:extLst xmlns:a="http://schemas.openxmlformats.org/drawingml/2006/main">
              <a:ext uri="{FF2B5EF4-FFF2-40B4-BE49-F238E27FC236}">
                <a16:creationId xmlns:a16="http://schemas.microsoft.com/office/drawing/2014/main" id="{63F7DD39-7B44-43D5-A46B-7519872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4857750" cy="472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5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02  REPLACE</a:t>
            </a:r>
          </a:p>
        </p:txBody>
      </p:sp>
      <p:sp>
        <p:nvSpPr>
          <p:cNvPr id="29" name="Act on known Lead and GRR lines">
            <a:extLst xmlns:a="http://schemas.openxmlformats.org/drawingml/2006/main">
              <a:ext uri="{FF2B5EF4-FFF2-40B4-BE49-F238E27FC236}">
                <a16:creationId xmlns:a16="http://schemas.microsoft.com/office/drawing/2014/main" id="{5F08D283-C71F-4962-922A-5D39F50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8577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Act on known Lead and GRR lines</a:t>
            </a:r>
          </a:p>
        </p:txBody>
      </p:sp>
      <p:sp>
        <p:nvSpPr>
          <p:cNvPr id="30" name="Known Replacement Inventory…">
            <a:extLst xmlns:a="http://schemas.openxmlformats.org/drawingml/2006/main">
              <a:ext uri="{FF2B5EF4-FFF2-40B4-BE49-F238E27FC236}">
                <a16:creationId xmlns:a16="http://schemas.microsoft.com/office/drawing/2014/main" id="{575D5992-B05D-4C01-97B1-88529E2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85775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= Lead + GRR</a:t>
            </a:r>
          </a:p>
        </p:txBody>
      </p:sp>
      <p:sp>
        <p:nvSpPr>
          <p:cNvPr id="31" name="Comparing states on only one measure would hide where their actual workload sits.">
            <a:extLst xmlns:a="http://schemas.openxmlformats.org/drawingml/2006/main">
              <a:ext uri="{FF2B5EF4-FFF2-40B4-BE49-F238E27FC236}">
                <a16:creationId xmlns:a16="http://schemas.microsoft.com/office/drawing/2014/main" id="{72723D8E-3719-4C4B-9EC5-876E0AF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7823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Comparing states on only one measure would hide where their actual workload sits.</a:t>
            </a:r>
          </a:p>
        </p:txBody>
      </p:sp>
      <p:sp>
        <p:nvSpPr>
          <p:cNvPr id="32" name="Scope: 43,993 complete-report Community Water Systems across 50 states and DC">
            <a:extLst xmlns:a="http://schemas.openxmlformats.org/drawingml/2006/main">
              <a:ext uri="{FF2B5EF4-FFF2-40B4-BE49-F238E27FC236}">
                <a16:creationId xmlns:a16="http://schemas.microsoft.com/office/drawing/2014/main" id="{8CDC88AD-ACCA-4C93-9AB2-7CC95A66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Scope: 43,993 complete-report Community Water Systems across 50 states and DC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2AE8E-4E0B-43CB-81B0-7F01900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2BCD66-9D85-40AC-A787-2A62FB4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5124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9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7DA00-CFD4-46FE-8265-2214608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5334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9335D-743C-4A50-BD6D-4C22C5C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347882317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Most of the reported national workload…">
            <a:extLst xmlns:a="http://schemas.openxmlformats.org/drawingml/2006/main">
              <a:ext uri="{FF2B5EF4-FFF2-40B4-BE49-F238E27FC236}">
                <a16:creationId xmlns:a16="http://schemas.microsoft.com/office/drawing/2014/main" id="{12649B15-3BB3-4B3D-943B-EB0D559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Most of the reported national workload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is still unresolved identification</a:t>
            </a:r>
          </a:p>
        </p:txBody>
      </p:sp>
      <p:sp>
        <p:nvSpPr>
          <p:cNvPr id="38" name="2">
            <a:extLst xmlns:a="http://schemas.openxmlformats.org/drawingml/2006/main">
              <a:ext uri="{FF2B5EF4-FFF2-40B4-BE49-F238E27FC236}">
                <a16:creationId xmlns:a16="http://schemas.microsoft.com/office/drawing/2014/main" id="{55BF15FA-A1C9-4554-9B48-4175FDB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39" name="National inventory within the analytical sample">
            <a:extLst xmlns:a="http://schemas.openxmlformats.org/drawingml/2006/main">
              <a:ext uri="{FF2B5EF4-FFF2-40B4-BE49-F238E27FC236}">
                <a16:creationId xmlns:a16="http://schemas.microsoft.com/office/drawing/2014/main" id="{60AEA7AD-F5D2-40D0-922F-AC4379D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38225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National inventory within the analytical sample</a:t>
            </a:r>
          </a:p>
        </p:txBody>
      </p:sp>
      <p:sp>
        <p:nvSpPr>
          <p:cNvPr id="40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81359C73-912E-4B7F-BBC5-EBDB681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857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41" name="21.59M">
            <a:extLst xmlns:a="http://schemas.openxmlformats.org/drawingml/2006/main">
              <a:ext uri="{FF2B5EF4-FFF2-40B4-BE49-F238E27FC236}">
                <a16:creationId xmlns:a16="http://schemas.microsoft.com/office/drawing/2014/main" id="{CCF2D0CC-5B22-4D26-8F26-1A0A5AD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952625" cy="746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43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21.59M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704850" y="2505075"/>
          <a:ext xmlns:a="http://schemas.openxmlformats.org/drawingml/2006/main" cx="70866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dd89eab3c642dc"/>
          </a:graphicData>
        </a:graphic>
      </p:graphicFrame>
      <p:sp>
        <p:nvSpPr>
          <p:cNvPr id="43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D10A9C83-993C-489D-AC0D-9B259AB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7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44" name="3.12M">
            <a:extLst xmlns:a="http://schemas.openxmlformats.org/drawingml/2006/main">
              <a:ext uri="{FF2B5EF4-FFF2-40B4-BE49-F238E27FC236}">
                <a16:creationId xmlns:a16="http://schemas.microsoft.com/office/drawing/2014/main" id="{EFD8520C-6CCB-49A4-BB95-537171E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91000"/>
            <a:ext cx="219075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9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3.12M</a:t>
            </a:r>
          </a:p>
        </p:txBody>
      </p:sp>
      <p:sp>
        <p:nvSpPr>
          <p:cNvPr id="45" name="2.18M Lead + 0.94M GRR">
            <a:extLst xmlns:a="http://schemas.openxmlformats.org/drawingml/2006/main">
              <a:ext uri="{FF2B5EF4-FFF2-40B4-BE49-F238E27FC236}">
                <a16:creationId xmlns:a16="http://schemas.microsoft.com/office/drawing/2014/main" id="{BCC2E510-3608-45D0-8178-84EEF30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858000" cy="35433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6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7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2.18M Lead + 0.94M GRR</a:t>
            </a:r>
          </a:p>
        </p:txBody>
      </p:sp>
      <p:sp>
        <p:nvSpPr>
          <p:cNvPr id="46" name="6.9×">
            <a:extLst xmlns:a="http://schemas.openxmlformats.org/drawingml/2006/main">
              <a:ext uri="{FF2B5EF4-FFF2-40B4-BE49-F238E27FC236}">
                <a16:creationId xmlns:a16="http://schemas.microsoft.com/office/drawing/2014/main" id="{D00A3B1C-035B-47EC-867C-84CE9092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50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51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6.9×</a:t>
            </a:r>
          </a:p>
        </p:txBody>
      </p:sp>
      <p:sp>
        <p:nvSpPr>
          <p:cNvPr id="47" name="as many Unknown lines as lines already classified for replacement">
            <a:extLst xmlns:a="http://schemas.openxmlformats.org/drawingml/2006/main">
              <a:ext uri="{FF2B5EF4-FFF2-40B4-BE49-F238E27FC236}">
                <a16:creationId xmlns:a16="http://schemas.microsoft.com/office/drawing/2014/main" id="{792EBC77-CD41-4095-8016-E06ED14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2857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as many Unknown lines as lines already classified for replacement</a:t>
            </a:r>
          </a:p>
        </p:txBody>
      </p:sp>
      <p:sp>
        <p:nvSpPr>
          <p:cNvPr id="48" name="Unknown lines require identification.…">
            <a:extLst xmlns:a="http://schemas.openxmlformats.org/drawingml/2006/main">
              <a:ext uri="{FF2B5EF4-FFF2-40B4-BE49-F238E27FC236}">
                <a16:creationId xmlns:a16="http://schemas.microsoft.com/office/drawing/2014/main" id="{30EEF708-1975-4501-BD8C-B46F450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225"/>
            <a:ext cx="2609850" cy="1097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Unknown lines require identification.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They are not confirmed lead lines.</a:t>
            </a:r>
          </a:p>
        </p:txBody>
      </p:sp>
      <p:sp>
        <p:nvSpPr>
          <p:cNvPr id="49" name="Source: U.S. EPA 2026 Q2 Service Line Inventory. Counts reflect the analytical sample.">
            <a:extLst xmlns:a="http://schemas.openxmlformats.org/drawingml/2006/main">
              <a:ext uri="{FF2B5EF4-FFF2-40B4-BE49-F238E27FC236}">
                <a16:creationId xmlns:a16="http://schemas.microsoft.com/office/drawing/2014/main" id="{25251FD8-6B4E-4BF4-8052-865C46C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Counts reflect the analytical sample.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01558D-1940-44F4-B7F7-591B70C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006C78-3057-49F6-BBD7-8B27707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29337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9D11A7-C482-4EC8-8047-1E70009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354201101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he same national challenge looks very different…">
            <a:extLst xmlns:a="http://schemas.openxmlformats.org/drawingml/2006/main">
              <a:ext uri="{FF2B5EF4-FFF2-40B4-BE49-F238E27FC236}">
                <a16:creationId xmlns:a16="http://schemas.microsoft.com/office/drawing/2014/main" id="{D7E40D2C-0ECA-4345-91FD-9B741B9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same national challenge looks very different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from state to state</a:t>
            </a:r>
          </a:p>
        </p:txBody>
      </p:sp>
      <p:sp>
        <p:nvSpPr>
          <p:cNvPr id="55" name="3">
            <a:extLst xmlns:a="http://schemas.openxmlformats.org/drawingml/2006/main">
              <a:ext uri="{FF2B5EF4-FFF2-40B4-BE49-F238E27FC236}">
                <a16:creationId xmlns:a16="http://schemas.microsoft.com/office/drawing/2014/main" id="{E6A81131-B9E4-42B5-BFD7-001B64B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56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9C6862AE-65E7-42AF-AC8A-80431B9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43243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57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72AD5BCB-378A-46D3-9B8B-4C570A5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495675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58" name="Replacement-…">
            <a:extLst xmlns:a="http://schemas.openxmlformats.org/drawingml/2006/main">
              <a:ext uri="{FF2B5EF4-FFF2-40B4-BE49-F238E27FC236}">
                <a16:creationId xmlns:a16="http://schemas.microsoft.com/office/drawing/2014/main" id="{E7A5B0F3-BFAB-4E11-A31C-19703A7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33650" cy="6629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Replacement-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heavy</a:t>
            </a:r>
          </a:p>
        </p:txBody>
      </p:sp>
      <p:sp>
        <p:nvSpPr>
          <p:cNvPr id="59" name="Illinois">
            <a:extLst xmlns:a="http://schemas.openxmlformats.org/drawingml/2006/main">
              <a:ext uri="{FF2B5EF4-FFF2-40B4-BE49-F238E27FC236}">
                <a16:creationId xmlns:a16="http://schemas.microsoft.com/office/drawing/2014/main" id="{2CC2E682-8DFD-4C4A-B4F0-5883DBA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graphicFrame>
        <p:nvGraphicFramePr>
          <p:cNvPr id="102" name="Chart"/>
          <p:cNvGraphicFramePr/>
          <p:nvPr/>
        </p:nvGraphicFramePr>
        <p:xfrm>
          <a:off xmlns:a="http://schemas.openxmlformats.org/drawingml/2006/main" x="5314950" y="19907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16a328fd34eaf"/>
          </a:graphicData>
        </a:graphic>
      </p:graphicFrame>
      <p:sp>
        <p:nvSpPr>
          <p:cNvPr id="61" name="672,210">
            <a:extLst xmlns:a="http://schemas.openxmlformats.org/drawingml/2006/main">
              <a:ext uri="{FF2B5EF4-FFF2-40B4-BE49-F238E27FC236}">
                <a16:creationId xmlns:a16="http://schemas.microsoft.com/office/drawing/2014/main" id="{246FC488-1238-4CBE-AAF1-7C143C1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025" y="19907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672,210</a:t>
            </a:r>
          </a:p>
        </p:txBody>
      </p:sp>
      <p:sp>
        <p:nvSpPr>
          <p:cNvPr id="62" name="529,706">
            <a:extLst xmlns:a="http://schemas.openxmlformats.org/drawingml/2006/main">
              <a:ext uri="{FF2B5EF4-FFF2-40B4-BE49-F238E27FC236}">
                <a16:creationId xmlns:a16="http://schemas.microsoft.com/office/drawing/2014/main" id="{4C58D8A0-2C3A-4B3D-9086-B83D3CB8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22" y="226695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529,706</a:t>
            </a:r>
          </a:p>
        </p:txBody>
      </p:sp>
      <p:sp>
        <p:nvSpPr>
          <p:cNvPr id="63" name="Largest already-classified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7CA1ADD6-9114-4BE4-98C4-EEECA1DC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7581900" cy="2971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Largest already-classified replacement inventory</a:t>
            </a:r>
          </a:p>
        </p:txBody>
      </p:sp>
      <p:sp>
        <p:nvSpPr>
          <p:cNvPr id="65" name="Identification-…">
            <a:extLst xmlns:a="http://schemas.openxmlformats.org/drawingml/2006/main">
              <a:ext uri="{FF2B5EF4-FFF2-40B4-BE49-F238E27FC236}">
                <a16:creationId xmlns:a16="http://schemas.microsoft.com/office/drawing/2014/main" id="{09EE5EAA-F81A-4BFD-8E04-E59258D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67000" cy="6400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Identification-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heavy</a:t>
            </a:r>
          </a:p>
        </p:txBody>
      </p:sp>
      <p:sp>
        <p:nvSpPr>
          <p:cNvPr id="66" name="Texas">
            <a:extLst xmlns:a="http://schemas.openxmlformats.org/drawingml/2006/main">
              <a:ext uri="{FF2B5EF4-FFF2-40B4-BE49-F238E27FC236}">
                <a16:creationId xmlns:a16="http://schemas.microsoft.com/office/drawing/2014/main" id="{3B0D54D9-96B3-41F1-BE9D-E3BF9AA3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graphicFrame>
        <p:nvGraphicFramePr>
          <p:cNvPr id="108" name="Chart"/>
          <p:cNvGraphicFramePr/>
          <p:nvPr/>
        </p:nvGraphicFramePr>
        <p:xfrm>
          <a:off xmlns:a="http://schemas.openxmlformats.org/drawingml/2006/main" x="5314950" y="32289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03d404005c4421"/>
          </a:graphicData>
        </a:graphic>
      </p:graphicFrame>
      <p:sp>
        <p:nvSpPr>
          <p:cNvPr id="68" name="114,501">
            <a:extLst xmlns:a="http://schemas.openxmlformats.org/drawingml/2006/main">
              <a:ext uri="{FF2B5EF4-FFF2-40B4-BE49-F238E27FC236}">
                <a16:creationId xmlns:a16="http://schemas.microsoft.com/office/drawing/2014/main" id="{95BA0ADC-010E-42EB-9A69-0B3FE38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92" y="322897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114,501</a:t>
            </a:r>
          </a:p>
        </p:txBody>
      </p:sp>
      <p:sp>
        <p:nvSpPr>
          <p:cNvPr id="69" name="2,178,881">
            <a:extLst xmlns:a="http://schemas.openxmlformats.org/drawingml/2006/main">
              <a:ext uri="{FF2B5EF4-FFF2-40B4-BE49-F238E27FC236}">
                <a16:creationId xmlns:a16="http://schemas.microsoft.com/office/drawing/2014/main" id="{7E283348-31A1-468D-97D7-33F8510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845" y="35052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2,178,881</a:t>
            </a:r>
          </a:p>
        </p:txBody>
      </p:sp>
      <p:sp>
        <p:nvSpPr>
          <p:cNvPr id="70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20C71642-AC1A-44EC-A92D-9A4ED1B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5314950" y="38385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b2fed0c6244134"/>
          </a:graphicData>
        </a:graphic>
      </p:graphicFrame>
      <p:sp>
        <p:nvSpPr>
          <p:cNvPr id="72" name="113,717">
            <a:extLst xmlns:a="http://schemas.openxmlformats.org/drawingml/2006/main">
              <a:ext uri="{FF2B5EF4-FFF2-40B4-BE49-F238E27FC236}">
                <a16:creationId xmlns:a16="http://schemas.microsoft.com/office/drawing/2014/main" id="{EA702BA8-A819-4459-9BD6-0A4C8159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91" y="383857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113,717</a:t>
            </a:r>
          </a:p>
        </p:txBody>
      </p:sp>
      <p:sp>
        <p:nvSpPr>
          <p:cNvPr id="73" name="2,055,512">
            <a:extLst xmlns:a="http://schemas.openxmlformats.org/drawingml/2006/main">
              <a:ext uri="{FF2B5EF4-FFF2-40B4-BE49-F238E27FC236}">
                <a16:creationId xmlns:a16="http://schemas.microsoft.com/office/drawing/2014/main" id="{9F3EEB70-B295-4608-9FF2-68DB007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516" y="41148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2,055,512</a:t>
            </a:r>
          </a:p>
        </p:txBody>
      </p:sp>
      <p:sp>
        <p:nvSpPr>
          <p:cNvPr id="74" name="Much larger unresolved identification inventories">
            <a:extLst xmlns:a="http://schemas.openxmlformats.org/drawingml/2006/main">
              <a:ext uri="{FF2B5EF4-FFF2-40B4-BE49-F238E27FC236}">
                <a16:creationId xmlns:a16="http://schemas.microsoft.com/office/drawing/2014/main" id="{1628492F-C82A-4DCE-BCAB-B12F16E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581900" cy="2971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Much larger unresolved identification inventories</a:t>
            </a:r>
          </a:p>
        </p:txBody>
      </p:sp>
      <p:sp>
        <p:nvSpPr>
          <p:cNvPr id="76" name="Substantial work…">
            <a:extLst xmlns:a="http://schemas.openxmlformats.org/drawingml/2006/main">
              <a:ext uri="{FF2B5EF4-FFF2-40B4-BE49-F238E27FC236}">
                <a16:creationId xmlns:a16="http://schemas.microsoft.com/office/drawing/2014/main" id="{0F2E7FEC-7903-449C-8F37-DA555BB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533650" cy="8953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Substantial work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on both dimensions</a:t>
            </a:r>
          </a:p>
        </p:txBody>
      </p:sp>
      <p:sp>
        <p:nvSpPr>
          <p:cNvPr id="77" name="Ohio">
            <a:extLst xmlns:a="http://schemas.openxmlformats.org/drawingml/2006/main">
              <a:ext uri="{FF2B5EF4-FFF2-40B4-BE49-F238E27FC236}">
                <a16:creationId xmlns:a16="http://schemas.microsoft.com/office/drawing/2014/main" id="{CE208C62-6764-4792-9F20-6C62EE53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graphicFrame>
        <p:nvGraphicFramePr>
          <p:cNvPr id="118" name="Chart"/>
          <p:cNvGraphicFramePr/>
          <p:nvPr/>
        </p:nvGraphicFramePr>
        <p:xfrm>
          <a:off xmlns:a="http://schemas.openxmlformats.org/drawingml/2006/main" x="5314950" y="4914900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ffa736e4f14097"/>
          </a:graphicData>
        </a:graphic>
      </p:graphicFrame>
      <p:sp>
        <p:nvSpPr>
          <p:cNvPr id="79" name="321,502">
            <a:extLst xmlns:a="http://schemas.openxmlformats.org/drawingml/2006/main">
              <a:ext uri="{FF2B5EF4-FFF2-40B4-BE49-F238E27FC236}">
                <a16:creationId xmlns:a16="http://schemas.microsoft.com/office/drawing/2014/main" id="{C31B8F8B-0203-437C-9A4A-5F8A85D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682" y="49149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321,502</a:t>
            </a:r>
          </a:p>
        </p:txBody>
      </p:sp>
      <p:sp>
        <p:nvSpPr>
          <p:cNvPr id="80" name="878,788">
            <a:extLst xmlns:a="http://schemas.openxmlformats.org/drawingml/2006/main">
              <a:ext uri="{FF2B5EF4-FFF2-40B4-BE49-F238E27FC236}">
                <a16:creationId xmlns:a16="http://schemas.microsoft.com/office/drawing/2014/main" id="{F1786DD9-20D3-42EF-885C-5628215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60" y="51911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878,788</a:t>
            </a:r>
          </a:p>
        </p:txBody>
      </p:sp>
      <p:sp>
        <p:nvSpPr>
          <p:cNvPr id="81" name="New York">
            <a:extLst xmlns:a="http://schemas.openxmlformats.org/drawingml/2006/main">
              <a:ext uri="{FF2B5EF4-FFF2-40B4-BE49-F238E27FC236}">
                <a16:creationId xmlns:a16="http://schemas.microsoft.com/office/drawing/2014/main" id="{F1227509-DEAD-4ACA-B7D5-8B80448A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graphicFrame>
        <p:nvGraphicFramePr>
          <p:cNvPr id="122" name="Chart"/>
          <p:cNvGraphicFramePr/>
          <p:nvPr/>
        </p:nvGraphicFramePr>
        <p:xfrm>
          <a:off xmlns:a="http://schemas.openxmlformats.org/drawingml/2006/main" x="5314950" y="55721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f4b4d5639c46d8"/>
          </a:graphicData>
        </a:graphic>
      </p:graphicFrame>
      <p:sp>
        <p:nvSpPr>
          <p:cNvPr id="83" name="289,055">
            <a:extLst xmlns:a="http://schemas.openxmlformats.org/drawingml/2006/main">
              <a:ext uri="{FF2B5EF4-FFF2-40B4-BE49-F238E27FC236}">
                <a16:creationId xmlns:a16="http://schemas.microsoft.com/office/drawing/2014/main" id="{2AD4DD2B-5131-487B-AAAE-D0561FFE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34" y="55721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289,055</a:t>
            </a:r>
          </a:p>
        </p:txBody>
      </p:sp>
      <p:sp>
        <p:nvSpPr>
          <p:cNvPr id="84" name="951,163">
            <a:extLst xmlns:a="http://schemas.openxmlformats.org/drawingml/2006/main">
              <a:ext uri="{FF2B5EF4-FFF2-40B4-BE49-F238E27FC236}">
                <a16:creationId xmlns:a16="http://schemas.microsoft.com/office/drawing/2014/main" id="{879CE425-D932-4EF1-B8CD-A4EE771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218" y="584835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951,163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195FEF-33D2-4481-BCD1-261C887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78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53C6E5-663C-4732-854B-5E83D69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624629-2C77-4638-8D09-0D86667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78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6AC38D9-B60D-48AF-B1E6-0110B94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1BB8D4-F10C-45A8-B18A-176B328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3595982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76300" y="1428750"/>
          <a:ext xmlns:a="http://schemas.openxmlformats.org/drawingml/2006/main" cx="7448550" cy="4362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477820c05a495b"/>
          </a:graphicData>
        </a:graphic>
      </p:graphicFrame>
      <p:sp>
        <p:nvSpPr>
          <p:cNvPr id="3" name="A single ranking would hide…">
            <a:extLst xmlns:a="http://schemas.openxmlformats.org/drawingml/2006/main">
              <a:ext uri="{FF2B5EF4-FFF2-40B4-BE49-F238E27FC236}">
                <a16:creationId xmlns:a16="http://schemas.microsoft.com/office/drawing/2014/main" id="{A5923491-B5EC-4C02-BAF9-A4E718D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 single ranking would hide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where each state’s workload sits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51698A6D-1A8F-4940-B533-E2BC8A5E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6" name="Texas">
            <a:extLst xmlns:a="http://schemas.openxmlformats.org/drawingml/2006/main">
              <a:ext uri="{FF2B5EF4-FFF2-40B4-BE49-F238E27FC236}">
                <a16:creationId xmlns:a16="http://schemas.microsoft.com/office/drawing/2014/main" id="{FDA5E56B-58B9-4049-9D8E-D1D4943C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04975"/>
            <a:ext cx="17145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sp>
        <p:nvSpPr>
          <p:cNvPr id="7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4E7E5262-C773-4C90-9A93-5A6B180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66925"/>
            <a:ext cx="17145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sp>
        <p:nvSpPr>
          <p:cNvPr id="8" name="New York">
            <a:extLst xmlns:a="http://schemas.openxmlformats.org/drawingml/2006/main">
              <a:ext uri="{FF2B5EF4-FFF2-40B4-BE49-F238E27FC236}">
                <a16:creationId xmlns:a16="http://schemas.microsoft.com/office/drawing/2014/main" id="{03D3C9C7-D314-4A20-9376-021A10AD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0425"/>
            <a:ext cx="15240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sp>
        <p:nvSpPr>
          <p:cNvPr id="9" name="Ohio">
            <a:extLst xmlns:a="http://schemas.openxmlformats.org/drawingml/2006/main">
              <a:ext uri="{FF2B5EF4-FFF2-40B4-BE49-F238E27FC236}">
                <a16:creationId xmlns:a16="http://schemas.microsoft.com/office/drawing/2014/main" id="{634A352B-F0A1-43DF-8744-76005BD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sp>
        <p:nvSpPr>
          <p:cNvPr id="10" name="Illinois">
            <a:extLst xmlns:a="http://schemas.openxmlformats.org/drawingml/2006/main">
              <a:ext uri="{FF2B5EF4-FFF2-40B4-BE49-F238E27FC236}">
                <a16:creationId xmlns:a16="http://schemas.microsoft.com/office/drawing/2014/main" id="{B0B45ED9-581D-4BC7-B990-58DDF20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131445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sp>
        <p:nvSpPr>
          <p:cNvPr id="12" name="v5-4-heading">
            <a:extLst xmlns:a="http://schemas.openxmlformats.org/drawingml/2006/main">
              <a:ext uri="{FF2B5EF4-FFF2-40B4-BE49-F238E27FC236}">
                <a16:creationId xmlns:a16="http://schemas.microsoft.com/office/drawing/2014/main" id="{C6B2F257-DFB3-4BE6-A976-5672C33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478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WHAT THIS REVEALS</a:t>
            </a:r>
          </a:p>
        </p:txBody>
      </p:sp>
      <p:sp>
        <p:nvSpPr>
          <p:cNvPr id="13" name="v5-4-gate">
            <a:extLst xmlns:a="http://schemas.openxmlformats.org/drawingml/2006/main">
              <a:ext uri="{FF2B5EF4-FFF2-40B4-BE49-F238E27FC236}">
                <a16:creationId xmlns:a16="http://schemas.microsoft.com/office/drawing/2014/main" id="{EB178121-0D72-472E-8A8C-1D2F3937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47875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For Unknown lines, identification is the gating step.</a:t>
            </a:r>
          </a:p>
        </p:txBody>
      </p:sp>
      <p:sp>
        <p:nvSpPr>
          <p:cNvPr id="14" name="v5-4-unknown">
            <a:extLst xmlns:a="http://schemas.openxmlformats.org/drawingml/2006/main">
              <a:ext uri="{FF2B5EF4-FFF2-40B4-BE49-F238E27FC236}">
                <a16:creationId xmlns:a16="http://schemas.microsoft.com/office/drawing/2014/main" id="{C16D071A-454A-4D87-815B-F0D48A0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An Unknown line must be classified before its replacement need can be determined.</a:t>
            </a:r>
          </a:p>
        </p:txBody>
      </p:sp>
      <p:sp>
        <p:nvSpPr>
          <p:cNvPr id="15" name="v5-4-known">
            <a:extLst xmlns:a="http://schemas.openxmlformats.org/drawingml/2006/main">
              <a:ext uri="{FF2B5EF4-FFF2-40B4-BE49-F238E27FC236}">
                <a16:creationId xmlns:a16="http://schemas.microsoft.com/office/drawing/2014/main" id="{A603DEF2-82DB-4196-845E-F63460D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09975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Known Lead + GRR lines can already move toward replacement planning.</a:t>
            </a:r>
          </a:p>
        </p:txBody>
      </p:sp>
      <p:sp>
        <p:nvSpPr>
          <p:cNvPr id="16" name="v5-4-national">
            <a:extLst xmlns:a="http://schemas.openxmlformats.org/drawingml/2006/main">
              <a:ext uri="{FF2B5EF4-FFF2-40B4-BE49-F238E27FC236}">
                <a16:creationId xmlns:a16="http://schemas.microsoft.com/office/drawing/2014/main" id="{2A1D8AC2-75E8-43E4-BD9A-E4199E1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95775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Nationally, Unknown inventory is 6.9× the known replacement inventory.</a:t>
            </a:r>
          </a:p>
        </p:txBody>
      </p:sp>
      <p:sp>
        <p:nvSpPr>
          <p:cNvPr id="17" name="v5-4-count">
            <a:extLst xmlns:a="http://schemas.openxmlformats.org/drawingml/2006/main">
              <a:ext uri="{FF2B5EF4-FFF2-40B4-BE49-F238E27FC236}">
                <a16:creationId xmlns:a16="http://schemas.microsoft.com/office/drawing/2014/main" id="{072A5BDD-8F6B-4D25-90BE-668C1B6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00625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 is larger in 49 of 51 states/DC.</a:t>
            </a:r>
          </a:p>
        </p:txBody>
      </p:sp>
      <p:sp>
        <p:nvSpPr>
          <p:cNvPr id="18" name="v5-4-caveat">
            <a:extLst xmlns:a="http://schemas.openxmlformats.org/drawingml/2006/main">
              <a:ext uri="{FF2B5EF4-FFF2-40B4-BE49-F238E27FC236}">
                <a16:creationId xmlns:a16="http://schemas.microsoft.com/office/drawing/2014/main" id="{FABEBFC5-9617-4728-B5A6-7777C62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695950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This describes reported inventory, not project progress or implementation capacity.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2224C-AED8-4876-B919-1ED50A5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95425"/>
            <a:ext cx="2838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D91FA-1621-42A7-91B8-57C85AD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007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8E638-1B56-491C-A94A-E0D8BFE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03D60-758A-415B-9CB3-CE3006E2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526349828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5-5-title">
            <a:extLst xmlns:a="http://schemas.openxmlformats.org/drawingml/2006/main">
              <a:ext uri="{FF2B5EF4-FFF2-40B4-BE49-F238E27FC236}">
                <a16:creationId xmlns:a16="http://schemas.microsoft.com/office/drawing/2014/main" id="{3F788480-9DC2-4E0B-B939-B674307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10782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Closing the identification gap is the broadest challenge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Local evidence determines what happens next</a:t>
            </a:r>
          </a:p>
        </p:txBody>
      </p:sp>
      <p:sp>
        <p:nvSpPr>
          <p:cNvPr id="3" name="v5-5-implication-label">
            <a:extLst xmlns:a="http://schemas.openxmlformats.org/drawingml/2006/main">
              <a:ext uri="{FF2B5EF4-FFF2-40B4-BE49-F238E27FC236}">
                <a16:creationId xmlns:a16="http://schemas.microsoft.com/office/drawing/2014/main" id="{7F35DD80-2FD6-48B5-BDD8-A683034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Decision implication</a:t>
            </a:r>
          </a:p>
        </p:txBody>
      </p:sp>
      <p:sp>
        <p:nvSpPr>
          <p:cNvPr id="4" name="v5-5-implication">
            <a:extLst xmlns:a="http://schemas.openxmlformats.org/drawingml/2006/main">
              <a:ext uri="{FF2B5EF4-FFF2-40B4-BE49-F238E27FC236}">
                <a16:creationId xmlns:a16="http://schemas.microsoft.com/office/drawing/2014/main" id="{155B5995-2203-4B4E-932D-1729CE6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782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more Unknown lines are classified,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clearer the replacement workload becomes.</a:t>
            </a:r>
          </a:p>
        </p:txBody>
      </p:sp>
      <p:sp>
        <p:nvSpPr>
          <p:cNvPr id="5" name="v5-5-popheading">
            <a:extLst xmlns:a="http://schemas.openxmlformats.org/drawingml/2006/main">
              <a:ext uri="{FF2B5EF4-FFF2-40B4-BE49-F238E27FC236}">
                <a16:creationId xmlns:a16="http://schemas.microsoft.com/office/drawing/2014/main" id="{CA3DE415-2E85-4F53-AD40-D83EFC6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Why population context matters</a:t>
            </a:r>
          </a:p>
        </p:txBody>
      </p:sp>
      <p:sp>
        <p:nvSpPr>
          <p:cNvPr id="6" name="v5-5-raw">
            <a:extLst xmlns:a="http://schemas.openxmlformats.org/drawingml/2006/main">
              <a:ext uri="{FF2B5EF4-FFF2-40B4-BE49-F238E27FC236}">
                <a16:creationId xmlns:a16="http://schemas.microsoft.com/office/drawing/2014/main" id="{4FFB10E6-B4B3-4583-A104-1C3239D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Raw totals show absolute workload and tend to favor larger states.</a:t>
            </a:r>
          </a:p>
        </p:txBody>
      </p:sp>
      <p:sp>
        <p:nvSpPr>
          <p:cNvPr id="7" name="v5-5-normal">
            <a:extLst xmlns:a="http://schemas.openxmlformats.org/drawingml/2006/main">
              <a:ext uri="{FF2B5EF4-FFF2-40B4-BE49-F238E27FC236}">
                <a16:creationId xmlns:a16="http://schemas.microsoft.com/office/drawing/2014/main" id="{EE9DB1E7-3001-4476-B3E3-A8B3268F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Per 10,000 state residents shows inventory scale relative to state population.</a:t>
            </a:r>
          </a:p>
        </p:txBody>
      </p:sp>
      <p:sp>
        <p:nvSpPr>
          <p:cNvPr id="8" name="v5-5-not">
            <a:extLst xmlns:a="http://schemas.openxmlformats.org/drawingml/2006/main">
              <a:ext uri="{FF2B5EF4-FFF2-40B4-BE49-F238E27FC236}">
                <a16:creationId xmlns:a16="http://schemas.microsoft.com/office/drawing/2014/main" id="{D54BA26C-30DB-41C9-84D2-60D4EF4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These rates do not measure affected residents, customers, exposure, or prevalence.</a:t>
            </a:r>
          </a:p>
        </p:txBody>
      </p:sp>
      <p:sp>
        <p:nvSpPr>
          <p:cNvPr id="9" name="v5-5-retained">
            <a:extLst xmlns:a="http://schemas.openxmlformats.org/drawingml/2006/main">
              <a:ext uri="{FF2B5EF4-FFF2-40B4-BE49-F238E27FC236}">
                <a16:creationId xmlns:a16="http://schemas.microsoft.com/office/drawing/2014/main" id="{EBE93B17-CCBD-4C89-B895-4E8E16B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Raw top 10 retained in the population-adjusted top 10</a:t>
            </a:r>
          </a:p>
        </p:txBody>
      </p:sp>
      <p:sp>
        <p:nvSpPr>
          <p:cNvPr id="10" name="v5-5-six">
            <a:extLst xmlns:a="http://schemas.openxmlformats.org/drawingml/2006/main">
              <a:ext uri="{FF2B5EF4-FFF2-40B4-BE49-F238E27FC236}">
                <a16:creationId xmlns:a16="http://schemas.microsoft.com/office/drawing/2014/main" id="{62F14AA6-8EEA-4E1B-9B20-41EFB48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 of 10</a:t>
            </a:r>
          </a:p>
        </p:txBody>
      </p:sp>
      <p:sp>
        <p:nvSpPr>
          <p:cNvPr id="11" name="v5-5-known">
            <a:extLst xmlns:a="http://schemas.openxmlformats.org/drawingml/2006/main">
              <a:ext uri="{FF2B5EF4-FFF2-40B4-BE49-F238E27FC236}">
                <a16:creationId xmlns:a16="http://schemas.microsoft.com/office/drawing/2014/main" id="{0E19578B-FBAE-4B9C-8732-5DC708A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</a:t>
            </a:r>
          </a:p>
        </p:txBody>
      </p:sp>
      <p:sp>
        <p:nvSpPr>
          <p:cNvPr id="12" name="v5-5-three">
            <a:extLst xmlns:a="http://schemas.openxmlformats.org/drawingml/2006/main">
              <a:ext uri="{FF2B5EF4-FFF2-40B4-BE49-F238E27FC236}">
                <a16:creationId xmlns:a16="http://schemas.microsoft.com/office/drawing/2014/main" id="{19D4F368-C304-47F3-BEB7-CA01A9CA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3 of 10</a:t>
            </a:r>
          </a:p>
        </p:txBody>
      </p:sp>
      <p:sp>
        <p:nvSpPr>
          <p:cNvPr id="13" name="v5-5-identification">
            <a:extLst xmlns:a="http://schemas.openxmlformats.org/drawingml/2006/main">
              <a:ext uri="{FF2B5EF4-FFF2-40B4-BE49-F238E27FC236}">
                <a16:creationId xmlns:a16="http://schemas.microsoft.com/office/drawing/2014/main" id="{A829FFD7-FEAB-4A6A-808F-0C56323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386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</p:txBody>
      </p:sp>
      <p:sp>
        <p:nvSpPr>
          <p:cNvPr id="14" name="v5-5-example">
            <a:extLst xmlns:a="http://schemas.openxmlformats.org/drawingml/2006/main">
              <a:ext uri="{FF2B5EF4-FFF2-40B4-BE49-F238E27FC236}">
                <a16:creationId xmlns:a16="http://schemas.microsoft.com/office/drawing/2014/main" id="{A9A51BC9-C936-41AE-8F00-9A517E9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053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Illinois: #1 Known Replacement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Pennsylvania: #1 Unknown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Both per 10,000 state residents</a:t>
            </a:r>
          </a:p>
        </p:txBody>
      </p:sp>
      <p:sp>
        <p:nvSpPr>
          <p:cNvPr id="16" name="v5-5-nextlabel">
            <a:extLst xmlns:a="http://schemas.openxmlformats.org/drawingml/2006/main">
              <a:ext uri="{FF2B5EF4-FFF2-40B4-BE49-F238E27FC236}">
                <a16:creationId xmlns:a16="http://schemas.microsoft.com/office/drawing/2014/main" id="{F4B2DA20-8DB7-4FED-A168-9FA868E6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Next question</a:t>
            </a:r>
          </a:p>
        </p:txBody>
      </p:sp>
      <p:sp>
        <p:nvSpPr>
          <p:cNvPr id="17" name="v5-5-next">
            <a:extLst xmlns:a="http://schemas.openxmlformats.org/drawingml/2006/main">
              <a:ext uri="{FF2B5EF4-FFF2-40B4-BE49-F238E27FC236}">
                <a16:creationId xmlns:a16="http://schemas.microsoft.com/office/drawing/2014/main" id="{DC3241F8-6CAE-40BE-AD27-597480DF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00675"/>
            <a:ext cx="8639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Once service lines are identified, which utility-level, geographic, funding, and local-capacity factors determine where replacement can move forward?</a:t>
            </a:r>
          </a:p>
        </p:txBody>
      </p:sp>
      <p:sp>
        <p:nvSpPr>
          <p:cNvPr id="18" name="v5-5-limit">
            <a:extLst xmlns:a="http://schemas.openxmlformats.org/drawingml/2006/main">
              <a:ext uri="{FF2B5EF4-FFF2-40B4-BE49-F238E27FC236}">
                <a16:creationId xmlns:a16="http://schemas.microsoft.com/office/drawing/2014/main" id="{905C3FCC-D6A5-4657-87E3-B9076B2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19" name="v5-5-source">
            <a:extLst xmlns:a="http://schemas.openxmlformats.org/drawingml/2006/main">
              <a:ext uri="{FF2B5EF4-FFF2-40B4-BE49-F238E27FC236}">
                <a16:creationId xmlns:a16="http://schemas.microsoft.com/office/drawing/2014/main" id="{82A3CA99-5318-496B-B4E8-423E100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Sources: U.S. EPA 2026 Q2 inventory data; 2025 Census resident population estimates (population context).</a:t>
            </a:r>
          </a:p>
        </p:txBody>
      </p:sp>
      <p:sp>
        <p:nvSpPr>
          <p:cNvPr id="20" name="v5-5-number">
            <a:extLst xmlns:a="http://schemas.openxmlformats.org/drawingml/2006/main">
              <a:ext uri="{FF2B5EF4-FFF2-40B4-BE49-F238E27FC236}">
                <a16:creationId xmlns:a16="http://schemas.microsoft.com/office/drawing/2014/main" id="{8F66C7AC-3493-43A3-B292-D7A5607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F79F0-FE2F-4BF5-9F12-9956BDA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67025"/>
            <a:ext cx="5467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F37E2-E268-4386-BC31-5D102A5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78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05864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2026-09-21T16:55:30.1110000Z</dcterms:created>
  <dcterms:modified xsi:type="dcterms:W3CDTF">2026-09-21T16:55:30.1120000Z</dcterms:modified>
</coreProperties>
</file>