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17c4fee5d41cb" /><Relationship Type="http://schemas.openxmlformats.org/officeDocument/2006/relationships/extended-properties" Target="/docProps/app.xml" Id="Rdf8e12a10de84322" /><Relationship Type="http://schemas.openxmlformats.org/officeDocument/2006/relationships/officeDocument" Target="/ppt/presentation.xml" Id="R2843d42ce279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a551f05d3f4c10"/>
  </p:sldMasterIdLst>
  <p:notesMasterIdLst>
    <p:notesMasterId xmlns:r="http://schemas.openxmlformats.org/officeDocument/2006/relationships" r:id="Rb8a3ec129eeb4333"/>
  </p:notesMasterIdLst>
  <p:sldIdLst>
    <p:sldId xmlns:r="http://schemas.openxmlformats.org/officeDocument/2006/relationships" id="256" r:id="R946e03cdb87047c6"/>
    <p:sldId xmlns:r="http://schemas.openxmlformats.org/officeDocument/2006/relationships" id="257" r:id="Re42539227d5b47d3"/>
    <p:sldId xmlns:r="http://schemas.openxmlformats.org/officeDocument/2006/relationships" id="258" r:id="R64f7cb54eb0c492f"/>
    <p:sldId xmlns:r="http://schemas.openxmlformats.org/officeDocument/2006/relationships" id="259" r:id="Rd3a366786a934306"/>
    <p:sldId xmlns:r="http://schemas.openxmlformats.org/officeDocument/2006/relationships" id="260" r:id="R9b65cf601fda44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431e3b8ac4937" /><Relationship Type="http://schemas.openxmlformats.org/officeDocument/2006/relationships/slideMaster" Target="/ppt/slideMasters/slideMaster1.xml" Id="R85a551f05d3f4c10" /><Relationship Type="http://schemas.openxmlformats.org/officeDocument/2006/relationships/notesMaster" Target="/ppt/notesMasters/notesMaster1.xml" Id="Rb8a3ec129eeb4333" /><Relationship Type="http://schemas.openxmlformats.org/officeDocument/2006/relationships/presProps" Target="/ppt/presProps.xml" Id="R93d66aa2c5184701" /><Relationship Type="http://schemas.openxmlformats.org/officeDocument/2006/relationships/tableStyles" Target="/ppt/tableStyles.xml" Id="R050c68fa15d642e3" /><Relationship Type="http://schemas.openxmlformats.org/officeDocument/2006/relationships/slide" Target="/ppt/slides/slide1.xml" Id="R946e03cdb87047c6" /><Relationship Type="http://schemas.openxmlformats.org/officeDocument/2006/relationships/slide" Target="/ppt/slides/slide2.xml" Id="Re42539227d5b47d3" /><Relationship Type="http://schemas.openxmlformats.org/officeDocument/2006/relationships/slide" Target="/ppt/slides/slide3.xml" Id="R64f7cb54eb0c492f" /><Relationship Type="http://schemas.openxmlformats.org/officeDocument/2006/relationships/slide" Target="/ppt/slides/slide4.xml" Id="Rd3a366786a934306" /><Relationship Type="http://schemas.openxmlformats.org/officeDocument/2006/relationships/slide" Target="/ppt/slides/slide5.xml" Id="R9b65cf601fda44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5663888780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d879e6cd84b73" /><Relationship Type="http://schemas.openxmlformats.org/officeDocument/2006/relationships/notesMaster" Target="/ppt/notesMasters/notesMaster1.xml" Id="R4796a56b1f0c46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02aff3a8244708" /><Relationship Type="http://schemas.openxmlformats.org/officeDocument/2006/relationships/notesMaster" Target="/ppt/notesMasters/notesMaster1.xml" Id="Re29d68c65bce41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4e3eb099f4498b" /><Relationship Type="http://schemas.openxmlformats.org/officeDocument/2006/relationships/notesMaster" Target="/ppt/notesMasters/notesMaster1.xml" Id="Rb0532f6871b1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9e243a8534c19" /><Relationship Type="http://schemas.openxmlformats.org/officeDocument/2006/relationships/notesMaster" Target="/ppt/notesMasters/notesMaster1.xml" Id="Rf42e03d55de8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9a00808f314d57" /><Relationship Type="http://schemas.openxmlformats.org/officeDocument/2006/relationships/notesMaster" Target="/ppt/notesMasters/notesMaster1.xml" Id="R1adf62ac1c0348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66c9466b1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9f1872c3b94d91" /><Relationship Type="http://schemas.openxmlformats.org/officeDocument/2006/relationships/slideLayout" Target="/ppt/slideLayouts/slideLayout1.xml" Id="Ra01eb1a3a1eb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eb1a3a1eb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a61d3a69d420a" /><Relationship Type="http://schemas.openxmlformats.org/officeDocument/2006/relationships/notesSlide" Target="/ppt/notesSlides/notesSlide1.xml" Id="R2f3146621b534b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054c194d34fe9" /><Relationship Type="http://schemas.openxmlformats.org/officeDocument/2006/relationships/chart" Target="/ppt/slides/charts/chart1.xml" Id="Rd4127ac4d276404f" /><Relationship Type="http://schemas.openxmlformats.org/officeDocument/2006/relationships/notesSlide" Target="/ppt/notesSlides/notesSlide2.xml" Id="Rd68d8ed43b5541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32dec4fc340ad" /><Relationship Type="http://schemas.openxmlformats.org/officeDocument/2006/relationships/chart" Target="/ppt/slides/charts/chart2.xml" Id="R38ec3ae1a37744c5" /><Relationship Type="http://schemas.openxmlformats.org/officeDocument/2006/relationships/chart" Target="/ppt/slides/charts/chart3.xml" Id="Rc2266ff37c524dc2" /><Relationship Type="http://schemas.openxmlformats.org/officeDocument/2006/relationships/chart" Target="/ppt/slides/charts/chart4.xml" Id="R460acff557ca4982" /><Relationship Type="http://schemas.openxmlformats.org/officeDocument/2006/relationships/chart" Target="/ppt/slides/charts/chart5.xml" Id="R7143744599fd4879" /><Relationship Type="http://schemas.openxmlformats.org/officeDocument/2006/relationships/chart" Target="/ppt/slides/charts/chart6.xml" Id="R1f137308d6e449e9" /><Relationship Type="http://schemas.openxmlformats.org/officeDocument/2006/relationships/notesSlide" Target="/ppt/notesSlides/notesSlide3.xml" Id="R261a7ab366424d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d84809eef4867" /><Relationship Type="http://schemas.openxmlformats.org/officeDocument/2006/relationships/chart" Target="/ppt/slides/charts/chart7.xml" Id="R2e064dda301449c4" /><Relationship Type="http://schemas.openxmlformats.org/officeDocument/2006/relationships/notesSlide" Target="/ppt/notesSlides/notesSlide4.xml" Id="R6de55fee311d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851bd0abd427c" /><Relationship Type="http://schemas.openxmlformats.org/officeDocument/2006/relationships/notesSlide" Target="/ppt/notesSlides/notesSlide5.xml" Id="R85bfd9538a6d4a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Known replacement</c:v>
                </c:pt>
                <c:pt idx="1">
                  <c:v>Unknown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3115308</c:v>
                </c:pt>
                <c:pt idx="1">
                  <c:v>21589524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Illinois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529706</c:v>
                </c:pt>
                <c:pt idx="1">
                  <c:v>672210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Texas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2178881</c:v>
                </c:pt>
                <c:pt idx="1">
                  <c:v>114501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Pennsylvania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2055512</c:v>
                </c:pt>
                <c:pt idx="1">
                  <c:v>113717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Ohio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878788</c:v>
                </c:pt>
                <c:pt idx="1">
                  <c:v>321502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New York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951163</c:v>
                </c:pt>
                <c:pt idx="1">
                  <c:v>289055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Ref>
              <c:f>'Chart Data'!$A$2:$A$47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'Chart Data'!$B$2:$B$47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'Chart Data'!$D$2:$D$2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'Chart Data'!$F$2:$F$3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7356A6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'Chart Data'!$H$2:$H$3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Arial"/>
                    <a:ea typeface="Arial"/>
                    <a:cs typeface="Arial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C68BB-D364-4E2D-A544-673BA631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Lead service line need is not one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99F5E-CD3B-41D3-AA08-AED0D991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FE35D-2C3F-44B7-B26F-7DD4189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B095D-EF6C-4BFE-B252-84FBDED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23B8A-7F03-4415-9431-A9664DC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Where are infrastructure needs greatest 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F2511-1F7D-4343-AD48-06F27EF7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E6777-0879-4C61-8E01-588115B8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6BD08-8430-419F-86E4-E274D78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913A9-20A4-4D67-88A2-6090D695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70794-4218-4D85-AB32-C805561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C71CC-DF06-496A-BE72-C2B33B64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81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39795-CCFD-4833-884B-64D497B6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DD20D-AE5A-4C54-B7CB-45264E96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Scope: 43,993 complete-report Community Water Systems across 50 states and DC</a:t>
            </a:r>
          </a:p>
        </p:txBody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1D4B2-4328-4C53-A476-EE746C2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 of the reported national workload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is still unresolved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33350-A681-4B41-8C92-5B41743F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A3C2C-01DD-4CB1-B932-1B76FF71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982F7-1649-47DC-AC07-29E0EF8F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9D231-E356-4A33-95D7-0546E8DF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BF496-7743-4090-B559-79F251CB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21.59M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90575" y="3076575"/>
          <a:ext xmlns:a="http://schemas.openxmlformats.org/drawingml/2006/main" cx="7048500" cy="1895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127ac4d276404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09EBA-0981-47D6-ACBC-69C5D151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E4CEF-2674-4C8C-A20F-E6BAC4C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F8B5D-4ADB-4231-AF61-68998CD8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57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20DF8-E421-479E-A5DE-C74ED26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52675"/>
            <a:ext cx="276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611E5-C61D-43D2-8914-D61F92D9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766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F2003-4ECE-459B-B387-92765D4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05375"/>
            <a:ext cx="2647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lines require identification.</a:t>
            </a:r>
          </a:p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45350-7AE2-4FFA-9F88-455E6A1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Counts reflect the analytical sample.</a:t>
            </a:r>
          </a:p>
        </p:txBody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DE9E80-1690-4928-B11E-DB269E7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same national challenge looks very different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state to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AA53-CED2-460D-895A-97B8E72E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C9D59-E446-493F-B19D-DE6D630B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AAAD4-DC3B-43D0-BF6A-8E7C6C0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28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286E4-E4E5-472D-A57E-559A0C6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42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1A24C-643D-4686-8D6F-FDEF6B8B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599C0-D006-4DA2-8B5C-0F62DAA6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ec3ae1a37744c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FBF70-33E7-4064-97CF-643E300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E0107-E263-4802-8955-0417D22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C4E74-0C1D-4800-94CC-0FD9256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432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Largest already-classified replacement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E2399-A880-471B-B96D-B74192DD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F0EE9-D291-416F-8FFA-70DA3139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Identification-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63F27-9940-4323-A310-794D93A6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0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4438650" y="33528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266ff37c524dc2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843E7-9A50-414C-93A2-8787C01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09610-EEEF-441E-875F-38B64018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480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E3025-6E99-42F6-B35A-DB3E5CC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438650" y="40100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0acff557ca4982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3BF36-96E2-4384-A9D3-22215B8F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195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69E3D-7573-4A51-9B4D-A72FCFE0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3C582-56AB-4C11-943C-03C80EC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767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Much larger unresolved identification inventories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FE1D6-F81C-4BE4-AB19-34DFCEC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2BF93-0651-4594-871C-275874B8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Substantial work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B2F47-BB06-464D-A84A-305C816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29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4438650" y="51816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43744599fd4879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145CF-0746-46B1-B863-511E18DB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911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9EC38-2EE6-4FCA-9134-A35B1275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768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E8A10-E83C-449F-ABAD-21AF3F6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102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4438650" y="57626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137308d6e449e9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8CE8F-2A28-41CC-BE44-D4E7B5B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72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C7F40-E4D5-42CB-8C63-BF01F37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579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F7BCCE-B35D-490C-BB48-841B489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064dda301449c4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F9617-087A-4095-BBAB-0C5498F7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single ranking would hide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each state’s workload sits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1A797-9DA9-4EDA-A8A7-8EBA3B2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7D0D4-20E1-43BA-A510-0C35D4F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C85B0-5C8E-4C00-A7E5-EA29CFD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24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D1571-57F2-4E44-BB6A-EF2E69A5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BDD0B-7CE5-41DA-8BE1-5CA45C89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19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4DAF1-C4CD-4082-89B4-F6DEFCB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822D2-98AA-4681-A860-B5CC0277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43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F823C-2067-4F67-BB56-C948F82D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49AFC-495D-4903-BB60-1B4AFD0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05025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9C9E2-CE6C-4FE9-87C6-0D994105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0D087-B4E9-4FFB-9B9D-C582B57C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9575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A1548-B89D-4565-B57D-22D25D9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10225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238537-42B8-432F-B64E-2A65C31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A7B8E-9F50-43A9-8D8E-AFCB7C9D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size changes who stands out,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232B7-90CF-40A1-92C1-056F6361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EA4A5-2BB6-45E6-AF16-EC311F5C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3000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D90A9-C7AA-4E16-BFC3-A328653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335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A0E14-0801-42D9-8356-BE58BBCF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5E902-8BC1-467F-BF6E-5E050F9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0CB10-D5F6-4CD6-964C-5A381D71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24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B7123-A77C-45D5-AB8E-819E6375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73644-EAEF-4CC4-8C5A-2B24550E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28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26448-5ED3-43C3-BAAC-D4E7C582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36C37-4A5C-4C40-8ECB-61DC9BEC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Illinois: #1 Known Replacement</a:t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CF429-CBB7-445B-AEB1-FB639C7B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053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049F1-030E-4AB8-A4B4-9D370300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67275"/>
            <a:ext cx="4105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3C7D2-1F14-4D35-9D14-97F3270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335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C9F66-D782-42DD-B2A7-27A7FD91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AF72F-E68E-4C30-8285-3333722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2724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BA784-4D41-4CD8-880B-88C214B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B67C7-69D2-4AEB-BAF7-48724F66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05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803EA-304C-40DA-B5B3-F2BEF7C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893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do state and utility identification and replacement needs align with available funding</a:t>
            </a:r>
          </a:p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802BA-E495-47C3-95BB-D52D55B0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96025"/>
            <a:ext cx="1071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12023-FD75-4251-910E-88472451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34150"/>
            <a:ext cx="1071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93A57-9DBB-4ADB-B5D4-A1F70FAB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2026-09-18T03:51:22.5230000Z</dcterms:created>
  <dcterms:modified xsi:type="dcterms:W3CDTF">2026-09-18T03:51:22.5230000Z</dcterms:modified>
</coreProperties>
</file>